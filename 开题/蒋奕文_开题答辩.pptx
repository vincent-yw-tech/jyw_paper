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423" r:id="rId4"/>
    <p:sldId id="425" r:id="rId6"/>
    <p:sldId id="449" r:id="rId7"/>
    <p:sldId id="426" r:id="rId8"/>
    <p:sldId id="455" r:id="rId9"/>
    <p:sldId id="430" r:id="rId10"/>
    <p:sldId id="433" r:id="rId11"/>
    <p:sldId id="437" r:id="rId12"/>
    <p:sldId id="453" r:id="rId13"/>
    <p:sldId id="461" r:id="rId14"/>
    <p:sldId id="464" r:id="rId15"/>
    <p:sldId id="465" r:id="rId16"/>
    <p:sldId id="448" r:id="rId17"/>
    <p:sldId id="421" r:id="rId18"/>
  </p:sldIdLst>
  <p:sldSz cx="12192000" cy="6858000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36" userDrawn="1">
          <p15:clr>
            <a:srgbClr val="A4A3A4"/>
          </p15:clr>
        </p15:guide>
        <p15:guide id="2" pos="361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5309"/>
    <a:srgbClr val="E46C0A"/>
    <a:srgbClr val="EEE4E2"/>
    <a:srgbClr val="F4DBDD"/>
    <a:srgbClr val="E9F3DB"/>
    <a:srgbClr val="89393B"/>
    <a:srgbClr val="7A6060"/>
    <a:srgbClr val="404040"/>
    <a:srgbClr val="811E23"/>
    <a:srgbClr val="7910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19" autoAdjust="0"/>
    <p:restoredTop sz="95058" autoAdjust="0"/>
  </p:normalViewPr>
  <p:slideViewPr>
    <p:cSldViewPr showGuides="1">
      <p:cViewPr varScale="1">
        <p:scale>
          <a:sx n="87" d="100"/>
          <a:sy n="87" d="100"/>
        </p:scale>
        <p:origin x="78" y="30"/>
      </p:cViewPr>
      <p:guideLst>
        <p:guide orient="horz" pos="2236"/>
        <p:guide pos="3613"/>
      </p:guideLst>
    </p:cSldViewPr>
  </p:slideViewPr>
  <p:outlineViewPr>
    <p:cViewPr>
      <p:scale>
        <a:sx n="33" d="100"/>
        <a:sy n="33" d="100"/>
      </p:scale>
      <p:origin x="0" y="60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AE365C8A-5979-44FB-8B1D-48A57240CD4A}" type="datetimeFigureOut">
              <a:rPr lang="zh-CN" altLang="en-US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7B2911A5-62DE-401D-BCB7-20341B72CEA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9B212A-BDF9-4572-BA8F-75E5875351BB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9C957E-7E66-44E7-A832-473B371A2E23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336C76-91C8-4067-A345-7FCBF85E4672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DC501DE-FF77-4970-AC0B-28A9A40DD6E3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5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667" y="647700"/>
            <a:ext cx="7488767" cy="4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图片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700" y="241300"/>
            <a:ext cx="3589867" cy="54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7467E4-390B-46B7-B212-90CA7FF51CF7}" type="datetimeFigureOut">
              <a:rPr lang="zh-CN" altLang="en-US"/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B75D6D-2D2B-4193-9DF5-E1D37365CDA0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F5DCE62-B857-447D-8D97-B72A67645BAA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17678C-879C-4D9C-963B-90B49EE1DC90}" type="datetimeFigureOut">
              <a:rPr lang="zh-CN" altLang="en-US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97AAA46-E34C-4EBE-8E66-369D36BCB1C0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69C068-DFB3-485E-BC9D-4E5A5E935F34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DFDA1B0-4F30-4D2B-A4A2-EF66D3E0DFA2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FBAF1C-BB4A-4165-95E8-AA0220494D81}" type="datetimeFigureOut">
              <a:rPr lang="zh-CN" altLang="en-US"/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192AD4-421B-4B1C-B721-585E0D87EF33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5DB6F4-A280-4A26-8B1A-A807BF3C8D26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454498-5A45-4AA3-9350-E8A18C0CF694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A0EABF-25A7-46FB-BF48-4943BC4549B9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13B7E86-37FB-46D4-A5AE-918BE52C6FA1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E6F08A-C722-4BA4-915D-AE317A7A378A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3713AE5-03B8-4DE4-91BE-27A07F02D367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0407FD-2F16-4BD1-AA8D-920433646B84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5F2CFE0-C2F0-4094-B996-46A6F14EBE1E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53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F769E745-CF32-4FD8-9E5D-1ABFF3451395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6B0FC7E9-9D8C-47A8-B43A-B7738C6679EC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5" y="440691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5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DAD93510-583D-4A78-BC75-52BA27ABF8FB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4417" y="1125539"/>
            <a:ext cx="53848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12417" y="1125539"/>
            <a:ext cx="53848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D287AF28-F7CB-47C0-8E2B-3F4270622E0D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77" y="1535113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7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B9CA7A16-4AD5-40F5-B8E0-8DAC29E69E63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0F583E1A-22D6-4410-B88C-9B24FA498987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956770E0-638A-4EED-962E-EE0248CA6DB2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25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7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25" y="1435104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B0086B61-90C9-40DB-A0B6-6FAD287F10AE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9" y="4800601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9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9" y="5367354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2E83BEC3-7499-4242-A4CD-12C7A4963AAF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5713EB95-E038-4E58-8B25-05E520A76A44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51900" y="115901"/>
            <a:ext cx="2745317" cy="60102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19" y="115901"/>
            <a:ext cx="8039100" cy="60102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latinLnBrk="0" hangingPunct="0">
              <a:defRPr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fld id="{0CA1A004-AD34-4FFB-B971-9DF9C45D6599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4" Type="http://schemas.openxmlformats.org/officeDocument/2006/relationships/theme" Target="../theme/theme2.xml"/><Relationship Id="rId13" Type="http://schemas.openxmlformats.org/officeDocument/2006/relationships/image" Target="../media/image5.png"/><Relationship Id="rId12" Type="http://schemas.openxmlformats.org/officeDocument/2006/relationships/image" Target="../media/image4.png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A3693065-A409-4CEF-B33B-549216B21A0C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32881E3B-0EA9-41E5-826A-6043103F7E75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156" descr="투명배경"/>
          <p:cNvPicPr>
            <a:picLocks noChangeAspect="1" noChangeArrowheads="1"/>
          </p:cNvPicPr>
          <p:nvPr userDrawn="1"/>
        </p:nvPicPr>
        <p:blipFill>
          <a:blip r:embed="rId12" cstate="print">
            <a:lum bright="32000" contrast="-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" y="2492375"/>
            <a:ext cx="12145433" cy="436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155" descr="칸1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latinLnBrk="1" hangingPunct="1">
              <a:defRPr sz="1400" b="0">
                <a:solidFill>
                  <a:srgbClr val="000000"/>
                </a:solidFill>
                <a:latin typeface="Gulim" pitchFamily="34" charset="-127"/>
                <a:ea typeface="Gulim" pitchFamily="34" charset="-127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125538"/>
            <a:ext cx="10972800" cy="500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ko-KR"/>
              <a:t>Click to edit Master text styles</a:t>
            </a:r>
            <a:endParaRPr lang="zh-CN" altLang="ko-KR"/>
          </a:p>
          <a:p>
            <a:pPr lvl="1"/>
            <a:r>
              <a:rPr lang="zh-CN" altLang="ko-KR"/>
              <a:t>Second level</a:t>
            </a:r>
            <a:endParaRPr lang="zh-CN" altLang="ko-KR"/>
          </a:p>
          <a:p>
            <a:pPr lvl="2"/>
            <a:r>
              <a:rPr lang="zh-CN" altLang="ko-KR"/>
              <a:t>Third level</a:t>
            </a:r>
            <a:endParaRPr lang="zh-CN" altLang="ko-KR"/>
          </a:p>
          <a:p>
            <a:pPr lvl="3"/>
            <a:r>
              <a:rPr lang="zh-CN" altLang="ko-KR"/>
              <a:t>Fourth level</a:t>
            </a:r>
            <a:endParaRPr lang="zh-CN" altLang="ko-KR"/>
          </a:p>
          <a:p>
            <a:pPr lvl="4"/>
            <a:r>
              <a:rPr lang="zh-CN" altLang="ko-KR"/>
              <a:t>Fifth level</a:t>
            </a:r>
            <a:endParaRPr lang="zh-CN" altLang="ko-KR"/>
          </a:p>
        </p:txBody>
      </p:sp>
      <p:sp>
        <p:nvSpPr>
          <p:cNvPr id="2054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ctr" eaLnBrk="1" latinLnBrk="1" hangingPunct="1">
              <a:defRPr sz="1400" b="0">
                <a:solidFill>
                  <a:srgbClr val="000000"/>
                </a:solidFill>
                <a:latin typeface="Gulim" pitchFamily="34" charset="-127"/>
                <a:ea typeface="Gulim" pitchFamily="34" charset="-127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5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latinLnBrk="1" hangingPunct="1">
              <a:defRPr sz="1400">
                <a:solidFill>
                  <a:srgbClr val="000000"/>
                </a:solidFill>
                <a:latin typeface="Gulim" pitchFamily="34" charset="-127"/>
                <a:ea typeface="Gulim" pitchFamily="34" charset="-127"/>
              </a:defRPr>
            </a:lvl1pPr>
          </a:lstStyle>
          <a:p>
            <a:fld id="{3B4CB6AC-3873-49F0-BD66-FA1948DFFBF5}" type="slidenum">
              <a:rPr lang="en-US" altLang="zh-CN"/>
            </a:fld>
            <a:endParaRPr lang="en-US" altLang="zh-CN"/>
          </a:p>
        </p:txBody>
      </p:sp>
      <p:grpSp>
        <p:nvGrpSpPr>
          <p:cNvPr id="2056" name="Group 8"/>
          <p:cNvGrpSpPr/>
          <p:nvPr userDrawn="1"/>
        </p:nvGrpSpPr>
        <p:grpSpPr bwMode="auto">
          <a:xfrm>
            <a:off x="436033" y="6408738"/>
            <a:ext cx="3119967" cy="260350"/>
            <a:chOff x="0" y="0"/>
            <a:chExt cx="1474" cy="164"/>
          </a:xfrm>
        </p:grpSpPr>
        <p:sp>
          <p:nvSpPr>
            <p:cNvPr id="2058" name="WordArt 124"/>
            <p:cNvSpPr>
              <a:spLocks noChangeArrowheads="1" noChangeShapeType="1" noTextEdit="1"/>
            </p:cNvSpPr>
            <p:nvPr/>
          </p:nvSpPr>
          <p:spPr bwMode="auto">
            <a:xfrm>
              <a:off x="0" y="0"/>
              <a:ext cx="653" cy="164"/>
            </a:xfrm>
            <a:prstGeom prst="rect">
              <a:avLst/>
            </a:prstGeom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altLang="zh-CN" sz="1400" b="1" kern="10" spc="-70">
                  <a:solidFill>
                    <a:srgbClr val="333333">
                      <a:alpha val="89803"/>
                    </a:srgbClr>
                  </a:solidFill>
                  <a:latin typeface="Impact" panose="020B0806030902050204" pitchFamily="34" charset="0"/>
                </a:rPr>
                <a:t>' LOGO '</a:t>
              </a:r>
              <a:endParaRPr lang="zh-CN" altLang="en-US" sz="1400" b="1" kern="10" spc="-70">
                <a:solidFill>
                  <a:srgbClr val="333333">
                    <a:alpha val="89803"/>
                  </a:srgbClr>
                </a:solidFill>
                <a:latin typeface="Impact" panose="020B0806030902050204" pitchFamily="34" charset="0"/>
              </a:endParaRPr>
            </a:p>
          </p:txBody>
        </p:sp>
        <p:sp>
          <p:nvSpPr>
            <p:cNvPr id="2059" name="WordArt 125"/>
            <p:cNvSpPr>
              <a:spLocks noChangeArrowheads="1" noChangeShapeType="1" noTextEdit="1"/>
            </p:cNvSpPr>
            <p:nvPr/>
          </p:nvSpPr>
          <p:spPr bwMode="auto">
            <a:xfrm>
              <a:off x="657" y="105"/>
              <a:ext cx="817" cy="41"/>
            </a:xfrm>
            <a:prstGeom prst="rect">
              <a:avLst/>
            </a:prstGeom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r>
                <a:rPr lang="en-US" altLang="zh-CN" sz="800" b="1" kern="10" spc="-40">
                  <a:solidFill>
                    <a:srgbClr val="333333">
                      <a:alpha val="89803"/>
                    </a:srgbClr>
                  </a:solidFill>
                  <a:cs typeface="Arial" panose="020B0604020202020204" pitchFamily="34" charset="0"/>
                </a:rPr>
                <a:t>COMPANY LOGOTYPE INSERT</a:t>
              </a:r>
              <a:endParaRPr lang="zh-CN" altLang="en-US" sz="800" b="1" kern="10" spc="-40">
                <a:solidFill>
                  <a:srgbClr val="333333">
                    <a:alpha val="89803"/>
                  </a:srgbClr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057" name="Rectangle 127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115888"/>
            <a:ext cx="10972800" cy="41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ko-KR" altLang="zh-CN"/>
              <a:t>마스터 제목 스타일 편집</a:t>
            </a:r>
            <a:endParaRPr lang="ko-KR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>
    <p:fade/>
  </p:transition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000">
          <a:solidFill>
            <a:schemeClr val="bg1"/>
          </a:solidFill>
          <a:latin typeface="+mj-lt"/>
          <a:ea typeface="+mj-ea"/>
          <a:cs typeface="HY헤드라인M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000">
          <a:solidFill>
            <a:schemeClr val="bg1"/>
          </a:solidFill>
          <a:latin typeface="HY헤드라인M" pitchFamily="2" charset="-127"/>
          <a:ea typeface="HY헤드라인M" pitchFamily="2" charset="-127"/>
          <a:cs typeface="HY헤드라인M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000">
          <a:solidFill>
            <a:schemeClr val="bg1"/>
          </a:solidFill>
          <a:latin typeface="HY헤드라인M" pitchFamily="2" charset="-127"/>
          <a:ea typeface="HY헤드라인M" pitchFamily="2" charset="-127"/>
          <a:cs typeface="HY헤드라인M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000">
          <a:solidFill>
            <a:schemeClr val="bg1"/>
          </a:solidFill>
          <a:latin typeface="HY헤드라인M" pitchFamily="2" charset="-127"/>
          <a:ea typeface="HY헤드라인M" pitchFamily="2" charset="-127"/>
          <a:cs typeface="HY헤드라인M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000">
          <a:solidFill>
            <a:schemeClr val="bg1"/>
          </a:solidFill>
          <a:latin typeface="HY헤드라인M" pitchFamily="2" charset="-127"/>
          <a:ea typeface="HY헤드라인M" pitchFamily="2" charset="-127"/>
          <a:cs typeface="HY헤드라인M"/>
        </a:defRPr>
      </a:lvl5pPr>
      <a:lvl6pPr marL="457200" algn="l" rtl="0" eaLnBrk="0" fontAlgn="base" latinLnBrk="1" hangingPunct="0">
        <a:spcBef>
          <a:spcPct val="0"/>
        </a:spcBef>
        <a:spcAft>
          <a:spcPct val="0"/>
        </a:spcAft>
        <a:defRPr sz="3000">
          <a:solidFill>
            <a:schemeClr val="bg1"/>
          </a:solidFill>
          <a:latin typeface="HY헤드라인M" pitchFamily="2" charset="-127"/>
          <a:ea typeface="HY헤드라인M" pitchFamily="2" charset="-127"/>
        </a:defRPr>
      </a:lvl6pPr>
      <a:lvl7pPr marL="914400" algn="l" rtl="0" eaLnBrk="0" fontAlgn="base" latinLnBrk="1" hangingPunct="0">
        <a:spcBef>
          <a:spcPct val="0"/>
        </a:spcBef>
        <a:spcAft>
          <a:spcPct val="0"/>
        </a:spcAft>
        <a:defRPr sz="3000">
          <a:solidFill>
            <a:schemeClr val="bg1"/>
          </a:solidFill>
          <a:latin typeface="HY헤드라인M" pitchFamily="2" charset="-127"/>
          <a:ea typeface="HY헤드라인M" pitchFamily="2" charset="-127"/>
        </a:defRPr>
      </a:lvl7pPr>
      <a:lvl8pPr marL="1371600" algn="l" rtl="0" eaLnBrk="0" fontAlgn="base" latinLnBrk="1" hangingPunct="0">
        <a:spcBef>
          <a:spcPct val="0"/>
        </a:spcBef>
        <a:spcAft>
          <a:spcPct val="0"/>
        </a:spcAft>
        <a:defRPr sz="3000">
          <a:solidFill>
            <a:schemeClr val="bg1"/>
          </a:solidFill>
          <a:latin typeface="HY헤드라인M" pitchFamily="2" charset="-127"/>
          <a:ea typeface="HY헤드라인M" pitchFamily="2" charset="-127"/>
        </a:defRPr>
      </a:lvl8pPr>
      <a:lvl9pPr marL="1828800" algn="l" rtl="0" eaLnBrk="0" fontAlgn="base" latinLnBrk="1" hangingPunct="0">
        <a:spcBef>
          <a:spcPct val="0"/>
        </a:spcBef>
        <a:spcAft>
          <a:spcPct val="0"/>
        </a:spcAft>
        <a:defRPr sz="3000">
          <a:solidFill>
            <a:schemeClr val="bg1"/>
          </a:solidFill>
          <a:latin typeface="HY헤드라인M" pitchFamily="2" charset="-127"/>
          <a:ea typeface="HY헤드라인M" pitchFamily="2" charset="-127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 b="1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.xml"/><Relationship Id="rId2" Type="http://schemas.openxmlformats.org/officeDocument/2006/relationships/image" Target="../media/image3.png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image" Target="../media/image7.wmf"/><Relationship Id="rId3" Type="http://schemas.openxmlformats.org/officeDocument/2006/relationships/oleObject" Target="../embeddings/oleObject1.bin"/><Relationship Id="rId2" Type="http://schemas.openxmlformats.org/officeDocument/2006/relationships/tags" Target="../tags/tag3.xml"/><Relationship Id="rId18" Type="http://schemas.openxmlformats.org/officeDocument/2006/relationships/notesSlide" Target="../notesSlides/notesSlide2.xml"/><Relationship Id="rId17" Type="http://schemas.openxmlformats.org/officeDocument/2006/relationships/vmlDrawing" Target="../drawings/vmlDrawing1.vml"/><Relationship Id="rId16" Type="http://schemas.openxmlformats.org/officeDocument/2006/relationships/slideLayout" Target="../slideLayouts/slideLayout3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.xml"/><Relationship Id="rId8" Type="http://schemas.openxmlformats.org/officeDocument/2006/relationships/tags" Target="../tags/tag22.xml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0" Type="http://schemas.openxmlformats.org/officeDocument/2006/relationships/notesSlide" Target="../notesSlides/notesSlide3.xml"/><Relationship Id="rId1" Type="http://schemas.openxmlformats.org/officeDocument/2006/relationships/tags" Target="../tags/tag1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tags" Target="../tags/tag30.xml"/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2" Type="http://schemas.openxmlformats.org/officeDocument/2006/relationships/notesSlide" Target="../notesSlides/notesSlide4.xml"/><Relationship Id="rId11" Type="http://schemas.openxmlformats.org/officeDocument/2006/relationships/slideLayout" Target="../slideLayouts/slideLayout3.xml"/><Relationship Id="rId10" Type="http://schemas.openxmlformats.org/officeDocument/2006/relationships/tags" Target="../tags/tag32.xml"/><Relationship Id="rId1" Type="http://schemas.openxmlformats.org/officeDocument/2006/relationships/tags" Target="../tags/tag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.svg"/><Relationship Id="rId8" Type="http://schemas.openxmlformats.org/officeDocument/2006/relationships/image" Target="../media/image11.png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image" Target="../media/image10.svg"/><Relationship Id="rId3" Type="http://schemas.openxmlformats.org/officeDocument/2006/relationships/image" Target="../media/image9.png"/><Relationship Id="rId27" Type="http://schemas.openxmlformats.org/officeDocument/2006/relationships/notesSlide" Target="../notesSlides/notesSlide7.xml"/><Relationship Id="rId26" Type="http://schemas.openxmlformats.org/officeDocument/2006/relationships/slideLayout" Target="../slideLayouts/slideLayout3.xml"/><Relationship Id="rId25" Type="http://schemas.openxmlformats.org/officeDocument/2006/relationships/tags" Target="../tags/tag47.xml"/><Relationship Id="rId24" Type="http://schemas.openxmlformats.org/officeDocument/2006/relationships/image" Target="../media/image18.svg"/><Relationship Id="rId23" Type="http://schemas.openxmlformats.org/officeDocument/2006/relationships/image" Target="../media/image17.png"/><Relationship Id="rId22" Type="http://schemas.openxmlformats.org/officeDocument/2006/relationships/tags" Target="../tags/tag46.xml"/><Relationship Id="rId21" Type="http://schemas.openxmlformats.org/officeDocument/2006/relationships/tags" Target="../tags/tag45.xml"/><Relationship Id="rId20" Type="http://schemas.openxmlformats.org/officeDocument/2006/relationships/tags" Target="../tags/tag44.xml"/><Relationship Id="rId2" Type="http://schemas.openxmlformats.org/officeDocument/2006/relationships/tags" Target="../tags/tag34.xml"/><Relationship Id="rId19" Type="http://schemas.openxmlformats.org/officeDocument/2006/relationships/image" Target="../media/image16.svg"/><Relationship Id="rId18" Type="http://schemas.openxmlformats.org/officeDocument/2006/relationships/image" Target="../media/image15.png"/><Relationship Id="rId17" Type="http://schemas.openxmlformats.org/officeDocument/2006/relationships/tags" Target="../tags/tag43.xml"/><Relationship Id="rId16" Type="http://schemas.openxmlformats.org/officeDocument/2006/relationships/tags" Target="../tags/tag42.xml"/><Relationship Id="rId15" Type="http://schemas.openxmlformats.org/officeDocument/2006/relationships/tags" Target="../tags/tag41.xml"/><Relationship Id="rId14" Type="http://schemas.openxmlformats.org/officeDocument/2006/relationships/image" Target="../media/image14.svg"/><Relationship Id="rId13" Type="http://schemas.openxmlformats.org/officeDocument/2006/relationships/image" Target="../media/image13.png"/><Relationship Id="rId12" Type="http://schemas.openxmlformats.org/officeDocument/2006/relationships/tags" Target="../tags/tag40.xml"/><Relationship Id="rId11" Type="http://schemas.openxmlformats.org/officeDocument/2006/relationships/tags" Target="../tags/tag39.xml"/><Relationship Id="rId10" Type="http://schemas.openxmlformats.org/officeDocument/2006/relationships/tags" Target="../tags/tag38.xml"/><Relationship Id="rId1" Type="http://schemas.openxmlformats.org/officeDocument/2006/relationships/tags" Target="../tags/tag3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4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6.xml"/><Relationship Id="rId8" Type="http://schemas.openxmlformats.org/officeDocument/2006/relationships/image" Target="../media/image22.png"/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4" Type="http://schemas.openxmlformats.org/officeDocument/2006/relationships/notesSlide" Target="../notesSlides/notesSlide11.xml"/><Relationship Id="rId13" Type="http://schemas.openxmlformats.org/officeDocument/2006/relationships/slideLayout" Target="../slideLayouts/slideLayout3.xml"/><Relationship Id="rId12" Type="http://schemas.openxmlformats.org/officeDocument/2006/relationships/image" Target="../media/image23.png"/><Relationship Id="rId11" Type="http://schemas.openxmlformats.org/officeDocument/2006/relationships/tags" Target="../tags/tag58.xml"/><Relationship Id="rId10" Type="http://schemas.openxmlformats.org/officeDocument/2006/relationships/tags" Target="../tags/tag57.xml"/><Relationship Id="rId1" Type="http://schemas.openxmlformats.org/officeDocument/2006/relationships/tags" Target="../tags/tag49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7.xml"/><Relationship Id="rId8" Type="http://schemas.openxmlformats.org/officeDocument/2006/relationships/tags" Target="../tags/tag66.xml"/><Relationship Id="rId7" Type="http://schemas.openxmlformats.org/officeDocument/2006/relationships/tags" Target="../tags/tag65.xml"/><Relationship Id="rId6" Type="http://schemas.openxmlformats.org/officeDocument/2006/relationships/tags" Target="../tags/tag64.xml"/><Relationship Id="rId5" Type="http://schemas.openxmlformats.org/officeDocument/2006/relationships/tags" Target="../tags/tag63.xml"/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8" Type="http://schemas.openxmlformats.org/officeDocument/2006/relationships/notesSlide" Target="../notesSlides/notesSlide13.xml"/><Relationship Id="rId17" Type="http://schemas.openxmlformats.org/officeDocument/2006/relationships/slideLayout" Target="../slideLayouts/slideLayout3.xml"/><Relationship Id="rId16" Type="http://schemas.openxmlformats.org/officeDocument/2006/relationships/tags" Target="../tags/tag74.xml"/><Relationship Id="rId15" Type="http://schemas.openxmlformats.org/officeDocument/2006/relationships/tags" Target="../tags/tag73.xml"/><Relationship Id="rId14" Type="http://schemas.openxmlformats.org/officeDocument/2006/relationships/tags" Target="../tags/tag72.xml"/><Relationship Id="rId13" Type="http://schemas.openxmlformats.org/officeDocument/2006/relationships/tags" Target="../tags/tag71.xml"/><Relationship Id="rId12" Type="http://schemas.openxmlformats.org/officeDocument/2006/relationships/tags" Target="../tags/tag70.xml"/><Relationship Id="rId11" Type="http://schemas.openxmlformats.org/officeDocument/2006/relationships/tags" Target="../tags/tag69.xml"/><Relationship Id="rId10" Type="http://schemas.openxmlformats.org/officeDocument/2006/relationships/tags" Target="../tags/tag68.xml"/><Relationship Id="rId1" Type="http://schemas.openxmlformats.org/officeDocument/2006/relationships/tags" Target="../tags/tag59.xml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75.xml"/><Relationship Id="rId2" Type="http://schemas.openxmlformats.org/officeDocument/2006/relationships/image" Target="../media/image3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1019810" y="1844675"/>
            <a:ext cx="10152380" cy="156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 algn="ctr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200" b="1" kern="0" spc="-120" dirty="0">
                <a:solidFill>
                  <a:srgbClr val="740000"/>
                </a:solidFill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跨周期的信贷风险预测研究</a:t>
            </a:r>
            <a:endParaRPr lang="zh-CN" altLang="en-US" sz="3200" b="1" kern="0" spc="-120" dirty="0">
              <a:solidFill>
                <a:srgbClr val="740000"/>
              </a:solidFill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lvl="1" indent="0" algn="ctr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3200" b="1" kern="0" spc="-120" dirty="0">
                <a:solidFill>
                  <a:srgbClr val="740000"/>
                </a:solidFill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3200" b="1" kern="0" spc="-120" dirty="0">
                <a:solidFill>
                  <a:srgbClr val="740000"/>
                </a:solidFill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基于边界感知条件</a:t>
            </a:r>
            <a:r>
              <a:rPr lang="en-US" altLang="zh-CN" sz="3200" b="1" kern="0" spc="-120" dirty="0">
                <a:solidFill>
                  <a:srgbClr val="740000"/>
                </a:solidFill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WGAN-GP</a:t>
            </a:r>
            <a:r>
              <a:rPr lang="zh-CN" altLang="en-US" sz="3200" b="1" kern="0" spc="-120" dirty="0">
                <a:solidFill>
                  <a:srgbClr val="740000"/>
                </a:solidFill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3200" b="1" kern="0" spc="-120" dirty="0">
                <a:solidFill>
                  <a:srgbClr val="740000"/>
                </a:solidFill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Stacking</a:t>
            </a:r>
            <a:r>
              <a:rPr lang="zh-CN" altLang="en-US" sz="3200" b="1" kern="0" spc="-120" dirty="0">
                <a:solidFill>
                  <a:srgbClr val="740000"/>
                </a:solidFill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集成模型</a:t>
            </a:r>
            <a:endParaRPr lang="en-US" altLang="zh-CN" sz="2000" b="1" kern="0" spc="-120" dirty="0">
              <a:solidFill>
                <a:srgbClr val="740000"/>
              </a:solidFill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5364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78" y="188913"/>
            <a:ext cx="2416175" cy="48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3425825" y="3429000"/>
            <a:ext cx="5355590" cy="1014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50000"/>
              </a:lnSpc>
              <a:spcAft>
                <a:spcPts val="0"/>
              </a:spcAft>
            </a:pP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答辩人：蒋奕文</a:t>
            </a:r>
            <a:endParaRPr lang="zh-CN" altLang="en-US" sz="2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ctr" eaLnBrk="1" hangingPunct="1">
              <a:lnSpc>
                <a:spcPct val="150000"/>
              </a:lnSpc>
              <a:spcAft>
                <a:spcPts val="0"/>
              </a:spcAft>
            </a:pP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时间：</a:t>
            </a:r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2026</a:t>
            </a: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</a:t>
            </a:r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</a:t>
            </a: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月</a:t>
            </a:r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8</a:t>
            </a: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日</a:t>
            </a:r>
            <a:endParaRPr lang="zh-CN" altLang="en-US" sz="2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/>
          <p:cNvSpPr/>
          <p:nvPr/>
        </p:nvSpPr>
        <p:spPr>
          <a:xfrm>
            <a:off x="479425" y="981075"/>
            <a:ext cx="1384935" cy="469900"/>
          </a:xfrm>
          <a:prstGeom prst="rect">
            <a:avLst/>
          </a:prstGeom>
          <a:solidFill>
            <a:srgbClr val="7C2326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152400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26" name="组合 25"/>
          <p:cNvGrpSpPr/>
          <p:nvPr>
            <p:custDataLst>
              <p:tags r:id="rId1"/>
            </p:custDataLst>
          </p:nvPr>
        </p:nvGrpSpPr>
        <p:grpSpPr>
          <a:xfrm>
            <a:off x="2057400" y="1917065"/>
            <a:ext cx="8027035" cy="3705860"/>
            <a:chOff x="1077" y="3019"/>
            <a:chExt cx="13069" cy="5836"/>
          </a:xfrm>
        </p:grpSpPr>
        <p:graphicFrame>
          <p:nvGraphicFramePr>
            <p:cNvPr id="3" name="对象 2">
              <a:hlinkClick r:id="" action="ppaction://ole?verb=0"/>
            </p:cNvPr>
            <p:cNvGraphicFramePr>
              <a:graphicFrameLocks noChangeAspect="1"/>
            </p:cNvGraphicFramePr>
            <p:nvPr>
              <p:custDataLst>
                <p:tags r:id="rId2"/>
              </p:custDataLst>
            </p:nvPr>
          </p:nvGraphicFramePr>
          <p:xfrm>
            <a:off x="7110" y="5230"/>
            <a:ext cx="180" cy="3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" name="" r:id="rId3" imgW="114300" imgH="215900" progId="Equation.KSEE3">
                    <p:embed/>
                  </p:oleObj>
                </mc:Choice>
                <mc:Fallback>
                  <p:oleObj name="" r:id="rId3" imgW="114300" imgH="215900" progId="Equation.KSEE3">
                    <p:embed/>
                    <p:pic>
                      <p:nvPicPr>
                        <p:cNvPr id="0" name="对象 2">
                          <a:hlinkClick r:id="" action="ppaction://ole?verb=0"/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110" y="5230"/>
                          <a:ext cx="180" cy="34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15" name="组合 14"/>
            <p:cNvGrpSpPr/>
            <p:nvPr>
              <p:custDataLst>
                <p:tags r:id="rId5"/>
              </p:custDataLst>
            </p:nvPr>
          </p:nvGrpSpPr>
          <p:grpSpPr>
            <a:xfrm>
              <a:off x="2448" y="3019"/>
              <a:ext cx="11699" cy="5837"/>
              <a:chOff x="850" y="2906"/>
              <a:chExt cx="2796" cy="5448"/>
            </a:xfrm>
          </p:grpSpPr>
          <p:sp>
            <p:nvSpPr>
              <p:cNvPr id="7" name="矩形 6"/>
              <p:cNvSpPr/>
              <p:nvPr>
                <p:custDataLst>
                  <p:tags r:id="rId6"/>
                </p:custDataLst>
              </p:nvPr>
            </p:nvSpPr>
            <p:spPr>
              <a:xfrm>
                <a:off x="850" y="7614"/>
                <a:ext cx="2796" cy="740"/>
              </a:xfrm>
              <a:prstGeom prst="rect">
                <a:avLst/>
              </a:prstGeom>
              <a:solidFill>
                <a:srgbClr val="7C2326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sz="24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进度安排：进度安排，采取的措施</a:t>
                </a:r>
                <a:endParaRPr 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11" name="矩形 10"/>
              <p:cNvSpPr/>
              <p:nvPr>
                <p:custDataLst>
                  <p:tags r:id="rId7"/>
                </p:custDataLst>
              </p:nvPr>
            </p:nvSpPr>
            <p:spPr>
              <a:xfrm>
                <a:off x="850" y="2906"/>
                <a:ext cx="2796" cy="740"/>
              </a:xfrm>
              <a:prstGeom prst="rect">
                <a:avLst/>
              </a:prstGeom>
              <a:solidFill>
                <a:srgbClr val="7C2326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sz="24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背景知识：研究背景，研究问题，研究意义</a:t>
                </a:r>
                <a:endParaRPr 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12" name="矩形 11"/>
              <p:cNvSpPr/>
              <p:nvPr>
                <p:custDataLst>
                  <p:tags r:id="rId8"/>
                </p:custDataLst>
              </p:nvPr>
            </p:nvSpPr>
            <p:spPr>
              <a:xfrm>
                <a:off x="850" y="6437"/>
                <a:ext cx="2796" cy="740"/>
              </a:xfrm>
              <a:prstGeom prst="rect">
                <a:avLst/>
              </a:prstGeom>
              <a:solidFill>
                <a:srgbClr val="7C2326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sz="24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研究范围：研究范围，目前进展</a:t>
                </a:r>
                <a:endParaRPr 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13" name="矩形 12"/>
              <p:cNvSpPr/>
              <p:nvPr>
                <p:custDataLst>
                  <p:tags r:id="rId9"/>
                </p:custDataLst>
              </p:nvPr>
            </p:nvSpPr>
            <p:spPr>
              <a:xfrm>
                <a:off x="850" y="5260"/>
                <a:ext cx="2796" cy="740"/>
              </a:xfrm>
              <a:prstGeom prst="rect">
                <a:avLst/>
              </a:prstGeom>
              <a:solidFill>
                <a:srgbClr val="7C2326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sz="24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创新点与难点：论文创新点，研究难道，预期成果</a:t>
                </a:r>
                <a:endParaRPr 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14" name="矩形 13"/>
              <p:cNvSpPr/>
              <p:nvPr>
                <p:custDataLst>
                  <p:tags r:id="rId10"/>
                </p:custDataLst>
              </p:nvPr>
            </p:nvSpPr>
            <p:spPr>
              <a:xfrm>
                <a:off x="850" y="4083"/>
                <a:ext cx="2796" cy="740"/>
              </a:xfrm>
              <a:prstGeom prst="rect">
                <a:avLst/>
              </a:prstGeom>
              <a:solidFill>
                <a:srgbClr val="7C2326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sz="24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研究思路：国内外研究现状，研究思路</a:t>
                </a:r>
                <a:r>
                  <a:rPr lang="zh-CN" sz="24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，研究方法</a:t>
                </a:r>
                <a:endParaRPr 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</p:txBody>
          </p:sp>
        </p:grpSp>
        <p:sp>
          <p:nvSpPr>
            <p:cNvPr id="16" name="TextBox 47"/>
            <p:cNvSpPr txBox="1"/>
            <p:nvPr>
              <p:custDataLst>
                <p:tags r:id="rId11"/>
              </p:custDataLst>
            </p:nvPr>
          </p:nvSpPr>
          <p:spPr>
            <a:xfrm>
              <a:off x="1077" y="3019"/>
              <a:ext cx="1260" cy="79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no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TextBox 47"/>
            <p:cNvSpPr txBox="1"/>
            <p:nvPr>
              <p:custDataLst>
                <p:tags r:id="rId12"/>
              </p:custDataLst>
            </p:nvPr>
          </p:nvSpPr>
          <p:spPr>
            <a:xfrm>
              <a:off x="1077" y="8063"/>
              <a:ext cx="1260" cy="79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no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五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TextBox 47"/>
            <p:cNvSpPr txBox="1"/>
            <p:nvPr>
              <p:custDataLst>
                <p:tags r:id="rId13"/>
              </p:custDataLst>
            </p:nvPr>
          </p:nvSpPr>
          <p:spPr>
            <a:xfrm>
              <a:off x="1077" y="4280"/>
              <a:ext cx="1260" cy="79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no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TextBox 47"/>
            <p:cNvSpPr txBox="1"/>
            <p:nvPr>
              <p:custDataLst>
                <p:tags r:id="rId14"/>
              </p:custDataLst>
            </p:nvPr>
          </p:nvSpPr>
          <p:spPr>
            <a:xfrm>
              <a:off x="1077" y="5541"/>
              <a:ext cx="1260" cy="79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no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TextBox 47"/>
            <p:cNvSpPr txBox="1"/>
            <p:nvPr>
              <p:custDataLst>
                <p:tags r:id="rId15"/>
              </p:custDataLst>
            </p:nvPr>
          </p:nvSpPr>
          <p:spPr>
            <a:xfrm>
              <a:off x="1077" y="6802"/>
              <a:ext cx="1260" cy="79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no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0863" y="984250"/>
            <a:ext cx="3316605" cy="469900"/>
            <a:chOff x="992516" y="4392689"/>
            <a:chExt cx="3200031" cy="358868"/>
          </a:xfrm>
        </p:grpSpPr>
        <p:sp>
          <p:nvSpPr>
            <p:cNvPr id="54" name="矩形 53"/>
            <p:cNvSpPr/>
            <p:nvPr/>
          </p:nvSpPr>
          <p:spPr>
            <a:xfrm>
              <a:off x="1820860" y="4392689"/>
              <a:ext cx="2371687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研究背景与意义</a:t>
              </a:r>
              <a:endPara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AutoShape 3"/>
          <p:cNvSpPr/>
          <p:nvPr>
            <p:custDataLst>
              <p:tags r:id="rId1"/>
            </p:custDataLst>
          </p:nvPr>
        </p:nvSpPr>
        <p:spPr>
          <a:xfrm>
            <a:off x="722630" y="1557020"/>
            <a:ext cx="10647045" cy="1609090"/>
          </a:xfrm>
          <a:prstGeom prst="roundRect">
            <a:avLst>
              <a:gd name="adj" fmla="val 4615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marL="0" indent="0" algn="just" latinLnBrk="0">
              <a:lnSpc>
                <a:spcPct val="125000"/>
              </a:lnSpc>
              <a:defRPr/>
            </a:pPr>
            <a:endParaRPr sz="16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AutoShape 5"/>
          <p:cNvSpPr/>
          <p:nvPr>
            <p:custDataLst>
              <p:tags r:id="rId2"/>
            </p:custDataLst>
          </p:nvPr>
        </p:nvSpPr>
        <p:spPr>
          <a:xfrm>
            <a:off x="911225" y="1557020"/>
            <a:ext cx="109855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研究背景</a:t>
            </a:r>
            <a:endParaRPr lang="en-US" sz="2000" b="1" i="0" u="none" strike="noStrike">
              <a:solidFill>
                <a:srgbClr val="811E2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78205" y="1988820"/>
            <a:ext cx="10329545" cy="956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indent="0" algn="just" latinLnBrk="0">
              <a:lnSpc>
                <a:spcPct val="125000"/>
              </a:lnSpc>
            </a:pPr>
            <a:r>
              <a:rPr lang="zh-CN" altLang="en-US" sz="15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国内个人信贷规模连年扩容，住户信贷体量庞大，业务发展带动消费与小微经济，但客群下沉、宏观环境变化推升信贷不良，监管出台多项新规严控高息贷款、规范业务。传统人工与单一模型风控短板突出，现存建模存在数据失衡、删失样本浪费、跨周期适配差等问题；如今集成学习、可解释</a:t>
            </a:r>
            <a:r>
              <a:rPr lang="en-US" altLang="zh-CN" sz="15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AI</a:t>
            </a:r>
            <a:r>
              <a:rPr lang="zh-CN" altLang="en-US" sz="15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等新技术落地，成为优化信贷风控、破解现有难题的重要路径。</a:t>
            </a:r>
            <a:endParaRPr lang="zh-CN" altLang="en-US" sz="15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50" name="组合 49"/>
          <p:cNvGrpSpPr/>
          <p:nvPr/>
        </p:nvGrpSpPr>
        <p:grpSpPr>
          <a:xfrm rot="0">
            <a:off x="839470" y="3524885"/>
            <a:ext cx="4843780" cy="3022600"/>
            <a:chOff x="6900903" y="1002379"/>
            <a:chExt cx="4805971" cy="3046418"/>
          </a:xfrm>
        </p:grpSpPr>
        <p:sp>
          <p:nvSpPr>
            <p:cNvPr id="51" name="矩形: 圆角 56"/>
            <p:cNvSpPr/>
            <p:nvPr>
              <p:custDataLst>
                <p:tags r:id="rId3"/>
              </p:custDataLst>
            </p:nvPr>
          </p:nvSpPr>
          <p:spPr>
            <a:xfrm>
              <a:off x="6900903" y="1002379"/>
              <a:ext cx="4805971" cy="150915"/>
            </a:xfrm>
            <a:prstGeom prst="roundRect">
              <a:avLst>
                <a:gd name="adj" fmla="val 50000"/>
              </a:avLst>
            </a:prstGeom>
            <a:solidFill>
              <a:srgbClr val="89393B"/>
            </a:solidFill>
            <a:ln w="88900">
              <a:solidFill>
                <a:srgbClr val="89393B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Regular" panose="02000000000000000000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52" name="矩形: 圆顶角 18"/>
            <p:cNvSpPr/>
            <p:nvPr>
              <p:custDataLst>
                <p:tags r:id="rId4"/>
              </p:custDataLst>
            </p:nvPr>
          </p:nvSpPr>
          <p:spPr>
            <a:xfrm>
              <a:off x="6965452" y="1076021"/>
              <a:ext cx="4673559" cy="29727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571500" dist="241300" dir="5400000" sx="99000" sy="99000" algn="t" rotWithShape="0">
                <a:schemeClr val="tx1">
                  <a:lumMod val="75000"/>
                  <a:lumOff val="25000"/>
                  <a:alpha val="2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Regular" panose="02000000000000000000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29" name="文本框 28"/>
          <p:cNvSpPr txBox="1"/>
          <p:nvPr/>
        </p:nvSpPr>
        <p:spPr>
          <a:xfrm>
            <a:off x="1019810" y="3642995"/>
            <a:ext cx="457835" cy="5130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 sz="2400" b="1">
                <a:solidFill>
                  <a:srgbClr val="893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①</a:t>
            </a:r>
            <a:endParaRPr lang="zh-CN" altLang="en-US" sz="2400" b="1">
              <a:solidFill>
                <a:srgbClr val="89393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5"/>
          <p:cNvSpPr/>
          <p:nvPr>
            <p:custDataLst>
              <p:tags r:id="rId5"/>
            </p:custDataLst>
          </p:nvPr>
        </p:nvSpPr>
        <p:spPr>
          <a:xfrm>
            <a:off x="1468755" y="3621405"/>
            <a:ext cx="109855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000" b="1" i="0" u="none" strike="noStrike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理论意义</a:t>
            </a:r>
            <a:endParaRPr lang="zh-CN" altLang="en-US" sz="2000" b="1" i="0" u="none" strike="noStrike">
              <a:solidFill>
                <a:srgbClr val="811E2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grpSp>
        <p:nvGrpSpPr>
          <p:cNvPr id="7" name="组合 6"/>
          <p:cNvGrpSpPr/>
          <p:nvPr/>
        </p:nvGrpSpPr>
        <p:grpSpPr>
          <a:xfrm rot="0">
            <a:off x="6426835" y="3524885"/>
            <a:ext cx="4843780" cy="3022600"/>
            <a:chOff x="6900903" y="1002379"/>
            <a:chExt cx="4805971" cy="3046418"/>
          </a:xfrm>
        </p:grpSpPr>
        <p:sp>
          <p:nvSpPr>
            <p:cNvPr id="11" name="矩形: 圆角 56"/>
            <p:cNvSpPr/>
            <p:nvPr>
              <p:custDataLst>
                <p:tags r:id="rId6"/>
              </p:custDataLst>
            </p:nvPr>
          </p:nvSpPr>
          <p:spPr>
            <a:xfrm>
              <a:off x="6900903" y="1002379"/>
              <a:ext cx="4805971" cy="150915"/>
            </a:xfrm>
            <a:prstGeom prst="roundRect">
              <a:avLst>
                <a:gd name="adj" fmla="val 50000"/>
              </a:avLst>
            </a:prstGeom>
            <a:solidFill>
              <a:srgbClr val="89393B"/>
            </a:solidFill>
            <a:ln w="88900">
              <a:solidFill>
                <a:srgbClr val="89393B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Regular" panose="02000000000000000000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21" name="矩形: 圆顶角 18"/>
            <p:cNvSpPr/>
            <p:nvPr>
              <p:custDataLst>
                <p:tags r:id="rId7"/>
              </p:custDataLst>
            </p:nvPr>
          </p:nvSpPr>
          <p:spPr>
            <a:xfrm>
              <a:off x="6965452" y="1076021"/>
              <a:ext cx="4673559" cy="29727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571500" dist="241300" dir="5400000" sx="99000" sy="99000" algn="t" rotWithShape="0">
                <a:schemeClr val="tx1">
                  <a:lumMod val="75000"/>
                  <a:lumOff val="25000"/>
                  <a:alpha val="2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Regular" panose="02000000000000000000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23" name="AutoShape 5"/>
          <p:cNvSpPr/>
          <p:nvPr>
            <p:custDataLst>
              <p:tags r:id="rId8"/>
            </p:custDataLst>
          </p:nvPr>
        </p:nvSpPr>
        <p:spPr>
          <a:xfrm>
            <a:off x="7056120" y="3621405"/>
            <a:ext cx="109855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000" b="1" i="0" u="none" strike="noStrike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实用价值</a:t>
            </a:r>
            <a:endParaRPr lang="zh-CN" altLang="en-US" sz="2000" b="1" i="0" u="none" strike="noStrike">
              <a:solidFill>
                <a:srgbClr val="811E2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6598285" y="3621405"/>
            <a:ext cx="457835" cy="5130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 sz="2400" b="1">
                <a:solidFill>
                  <a:srgbClr val="893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②</a:t>
            </a:r>
            <a:endParaRPr lang="zh-CN" altLang="en-US" sz="2400" b="1">
              <a:solidFill>
                <a:srgbClr val="89393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1019810" y="4134485"/>
            <a:ext cx="4487545" cy="2092960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 algn="just" latinLnBrk="0">
              <a:lnSpc>
                <a:spcPct val="125000"/>
              </a:lnSpc>
            </a:pP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本文摒弃直接剔除右删失样本的常规做法，以快速违约删失样本为先验构建数据增强框架，充分挖掘闲置风险信息。突破单一数据集验证局限，搭建</a:t>
            </a:r>
            <a:r>
              <a:rPr lang="en-US" altLang="zh-CN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OOS</a:t>
            </a: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OOT</a:t>
            </a: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双测试体系，依托宏观加息场景完成跨周期检验。研究融合</a:t>
            </a:r>
            <a:r>
              <a:rPr lang="en-US" altLang="zh-CN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Stacking</a:t>
            </a: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集成模型与</a:t>
            </a:r>
            <a:r>
              <a:rPr lang="en-US" altLang="zh-CN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SHAP</a:t>
            </a: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可解释算法，从全局、局部双层拆解违约特征作用机理，破除模型黑箱缺陷，完善信贷违约建模逻辑，进一步丰富不平衡信贷数据建模与智能风控的相关理论体系。</a:t>
            </a:r>
            <a:endParaRPr lang="zh-CN" altLang="en-US" sz="1400" b="0" i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6563360" y="4156075"/>
            <a:ext cx="4550410" cy="19761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latinLnBrk="0">
              <a:lnSpc>
                <a:spcPct val="125000"/>
              </a:lnSpc>
            </a:pP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本文的</a:t>
            </a:r>
            <a:r>
              <a:rPr lang="en-US" altLang="zh-CN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BA-cWGAN-GP</a:t>
            </a: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样本增强与</a:t>
            </a:r>
            <a:r>
              <a:rPr lang="en-US" altLang="zh-CN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Stacking</a:t>
            </a: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集成模型可提升低违约信贷风险识别准确率，为机构智能建模提供可行方案。借助</a:t>
            </a:r>
            <a:r>
              <a:rPr lang="en-US" altLang="zh-CN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OOS</a:t>
            </a: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OOT</a:t>
            </a: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双测试开展跨周期实证，厘清加息与常态周期的信贷风险差异、关键风险指标，助力机构随宏观环境灵活优化风控、抵御集中违约。结合</a:t>
            </a:r>
            <a:r>
              <a:rPr lang="en-US" altLang="zh-CN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SHAP</a:t>
            </a:r>
            <a:r>
              <a:rPr lang="zh-CN" altLang="en-US" sz="1400" b="0" i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生成可解释风控规则，破解机器学习黑箱难题，方便风控人员掌握风险逻辑，提升模型落地实用性。</a:t>
            </a:r>
            <a:endParaRPr lang="zh-CN" altLang="en-US" sz="1400" b="0" i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0863" y="984250"/>
            <a:ext cx="3512820" cy="469900"/>
            <a:chOff x="992516" y="4392689"/>
            <a:chExt cx="3389349" cy="358868"/>
          </a:xfrm>
        </p:grpSpPr>
        <p:sp>
          <p:nvSpPr>
            <p:cNvPr id="54" name="矩形 53"/>
            <p:cNvSpPr/>
            <p:nvPr/>
          </p:nvSpPr>
          <p:spPr>
            <a:xfrm>
              <a:off x="1820860" y="4392689"/>
              <a:ext cx="2561005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国内外文献综述</a:t>
              </a:r>
              <a:endPara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0" name="组合 39"/>
          <p:cNvGrpSpPr/>
          <p:nvPr/>
        </p:nvGrpSpPr>
        <p:grpSpPr>
          <a:xfrm>
            <a:off x="550545" y="5906135"/>
            <a:ext cx="11195685" cy="651510"/>
            <a:chOff x="838188" y="5873433"/>
            <a:chExt cx="10554335" cy="598947"/>
          </a:xfrm>
          <a:solidFill>
            <a:srgbClr val="89393B"/>
          </a:solidFill>
        </p:grpSpPr>
        <p:sp>
          <p:nvSpPr>
            <p:cNvPr id="42" name="矩形 41"/>
            <p:cNvSpPr/>
            <p:nvPr/>
          </p:nvSpPr>
          <p:spPr>
            <a:xfrm>
              <a:off x="850760" y="5873433"/>
              <a:ext cx="10490279" cy="456777"/>
            </a:xfrm>
            <a:prstGeom prst="rect">
              <a:avLst/>
            </a:prstGeom>
            <a:grpFill/>
            <a:ln>
              <a:solidFill>
                <a:srgbClr val="89393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838188" y="5873892"/>
              <a:ext cx="10554335" cy="598488"/>
            </a:xfrm>
            <a:prstGeom prst="rect">
              <a:avLst/>
            </a:prstGeom>
            <a:grpFill/>
            <a:ln>
              <a:solidFill>
                <a:srgbClr val="89393B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anchor="ctr">
              <a:noAutofit/>
            </a:bodyPr>
            <a:lstStyle/>
            <a:p>
              <a:pPr lvl="0" algn="ctr">
                <a:defRPr/>
              </a:pPr>
              <a:r>
                <a:rPr lang="zh-CN" altLang="en-US" b="1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Wingdings 3" panose="05040102010807070707" pitchFamily="18" charset="2"/>
                </a:rPr>
                <a:t>问题</a:t>
              </a:r>
              <a:r>
                <a:rPr kumimoji="0" lang="zh-CN" altLang="en-US" b="1" i="0" u="none" strike="noStrike" kern="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sym typeface="Wingdings 3" panose="05040102010807070707" pitchFamily="18" charset="2"/>
                </a:rPr>
                <a:t></a:t>
              </a:r>
              <a:r>
                <a:rPr kumimoji="0" lang="en-US" altLang="zh-CN" b="1" i="0" u="none" strike="noStrike" kern="0" cap="none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sym typeface="Wingdings 3" panose="05040102010807070707" pitchFamily="18" charset="2"/>
                </a:rPr>
                <a:t>1.</a:t>
              </a:r>
              <a:r>
                <a:rPr lang="zh-CN" altLang="en-US" b="1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Wingdings 3" panose="05040102010807070707" pitchFamily="18" charset="2"/>
                </a:rPr>
                <a:t>不平衡数据生成忽略风险决策边界，边界样本挖掘不足  </a:t>
              </a:r>
              <a:r>
                <a:rPr lang="en-US" altLang="zh-CN" b="1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Wingdings 3" panose="05040102010807070707" pitchFamily="18" charset="2"/>
                </a:rPr>
                <a:t>2.</a:t>
              </a:r>
              <a:r>
                <a:rPr lang="zh-CN" altLang="en-US" b="1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Wingdings 3" panose="05040102010807070707" pitchFamily="18" charset="2"/>
                </a:rPr>
                <a:t>模型验证缺少跨时间、跨周期外测试</a:t>
              </a:r>
              <a:r>
                <a:rPr lang="en-US" altLang="zh-CN" b="1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Wingdings 3" panose="05040102010807070707" pitchFamily="18" charset="2"/>
                </a:rPr>
                <a:t> 3.</a:t>
              </a:r>
              <a:r>
                <a:rPr lang="zh-CN" altLang="en-US" b="1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Wingdings 3" panose="05040102010807070707" pitchFamily="18" charset="2"/>
                </a:rPr>
                <a:t>可解释性研究仅做静态特征归因，未结合经济周期分析风险机制。</a:t>
              </a:r>
              <a:endParaRPr lang="zh-CN" altLang="en-US" b="1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 3" panose="05040102010807070707" pitchFamily="18" charset="2"/>
              </a:endParaRPr>
            </a:p>
          </p:txBody>
        </p:sp>
      </p:grpSp>
      <p:sp>
        <p:nvSpPr>
          <p:cNvPr id="44" name="AutoShape 4"/>
          <p:cNvSpPr/>
          <p:nvPr>
            <p:custDataLst>
              <p:tags r:id="rId1"/>
            </p:custDataLst>
          </p:nvPr>
        </p:nvSpPr>
        <p:spPr>
          <a:xfrm>
            <a:off x="546735" y="1562735"/>
            <a:ext cx="5290820" cy="4079240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5" name="AutoShape 5"/>
          <p:cNvSpPr/>
          <p:nvPr>
            <p:custDataLst>
              <p:tags r:id="rId2"/>
            </p:custDataLst>
          </p:nvPr>
        </p:nvSpPr>
        <p:spPr>
          <a:xfrm>
            <a:off x="546735" y="1562735"/>
            <a:ext cx="5290820" cy="76200"/>
          </a:xfrm>
          <a:prstGeom prst="roundRect">
            <a:avLst>
              <a:gd name="adj" fmla="val 0"/>
            </a:avLst>
          </a:prstGeom>
          <a:solidFill>
            <a:srgbClr val="811E23"/>
          </a:solidFill>
          <a:ln w="25400" cap="flat" cmpd="sng">
            <a:solidFill>
              <a:srgbClr val="811E23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6" name="AutoShape 6"/>
          <p:cNvSpPr/>
          <p:nvPr>
            <p:custDataLst>
              <p:tags r:id="rId3"/>
            </p:custDataLst>
          </p:nvPr>
        </p:nvSpPr>
        <p:spPr>
          <a:xfrm>
            <a:off x="800735" y="1880235"/>
            <a:ext cx="4653915" cy="4800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000" b="1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不平衡数据集的处理</a:t>
            </a:r>
            <a:endParaRPr lang="zh-CN" altLang="en-US" sz="2000" b="1" i="0" u="none" strike="noStrike">
              <a:solidFill>
                <a:srgbClr val="1F293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8" name="AutoShape 8"/>
          <p:cNvSpPr/>
          <p:nvPr>
            <p:custDataLst>
              <p:tags r:id="rId4"/>
            </p:custDataLst>
          </p:nvPr>
        </p:nvSpPr>
        <p:spPr>
          <a:xfrm>
            <a:off x="800735" y="2564765"/>
            <a:ext cx="4916170" cy="118681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just" latinLnBrk="0">
              <a:lnSpc>
                <a:spcPct val="100000"/>
              </a:lnSpc>
              <a:spcAft>
                <a:spcPts val="600"/>
              </a:spcAft>
              <a:defRPr/>
            </a:pPr>
            <a:r>
              <a:rPr lang="zh-CN" altLang="en-US" sz="16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理论演进</a:t>
            </a:r>
            <a:endParaRPr lang="en-US"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 latinLnBrk="0">
              <a:lnSpc>
                <a:spcPct val="125000"/>
              </a:lnSpc>
              <a:spcBef>
                <a:spcPts val="0"/>
              </a:spcBef>
              <a:buFont typeface="Wingdings" panose="05000000000000000000" charset="0"/>
              <a:buChar char="Ø"/>
            </a:pP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早期依托传统采样理论，优化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SMOTE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系列混合采样算法，解决数据失衡、过拟合、样本丢失等基础问题。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  <a:p>
            <a:pPr marL="285750" indent="-285750" algn="just" latinLnBrk="0">
              <a:lnSpc>
                <a:spcPct val="125000"/>
              </a:lnSpc>
              <a:spcBef>
                <a:spcPts val="0"/>
              </a:spcBef>
              <a:buFont typeface="Wingdings" panose="05000000000000000000" charset="0"/>
              <a:buChar char="Ø"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后期依托生成式学习理论，结合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GAN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与可解释性算法，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实现从基础数据平衡到高质量智能样本生成的升级。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50" name="AutoShape 10"/>
          <p:cNvSpPr/>
          <p:nvPr>
            <p:custDataLst>
              <p:tags r:id="rId5"/>
            </p:custDataLst>
          </p:nvPr>
        </p:nvSpPr>
        <p:spPr>
          <a:xfrm>
            <a:off x="800735" y="3933190"/>
            <a:ext cx="4916170" cy="152717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latinLnBrk="0">
              <a:lnSpc>
                <a:spcPct val="100000"/>
              </a:lnSpc>
              <a:spcAft>
                <a:spcPts val="600"/>
              </a:spcAft>
              <a:defRPr/>
            </a:pPr>
            <a:r>
              <a:rPr lang="zh-CN" altLang="en-US" sz="16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技术驱动</a:t>
            </a:r>
            <a:endParaRPr lang="en-US"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 latinLnBrk="0">
              <a:lnSpc>
                <a:spcPct val="125000"/>
              </a:lnSpc>
              <a:spcBef>
                <a:spcPts val="0"/>
              </a:spcBef>
              <a:buFont typeface="Wingdings" panose="05000000000000000000" charset="0"/>
              <a:buChar char="Ø"/>
            </a:pPr>
            <a:r>
              <a:rPr lang="zh-CN" altLang="en-US" sz="14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传统采样技术：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迭代优化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SMOTE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、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ADASYN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等算法，结合聚类、混合采样方式，规避噪声、过拟合、样本缺失问题。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  <a:p>
            <a:pPr marL="285750" indent="-285750" algn="l" latinLnBrk="0">
              <a:lnSpc>
                <a:spcPct val="125000"/>
              </a:lnSpc>
              <a:spcBef>
                <a:spcPts val="0"/>
              </a:spcBef>
              <a:buFont typeface="Wingdings" panose="05000000000000000000" charset="0"/>
              <a:buChar char="Ø"/>
            </a:pPr>
            <a:r>
              <a:rPr lang="zh-CN" altLang="en-US" sz="14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生成式增强技术：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以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GAN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衍生算法、扩散模型为核心，融合自适应权重、可解释性优化。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69" name="AutoShape 4"/>
          <p:cNvSpPr/>
          <p:nvPr>
            <p:custDataLst>
              <p:tags r:id="rId6"/>
            </p:custDataLst>
          </p:nvPr>
        </p:nvSpPr>
        <p:spPr>
          <a:xfrm>
            <a:off x="6455410" y="1562735"/>
            <a:ext cx="5290820" cy="4079240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0" name="AutoShape 5"/>
          <p:cNvSpPr/>
          <p:nvPr>
            <p:custDataLst>
              <p:tags r:id="rId7"/>
            </p:custDataLst>
          </p:nvPr>
        </p:nvSpPr>
        <p:spPr>
          <a:xfrm>
            <a:off x="6455410" y="1562735"/>
            <a:ext cx="5290820" cy="76200"/>
          </a:xfrm>
          <a:prstGeom prst="roundRect">
            <a:avLst>
              <a:gd name="adj" fmla="val 0"/>
            </a:avLst>
          </a:prstGeom>
          <a:solidFill>
            <a:srgbClr val="811E23"/>
          </a:solidFill>
          <a:ln w="25400" cap="flat" cmpd="sng">
            <a:solidFill>
              <a:srgbClr val="811E23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1" name="AutoShape 6"/>
          <p:cNvSpPr/>
          <p:nvPr>
            <p:custDataLst>
              <p:tags r:id="rId8"/>
            </p:custDataLst>
          </p:nvPr>
        </p:nvSpPr>
        <p:spPr>
          <a:xfrm>
            <a:off x="6709410" y="1880235"/>
            <a:ext cx="4653915" cy="4800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000" b="1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信贷风险预测</a:t>
            </a:r>
            <a:endParaRPr lang="zh-CN" altLang="en-US" sz="2000" b="1" i="0" u="none" strike="noStrike">
              <a:solidFill>
                <a:srgbClr val="1F293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2" name="AutoShape 8"/>
          <p:cNvSpPr/>
          <p:nvPr>
            <p:custDataLst>
              <p:tags r:id="rId9"/>
            </p:custDataLst>
          </p:nvPr>
        </p:nvSpPr>
        <p:spPr>
          <a:xfrm>
            <a:off x="6709410" y="2564765"/>
            <a:ext cx="4848860" cy="118681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latinLnBrk="0">
              <a:lnSpc>
                <a:spcPct val="100000"/>
              </a:lnSpc>
              <a:spcAft>
                <a:spcPts val="600"/>
              </a:spcAft>
              <a:defRPr/>
            </a:pPr>
            <a:r>
              <a:rPr lang="zh-CN" altLang="en-US" sz="16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理论奠基</a:t>
            </a:r>
            <a:endParaRPr lang="en-US"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25000"/>
              </a:lnSpc>
              <a:buClrTx/>
              <a:buSzTx/>
              <a:buFont typeface="Wingdings" panose="05000000000000000000" pitchFamily="2" charset="2"/>
              <a:buChar char="Ø"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Altman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1968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）提出Z-Score模型，整合多维财务指标，建立了企业财务的量化判别标准。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25000"/>
              </a:lnSpc>
              <a:buClrTx/>
              <a:buSzTx/>
              <a:buFont typeface="Wingdings" panose="05000000000000000000" pitchFamily="2" charset="2"/>
              <a:buChar char="Ø"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风险评估从主观经验判断向客观计量分析的跨越，为后续复杂算法的应用提供了方法论基础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73" name="AutoShape 10"/>
          <p:cNvSpPr/>
          <p:nvPr>
            <p:custDataLst>
              <p:tags r:id="rId10"/>
            </p:custDataLst>
          </p:nvPr>
        </p:nvSpPr>
        <p:spPr>
          <a:xfrm>
            <a:off x="6709410" y="3933190"/>
            <a:ext cx="4849495" cy="152717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latinLnBrk="0">
              <a:lnSpc>
                <a:spcPct val="100000"/>
              </a:lnSpc>
              <a:spcAft>
                <a:spcPts val="600"/>
              </a:spcAft>
              <a:defRPr/>
            </a:pPr>
            <a:r>
              <a:rPr lang="zh-CN" altLang="en-US" sz="16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技术革新</a:t>
            </a:r>
            <a:endParaRPr lang="en-US"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 fontAlgn="auto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智能模型迭代升级：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将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XGBoost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LightGBM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等机器学习模型及特征筛选、智能调参优化算法引入信用风险评估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pPr marL="285750" indent="-285750" algn="just" fontAlgn="auto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集成学习建模：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通过融合多类差异化基模型优势，弥补单一模型的缺陷，提升预测精度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</p:spTree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0863" y="984250"/>
            <a:ext cx="2668270" cy="469900"/>
            <a:chOff x="992516" y="4392689"/>
            <a:chExt cx="2574484" cy="358868"/>
          </a:xfrm>
        </p:grpSpPr>
        <p:sp>
          <p:nvSpPr>
            <p:cNvPr id="54" name="矩形 53"/>
            <p:cNvSpPr/>
            <p:nvPr/>
          </p:nvSpPr>
          <p:spPr>
            <a:xfrm>
              <a:off x="1820860" y="4392689"/>
              <a:ext cx="1746140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研究方法</a:t>
              </a:r>
              <a:endPara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6" name="AutoShape 12"/>
          <p:cNvSpPr/>
          <p:nvPr/>
        </p:nvSpPr>
        <p:spPr>
          <a:xfrm>
            <a:off x="551180" y="1701165"/>
            <a:ext cx="5207000" cy="4893945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7" name="AutoShape 14"/>
          <p:cNvSpPr/>
          <p:nvPr/>
        </p:nvSpPr>
        <p:spPr>
          <a:xfrm>
            <a:off x="871855" y="1772920"/>
            <a:ext cx="4505325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数据生成</a:t>
            </a:r>
            <a:r>
              <a:rPr lang="en-US" sz="2200" b="1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算法：BA-cWGAN-GP</a:t>
            </a:r>
            <a:endParaRPr lang="zh-CN" altLang="en-US" sz="2200" b="1" i="0" u="none" strike="noStrike">
              <a:solidFill>
                <a:srgbClr val="811E2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68" name="AutoShape 15"/>
          <p:cNvSpPr/>
          <p:nvPr/>
        </p:nvSpPr>
        <p:spPr>
          <a:xfrm>
            <a:off x="911225" y="2277110"/>
            <a:ext cx="4524375" cy="4533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just" latinLnBrk="0">
              <a:lnSpc>
                <a:spcPct val="125000"/>
              </a:lnSpc>
              <a:defRPr/>
            </a:pPr>
            <a:r>
              <a:rPr lang="zh-CN" altLang="en-US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生成器不再</a:t>
            </a:r>
            <a:r>
              <a:rPr lang="en-US" altLang="zh-CN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"</a:t>
            </a:r>
            <a:r>
              <a:rPr lang="zh-CN" altLang="en-US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盲生成</a:t>
            </a:r>
            <a:r>
              <a:rPr lang="en-US" altLang="zh-CN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"</a:t>
            </a:r>
            <a:r>
              <a:rPr lang="zh-CN" altLang="en-US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，而是被边界损失引导至决策边界附近，生成对下游分类器最有训练价值的合成违约样本。</a:t>
            </a:r>
            <a:endParaRPr lang="zh-CN" altLang="en-US" sz="13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69" name="AutoShape 16"/>
          <p:cNvSpPr/>
          <p:nvPr/>
        </p:nvSpPr>
        <p:spPr>
          <a:xfrm>
            <a:off x="855980" y="2852420"/>
            <a:ext cx="4597400" cy="1242695"/>
          </a:xfrm>
          <a:prstGeom prst="roundRect">
            <a:avLst>
              <a:gd name="adj" fmla="val 8888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1" name="AutoShape 18"/>
          <p:cNvSpPr/>
          <p:nvPr/>
        </p:nvSpPr>
        <p:spPr>
          <a:xfrm>
            <a:off x="838835" y="4166870"/>
            <a:ext cx="4597400" cy="1027430"/>
          </a:xfrm>
          <a:prstGeom prst="roundRect">
            <a:avLst>
              <a:gd name="adj" fmla="val 11428"/>
            </a:avLst>
          </a:prstGeom>
          <a:solidFill>
            <a:schemeClr val="accent6">
              <a:lumMod val="20000"/>
              <a:lumOff val="8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5" name="AutoShape 12"/>
          <p:cNvSpPr/>
          <p:nvPr/>
        </p:nvSpPr>
        <p:spPr>
          <a:xfrm>
            <a:off x="6424295" y="1700530"/>
            <a:ext cx="5207000" cy="4895215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6" name="AutoShape 14"/>
          <p:cNvSpPr/>
          <p:nvPr/>
        </p:nvSpPr>
        <p:spPr>
          <a:xfrm>
            <a:off x="6748145" y="1772920"/>
            <a:ext cx="4505325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跨周期预测</a:t>
            </a:r>
            <a:r>
              <a:rPr lang="en-US" sz="2200" b="1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：OOS</a:t>
            </a:r>
            <a:r>
              <a:rPr lang="zh-CN" altLang="en-US" sz="2200" b="1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、</a:t>
            </a:r>
            <a:r>
              <a:rPr lang="en-US" altLang="zh-CN" sz="2200" b="1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OOT</a:t>
            </a:r>
            <a:r>
              <a:rPr lang="zh-CN" altLang="en-US" sz="2200" b="1">
                <a:solidFill>
                  <a:srgbClr val="811E2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样本划分</a:t>
            </a:r>
            <a:endParaRPr lang="zh-CN" altLang="en-US" sz="2200" b="1" i="0" u="none" strike="noStrike">
              <a:solidFill>
                <a:srgbClr val="811E2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77" name="AutoShape 15"/>
          <p:cNvSpPr/>
          <p:nvPr/>
        </p:nvSpPr>
        <p:spPr>
          <a:xfrm>
            <a:off x="6748145" y="2191385"/>
            <a:ext cx="4597400" cy="6705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zh-CN" altLang="en-US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采用</a:t>
            </a:r>
            <a:r>
              <a:rPr lang="en-US" altLang="zh-CN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 OOS + OOT </a:t>
            </a:r>
            <a:r>
              <a:rPr lang="zh-CN" altLang="en-US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双测试集验证，</a:t>
            </a:r>
            <a:r>
              <a:rPr lang="en-US" altLang="zh-CN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OOT</a:t>
            </a:r>
            <a:r>
              <a:rPr lang="zh-CN" altLang="en-US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可以验证</a:t>
            </a:r>
            <a:r>
              <a:rPr lang="en-US" altLang="zh-CN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2023</a:t>
            </a:r>
            <a:r>
              <a:rPr lang="zh-CN" altLang="en-US" sz="13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年加息高峰的宏观环境剧变下，模型是否有效</a:t>
            </a:r>
            <a:endParaRPr lang="zh-CN" altLang="en-US" sz="13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914400" y="2852420"/>
            <a:ext cx="4420235" cy="1229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Phase 1 </a:t>
            </a:r>
            <a:r>
              <a:rPr lang="zh-CN" altLang="en-US" sz="1400" b="1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：违约倾向得分提取</a:t>
            </a:r>
            <a:endParaRPr lang="zh-CN" altLang="en-US" sz="1400" b="1">
              <a:solidFill>
                <a:srgbClr val="B4530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从月度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Performance 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数据回溯首次违约月份，标注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Early / Late Default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训练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XGBoost 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违约速度分类器（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speed_clf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），对右删失样本推断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r 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值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输出：每笔违约贷款的</a:t>
            </a:r>
            <a:r>
              <a:rPr lang="zh-CN" altLang="en-US" sz="1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违约倾向得分</a:t>
            </a:r>
            <a:r>
              <a:rPr lang="en-US" altLang="zh-CN" sz="1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r ∈ [0,1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]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913765" y="4220845"/>
            <a:ext cx="4468495" cy="8604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Phase 2 </a:t>
            </a:r>
            <a:r>
              <a:rPr lang="zh-CN" altLang="en-US" sz="1400" b="1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：决策边界识别</a:t>
            </a:r>
            <a:endParaRPr lang="zh-CN" altLang="en-US" sz="1400" b="1">
              <a:solidFill>
                <a:srgbClr val="E46C0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训练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XGBoost 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基分类器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en-US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→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计算边界距离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d = |p − 0.5|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知识蒸馏：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NN 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代理模型复刻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XGBoost 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边界逻辑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(r = 0.983)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输出：边界采样权重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w = 1/(d+ε)</a:t>
            </a:r>
            <a:r>
              <a:rPr lang="en-US" altLang="en-US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→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找到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最有价值的违约样本</a:t>
            </a:r>
            <a:endParaRPr lang="zh-CN" altLang="en-US" sz="12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86" name="AutoShape 18"/>
          <p:cNvSpPr/>
          <p:nvPr/>
        </p:nvSpPr>
        <p:spPr>
          <a:xfrm>
            <a:off x="838835" y="5259070"/>
            <a:ext cx="4597400" cy="1270000"/>
          </a:xfrm>
          <a:prstGeom prst="roundRect">
            <a:avLst>
              <a:gd name="adj" fmla="val 11428"/>
            </a:avLst>
          </a:prstGeom>
          <a:solidFill>
            <a:srgbClr val="EEE4E2">
              <a:alpha val="6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7" name="文本框 86"/>
              <p:cNvSpPr txBox="1"/>
              <p:nvPr/>
            </p:nvSpPr>
            <p:spPr>
              <a:xfrm>
                <a:off x="911225" y="5278755"/>
                <a:ext cx="4420235" cy="1237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just"/>
                <a:r>
                  <a:rPr lang="en-US" altLang="zh-CN" sz="1400" b="1">
                    <a:solidFill>
                      <a:schemeClr val="accent4">
                        <a:lumMod val="5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Phase 3</a:t>
                </a:r>
                <a:r>
                  <a:rPr lang="zh-CN" altLang="en-US" sz="1400" b="1">
                    <a:solidFill>
                      <a:schemeClr val="accent4">
                        <a:lumMod val="5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：</a:t>
                </a:r>
                <a:r>
                  <a:rPr lang="en-US" altLang="zh-CN" sz="1400" b="1">
                    <a:solidFill>
                      <a:schemeClr val="accent4">
                        <a:lumMod val="5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BA-cWGAN-GP </a:t>
                </a:r>
                <a:r>
                  <a:rPr lang="zh-CN" altLang="en-US" sz="1400" b="1">
                    <a:solidFill>
                      <a:schemeClr val="accent4">
                        <a:lumMod val="5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定向生成</a:t>
                </a:r>
                <a:endParaRPr lang="zh-CN" altLang="en-US" sz="1400" b="1">
                  <a:solidFill>
                    <a:schemeClr val="accent4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条件输入：</a:t>
                </a:r>
                <a:r>
                  <a:rPr lang="en-US" altLang="zh-CN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z</a:t>
                </a:r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（噪声</a:t>
                </a:r>
                <a:r>
                  <a:rPr lang="en-US" altLang="zh-CN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, 100</a:t>
                </a:r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维）</a:t>
                </a:r>
                <a:r>
                  <a:rPr lang="en-US" altLang="zh-CN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+ r</a:t>
                </a:r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（违约倾向</a:t>
                </a:r>
                <a:r>
                  <a:rPr lang="en-US" altLang="zh-CN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, 1</a:t>
                </a:r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维）</a:t>
                </a:r>
                <a:endParaRPr lang="zh-CN" altLang="en-US" sz="1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三项联合损失：</a:t>
                </a:r>
                <a:endParaRPr lang="zh-CN" altLang="en-US" sz="1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  <a:p>
                <a:pPr marL="172720" indent="0" algn="just" latinLnBrk="0">
                  <a:buFont typeface="Arial" panose="020B0604020202020204" pitchFamily="34" charset="0"/>
                  <a:buNone/>
                </a:pPr>
                <a:r>
                  <a:rPr lang="en-US" altLang="zh-CN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(1)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微软雅黑" panose="020B0503020204020204" pitchFamily="3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微软雅黑" panose="020B0503020204020204" pitchFamily="34" charset="-122"/>
                            <a:cs typeface="Cambria Math" panose="02040503050406030204" charset="0"/>
                          </a:rPr>
                          <m:t>𝐿</m:t>
                        </m:r>
                      </m:e>
                      <m:sub>
                        <m:r>
                          <a:rPr lang="en-US" altLang="zh-CN" sz="12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微软雅黑" panose="020B0503020204020204" pitchFamily="34" charset="-122"/>
                            <a:cs typeface="Cambria Math" panose="02040503050406030204" charset="0"/>
                          </a:rPr>
                          <m:t>𝑎𝑑𝑣</m:t>
                        </m:r>
                      </m:sub>
                    </m:sSub>
                  </m:oMath>
                </a14:m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：对抗损失</a:t>
                </a:r>
                <a:r>
                  <a:rPr lang="en-US" altLang="zh-CN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;(2)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微软雅黑" panose="020B0503020204020204" pitchFamily="3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微软雅黑" panose="020B0503020204020204" pitchFamily="34" charset="-122"/>
                            <a:cs typeface="Cambria Math" panose="02040503050406030204" charset="0"/>
                          </a:rPr>
                          <m:t>𝐿</m:t>
                        </m:r>
                      </m:e>
                      <m:sub>
                        <m:r>
                          <a:rPr lang="en-US" altLang="zh-CN" sz="1200"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微软雅黑" panose="020B0503020204020204" pitchFamily="34" charset="-122"/>
                            <a:sym typeface="+mn-ea"/>
                          </a:rPr>
                          <m:t>boundary</m:t>
                        </m:r>
                      </m:sub>
                    </m:sSub>
                  </m:oMath>
                </a14:m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：边界感知损失</a:t>
                </a:r>
                <a:r>
                  <a:rPr lang="en-US" altLang="zh-CN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;(3)</a:t>
                </a:r>
                <a:r>
                  <a:rPr lang="en-US" altLang="zh-CN" sz="12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微软雅黑" panose="020B0503020204020204" pitchFamily="3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微软雅黑" panose="020B0503020204020204" pitchFamily="34" charset="-122"/>
                            <a:cs typeface="Cambria Math" panose="02040503050406030204" charset="0"/>
                          </a:rPr>
                          <m:t>𝐿</m:t>
                        </m:r>
                      </m:e>
                      <m:sub>
                        <m:r>
                          <a:rPr lang="en-US" altLang="zh-CN" sz="12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微软雅黑" panose="020B0503020204020204" pitchFamily="34" charset="-122"/>
                            <a:cs typeface="Cambria Math" panose="02040503050406030204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：违约倾向一致性</a:t>
                </a:r>
                <a:endParaRPr lang="zh-CN" altLang="en-US" sz="1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  <a:p>
                <a:pPr marL="171450" indent="-171450" algn="just" latinLnBrk="0">
                  <a:buFont typeface="Arial" panose="020B0604020202020204" pitchFamily="34" charset="0"/>
                  <a:buChar char="•"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输出：</a:t>
                </a:r>
                <a:r>
                  <a:rPr lang="zh-CN" altLang="en-US" sz="1200" b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高质量合成违约样本</a:t>
                </a:r>
                <a:r>
                  <a:rPr lang="zh-CN" altLang="en-US" sz="120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，集中于决策边界附近</a:t>
                </a:r>
                <a:endParaRPr lang="zh-CN" altLang="en-US" sz="1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87" name="文本框 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225" y="5278755"/>
                <a:ext cx="4420235" cy="123761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AutoShape 16"/>
          <p:cNvSpPr/>
          <p:nvPr/>
        </p:nvSpPr>
        <p:spPr>
          <a:xfrm>
            <a:off x="6689725" y="2852420"/>
            <a:ext cx="4597400" cy="1123950"/>
          </a:xfrm>
          <a:prstGeom prst="roundRect">
            <a:avLst>
              <a:gd name="adj" fmla="val 8888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9" name="AutoShape 18"/>
          <p:cNvSpPr/>
          <p:nvPr/>
        </p:nvSpPr>
        <p:spPr>
          <a:xfrm>
            <a:off x="6656070" y="4187825"/>
            <a:ext cx="4597400" cy="1450340"/>
          </a:xfrm>
          <a:prstGeom prst="roundRect">
            <a:avLst>
              <a:gd name="adj" fmla="val 11428"/>
            </a:avLst>
          </a:prstGeom>
          <a:solidFill>
            <a:schemeClr val="accent6">
              <a:lumMod val="20000"/>
              <a:lumOff val="8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0" name="文本框 89"/>
          <p:cNvSpPr txBox="1"/>
          <p:nvPr/>
        </p:nvSpPr>
        <p:spPr>
          <a:xfrm>
            <a:off x="6748145" y="2852420"/>
            <a:ext cx="4420235" cy="1029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均衡训练集</a:t>
            </a:r>
            <a:endParaRPr lang="zh-CN" altLang="en-US" sz="1600" b="1">
              <a:solidFill>
                <a:srgbClr val="B4530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 latinLnBrk="0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以</a:t>
            </a:r>
            <a:r>
              <a:rPr lang="en-US" altLang="zh-CN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8:2</a:t>
            </a:r>
            <a:r>
              <a:rPr lang="zh-CN" altLang="en-US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的比例划分训练集和</a:t>
            </a:r>
            <a:r>
              <a:rPr lang="en-US" altLang="zh-CN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OOS</a:t>
            </a:r>
            <a:r>
              <a:rPr lang="zh-CN" altLang="en-US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测试集</a:t>
            </a:r>
            <a:endParaRPr lang="zh-CN" altLang="en-US" sz="14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 latinLnBrk="0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目的：测试模型拟合是否充分</a:t>
            </a:r>
            <a:endParaRPr lang="zh-CN" altLang="en-US" sz="14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6731000" y="4241800"/>
            <a:ext cx="4638675" cy="12992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OOT</a:t>
            </a:r>
            <a:r>
              <a:rPr lang="zh-CN" altLang="en-US" sz="1600" b="1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跨周期测试集</a:t>
            </a:r>
            <a:endParaRPr lang="zh-CN" altLang="en-US" sz="1600" b="1">
              <a:solidFill>
                <a:srgbClr val="E46C0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 latinLnBrk="0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独立时间段：</a:t>
            </a:r>
            <a:r>
              <a:rPr lang="en-US" altLang="zh-CN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2023Q1–Q3 </a:t>
            </a:r>
            <a:r>
              <a:rPr lang="zh-CN" altLang="en-US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全部完整观测</a:t>
            </a:r>
            <a:endParaRPr lang="zh-CN" altLang="en-US" sz="14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171450" indent="-171450" latinLnBrk="0">
              <a:lnSpc>
                <a:spcPct val="125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目的：验证低利率期训出的模型，在加息期是否有效，即验证不同经济周期下模型是否具有稳健性</a:t>
            </a:r>
            <a:endParaRPr lang="zh-CN" altLang="en-US" sz="14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6" name="AutoShape 17"/>
          <p:cNvSpPr/>
          <p:nvPr/>
        </p:nvSpPr>
        <p:spPr>
          <a:xfrm>
            <a:off x="5221605" y="692150"/>
            <a:ext cx="6409690" cy="888365"/>
          </a:xfrm>
          <a:prstGeom prst="roundRect">
            <a:avLst>
              <a:gd name="adj" fmla="val 9230"/>
            </a:avLst>
          </a:prstGeom>
          <a:solidFill>
            <a:srgbClr val="EBEBEB"/>
          </a:solidFill>
          <a:ln w="12700" cap="flat" cmpd="sng">
            <a:solidFill>
              <a:schemeClr val="tx1">
                <a:lumMod val="50000"/>
                <a:lumOff val="50000"/>
                <a:alpha val="100000"/>
              </a:scheme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n>
                <a:solidFill>
                  <a:srgbClr val="811E23"/>
                </a:solidFill>
              </a:ln>
              <a:solidFill>
                <a:srgbClr val="811E2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AutoShape 18"/>
          <p:cNvSpPr/>
          <p:nvPr/>
        </p:nvSpPr>
        <p:spPr>
          <a:xfrm>
            <a:off x="5424805" y="675005"/>
            <a:ext cx="6440805" cy="9359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EBEBEB"/>
                </a:solidFill>
              </a14:hiddenFill>
            </a:ext>
          </a:extLst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1580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🎯  </a:t>
            </a:r>
            <a:r>
              <a:rPr lang="zh-CN" altLang="en-US" sz="1500" b="1" i="0" u="none" strike="noStrike">
                <a:solidFill>
                  <a:srgbClr val="893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研究思路</a:t>
            </a:r>
            <a:r>
              <a:rPr lang="en-US" sz="1500" b="1" i="0" u="none" strike="noStrike">
                <a:solidFill>
                  <a:srgbClr val="1580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：</a:t>
            </a:r>
            <a:endParaRPr lang="en-US" sz="11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 algn="l" latinLnBrk="0">
              <a:lnSpc>
                <a:spcPct val="125000"/>
              </a:lnSpc>
              <a:spcBef>
                <a:spcPts val="400"/>
              </a:spcBef>
            </a:pPr>
            <a:r>
              <a:rPr lang="zh-CN" altLang="en-US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依托删失违约样本构建</a:t>
            </a:r>
            <a:r>
              <a:rPr lang="en-US" altLang="zh-CN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 BA-cWGAN-GP </a:t>
            </a:r>
            <a:r>
              <a:rPr lang="zh-CN" altLang="en-US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平衡样本，搭建</a:t>
            </a:r>
            <a:r>
              <a:rPr lang="en-US" altLang="zh-CN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 Stacking </a:t>
            </a:r>
            <a:r>
              <a:rPr lang="zh-CN" altLang="en-US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集成模型并通过</a:t>
            </a:r>
            <a:r>
              <a:rPr lang="en-US" altLang="zh-CN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 OOS</a:t>
            </a:r>
            <a:r>
              <a:rPr lang="zh-CN" altLang="en-US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、</a:t>
            </a:r>
            <a:r>
              <a:rPr lang="en-US" altLang="zh-CN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OOT</a:t>
            </a:r>
            <a:r>
              <a:rPr lang="zh-CN" altLang="en-US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测试集进行跨周期检验，最后结合</a:t>
            </a:r>
            <a:r>
              <a:rPr lang="en-US" altLang="zh-CN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 SHAP </a:t>
            </a:r>
            <a:r>
              <a:rPr lang="zh-CN" altLang="en-US" sz="1300" b="0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分周期解析风险特征作用机理。</a:t>
            </a:r>
            <a:endParaRPr lang="zh-CN" altLang="en-US" sz="1300" b="0" i="0" u="none" strike="noStrike">
              <a:solidFill>
                <a:srgbClr val="1F293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1180" y="984250"/>
            <a:ext cx="3044825" cy="469900"/>
            <a:chOff x="992516" y="4392689"/>
            <a:chExt cx="2957266" cy="358868"/>
          </a:xfrm>
        </p:grpSpPr>
        <p:sp>
          <p:nvSpPr>
            <p:cNvPr id="54" name="矩形 53"/>
            <p:cNvSpPr/>
            <p:nvPr/>
          </p:nvSpPr>
          <p:spPr>
            <a:xfrm>
              <a:off x="1820797" y="4392689"/>
              <a:ext cx="2128985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创新点与难点</a:t>
              </a:r>
              <a:endPara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en-US" altLang="zh-CN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AutoShape 11"/>
          <p:cNvSpPr/>
          <p:nvPr/>
        </p:nvSpPr>
        <p:spPr>
          <a:xfrm>
            <a:off x="6223000" y="1778000"/>
            <a:ext cx="5207000" cy="4366260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2"/>
          <p:cNvSpPr/>
          <p:nvPr/>
        </p:nvSpPr>
        <p:spPr>
          <a:xfrm>
            <a:off x="6223000" y="1778000"/>
            <a:ext cx="5207000" cy="76200"/>
          </a:xfrm>
          <a:prstGeom prst="roundRect">
            <a:avLst>
              <a:gd name="adj" fmla="val 0"/>
            </a:avLst>
          </a:prstGeom>
          <a:solidFill>
            <a:srgbClr val="811E23"/>
          </a:solidFill>
          <a:ln w="25400" cap="flat" cmpd="sng">
            <a:solidFill>
              <a:srgbClr val="811E23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3"/>
          <p:cNvSpPr/>
          <p:nvPr/>
        </p:nvSpPr>
        <p:spPr>
          <a:xfrm>
            <a:off x="6477000" y="20955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研究难点</a:t>
            </a:r>
            <a:endParaRPr lang="zh-CN" altLang="en-US" sz="2400" b="1" i="0" u="none" strike="noStrike">
              <a:solidFill>
                <a:srgbClr val="1F293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" name="AutoShape 11"/>
          <p:cNvSpPr/>
          <p:nvPr/>
        </p:nvSpPr>
        <p:spPr>
          <a:xfrm>
            <a:off x="623570" y="1778000"/>
            <a:ext cx="5207000" cy="4366260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12"/>
          <p:cNvSpPr/>
          <p:nvPr/>
        </p:nvSpPr>
        <p:spPr>
          <a:xfrm>
            <a:off x="623570" y="1778000"/>
            <a:ext cx="5207000" cy="76200"/>
          </a:xfrm>
          <a:prstGeom prst="roundRect">
            <a:avLst>
              <a:gd name="adj" fmla="val 0"/>
            </a:avLst>
          </a:prstGeom>
          <a:solidFill>
            <a:srgbClr val="811E23"/>
          </a:solidFill>
          <a:ln w="25400" cap="flat" cmpd="sng">
            <a:solidFill>
              <a:srgbClr val="811E23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13"/>
          <p:cNvSpPr/>
          <p:nvPr/>
        </p:nvSpPr>
        <p:spPr>
          <a:xfrm>
            <a:off x="877570" y="20955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研究创新点</a:t>
            </a:r>
            <a:endParaRPr lang="zh-CN" altLang="en-US" sz="2400" b="1" i="0" u="none" strike="noStrike">
              <a:solidFill>
                <a:srgbClr val="1F293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4"/>
          <p:cNvSpPr/>
          <p:nvPr/>
        </p:nvSpPr>
        <p:spPr>
          <a:xfrm>
            <a:off x="877570" y="2921000"/>
            <a:ext cx="2349500" cy="1459865"/>
          </a:xfrm>
          <a:prstGeom prst="roundRect">
            <a:avLst>
              <a:gd name="adj" fmla="val 7272"/>
            </a:avLst>
          </a:prstGeom>
          <a:solidFill>
            <a:srgbClr val="EBEBEB"/>
          </a:solidFill>
          <a:ln w="12700" cap="flat" cmpd="sng">
            <a:solidFill>
              <a:schemeClr val="tx1">
                <a:lumMod val="50000"/>
                <a:lumOff val="50000"/>
                <a:alpha val="100000"/>
              </a:scheme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16"/>
          <p:cNvSpPr/>
          <p:nvPr/>
        </p:nvSpPr>
        <p:spPr>
          <a:xfrm>
            <a:off x="1377315" y="3211195"/>
            <a:ext cx="1736725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latinLnBrk="0">
              <a:lnSpc>
                <a:spcPct val="125000"/>
              </a:lnSpc>
              <a:spcBef>
                <a:spcPts val="0"/>
              </a:spcBef>
            </a:pP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选取</a:t>
            </a:r>
            <a:r>
              <a:rPr lang="en-US" altLang="zh-CN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2023Q4-2025Q3</a:t>
            </a: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短期快速违约的高风险删失样本为先验，约束生成器拟合真实违约分布</a:t>
            </a:r>
            <a:endParaRPr lang="zh-CN" altLang="en-US" sz="12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17"/>
          <p:cNvSpPr/>
          <p:nvPr/>
        </p:nvSpPr>
        <p:spPr>
          <a:xfrm>
            <a:off x="3354070" y="2921000"/>
            <a:ext cx="2349500" cy="1460500"/>
          </a:xfrm>
          <a:prstGeom prst="roundRect">
            <a:avLst>
              <a:gd name="adj" fmla="val 7272"/>
            </a:avLst>
          </a:prstGeom>
          <a:solidFill>
            <a:srgbClr val="EBEBEB"/>
          </a:solidFill>
          <a:ln w="12700" cap="flat" cmpd="sng">
            <a:solidFill>
              <a:schemeClr val="tx1">
                <a:lumMod val="50000"/>
                <a:lumOff val="50000"/>
                <a:alpha val="100000"/>
              </a:scheme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19"/>
          <p:cNvSpPr/>
          <p:nvPr/>
        </p:nvSpPr>
        <p:spPr>
          <a:xfrm>
            <a:off x="3853815" y="3282950"/>
            <a:ext cx="170434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just" latinLnBrk="0">
              <a:lnSpc>
                <a:spcPct val="100000"/>
              </a:lnSpc>
              <a:spcBef>
                <a:spcPts val="0"/>
              </a:spcBef>
            </a:pP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构建</a:t>
            </a:r>
            <a:r>
              <a:rPr lang="en-US" altLang="zh-CN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BA-cWGAN-GP</a:t>
            </a: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生成模型，依托预训练分类器锁定违约决策边界，引导生成器在高不确定边界采样</a:t>
            </a:r>
            <a:endParaRPr lang="zh-CN" altLang="en-US" sz="12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0"/>
          <p:cNvSpPr/>
          <p:nvPr/>
        </p:nvSpPr>
        <p:spPr>
          <a:xfrm>
            <a:off x="877570" y="4572000"/>
            <a:ext cx="4805045" cy="1457960"/>
          </a:xfrm>
          <a:prstGeom prst="roundRect">
            <a:avLst>
              <a:gd name="adj" fmla="val 7272"/>
            </a:avLst>
          </a:prstGeom>
          <a:solidFill>
            <a:srgbClr val="EBEBEB"/>
          </a:solidFill>
          <a:ln w="12700" cap="flat" cmpd="sng">
            <a:solidFill>
              <a:schemeClr val="tx1">
                <a:lumMod val="50000"/>
                <a:lumOff val="50000"/>
                <a:alpha val="100000"/>
              </a:scheme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2"/>
          <p:cNvSpPr/>
          <p:nvPr/>
        </p:nvSpPr>
        <p:spPr>
          <a:xfrm>
            <a:off x="1449070" y="5215255"/>
            <a:ext cx="4109085" cy="5632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just" latinLnBrk="0">
              <a:lnSpc>
                <a:spcPct val="125000"/>
              </a:lnSpc>
              <a:spcBef>
                <a:spcPts val="0"/>
              </a:spcBef>
            </a:pP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本文针对传统信贷研究局限于单周期静态建模的不足，构建</a:t>
            </a:r>
            <a:r>
              <a:rPr lang="en-US" altLang="zh-CN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OOS</a:t>
            </a: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与</a:t>
            </a:r>
            <a:r>
              <a:rPr lang="en-US" altLang="zh-CN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OOT</a:t>
            </a: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跨周期双验证框架，并结合分周期</a:t>
            </a:r>
            <a:r>
              <a:rPr lang="en-US" altLang="zh-CN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SHAP</a:t>
            </a: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量化因子异动，从模型检验与机理解析两方面实现跨周期动态风控研究优化。</a:t>
            </a:r>
            <a:endParaRPr lang="zh-CN" altLang="en-US" sz="12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876300" y="2997200"/>
            <a:ext cx="457835" cy="5130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①</a:t>
            </a:r>
            <a:endParaRPr lang="zh-CN" alt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876300" y="4635500"/>
            <a:ext cx="457835" cy="5130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③</a:t>
            </a:r>
            <a:endParaRPr lang="zh-CN" alt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3376930" y="2997200"/>
            <a:ext cx="457835" cy="5130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②</a:t>
            </a:r>
            <a:endParaRPr lang="zh-CN" alt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1261745" y="4653280"/>
            <a:ext cx="1442085" cy="519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lnSpc>
                <a:spcPct val="125000"/>
              </a:lnSpc>
              <a:defRPr/>
            </a:pP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模型验证层面</a:t>
            </a:r>
            <a:endParaRPr lang="en-US" altLang="en-US"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1261745" y="2988310"/>
            <a:ext cx="1442085" cy="519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lnSpc>
                <a:spcPct val="125000"/>
              </a:lnSpc>
              <a:defRPr/>
            </a:pP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数据层面</a:t>
            </a:r>
            <a:endParaRPr lang="en-US" altLang="en-US"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3719830" y="2988310"/>
            <a:ext cx="1442085" cy="519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lnSpc>
                <a:spcPct val="125000"/>
              </a:lnSpc>
              <a:defRPr/>
            </a:pP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样本生成层面</a:t>
            </a:r>
            <a:endParaRPr lang="en-US" altLang="en-US"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AutoShape 14"/>
          <p:cNvSpPr/>
          <p:nvPr/>
        </p:nvSpPr>
        <p:spPr>
          <a:xfrm>
            <a:off x="6423660" y="2921000"/>
            <a:ext cx="2349500" cy="1459865"/>
          </a:xfrm>
          <a:prstGeom prst="roundRect">
            <a:avLst>
              <a:gd name="adj" fmla="val 7272"/>
            </a:avLst>
          </a:prstGeom>
          <a:solidFill>
            <a:srgbClr val="EBEBEB"/>
          </a:solidFill>
          <a:ln w="12700" cap="flat" cmpd="sng">
            <a:solidFill>
              <a:schemeClr val="tx1">
                <a:lumMod val="50000"/>
                <a:lumOff val="50000"/>
                <a:alpha val="100000"/>
              </a:scheme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16"/>
          <p:cNvSpPr/>
          <p:nvPr/>
        </p:nvSpPr>
        <p:spPr>
          <a:xfrm>
            <a:off x="6923405" y="3211195"/>
            <a:ext cx="1736725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latinLnBrk="0">
              <a:lnSpc>
                <a:spcPct val="125000"/>
              </a:lnSpc>
              <a:spcBef>
                <a:spcPts val="0"/>
              </a:spcBef>
            </a:pP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将快速违约的删失样本分布作为先验约束融入生成模型，解决删失信息适配失真问题</a:t>
            </a:r>
            <a:endParaRPr lang="zh-CN" altLang="en-US" sz="12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9" name="AutoShape 17"/>
          <p:cNvSpPr/>
          <p:nvPr/>
        </p:nvSpPr>
        <p:spPr>
          <a:xfrm>
            <a:off x="8900160" y="2921000"/>
            <a:ext cx="2349500" cy="1459865"/>
          </a:xfrm>
          <a:prstGeom prst="roundRect">
            <a:avLst>
              <a:gd name="adj" fmla="val 7272"/>
            </a:avLst>
          </a:prstGeom>
          <a:solidFill>
            <a:srgbClr val="EBEBEB"/>
          </a:solidFill>
          <a:ln w="12700" cap="flat" cmpd="sng">
            <a:solidFill>
              <a:schemeClr val="tx1">
                <a:lumMod val="50000"/>
                <a:lumOff val="50000"/>
                <a:alpha val="100000"/>
              </a:scheme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0" name="AutoShape 19"/>
          <p:cNvSpPr/>
          <p:nvPr/>
        </p:nvSpPr>
        <p:spPr>
          <a:xfrm>
            <a:off x="9339580" y="3213100"/>
            <a:ext cx="1764665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just" latinLnBrk="0">
              <a:lnSpc>
                <a:spcPct val="100000"/>
              </a:lnSpc>
              <a:spcBef>
                <a:spcPts val="0"/>
              </a:spcBef>
            </a:pP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边界感知机制设计与调参过程中，需权衡边界区间与生成多样性，依托对照试验迭代参数</a:t>
            </a:r>
            <a:endParaRPr lang="zh-CN" altLang="en-US" sz="12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20"/>
          <p:cNvSpPr/>
          <p:nvPr/>
        </p:nvSpPr>
        <p:spPr>
          <a:xfrm>
            <a:off x="6423660" y="4572000"/>
            <a:ext cx="4805045" cy="1457960"/>
          </a:xfrm>
          <a:prstGeom prst="roundRect">
            <a:avLst>
              <a:gd name="adj" fmla="val 7272"/>
            </a:avLst>
          </a:prstGeom>
          <a:solidFill>
            <a:srgbClr val="EBEBEB"/>
          </a:solidFill>
          <a:ln w="12700" cap="flat" cmpd="sng">
            <a:solidFill>
              <a:schemeClr val="tx1">
                <a:lumMod val="50000"/>
                <a:lumOff val="50000"/>
                <a:alpha val="100000"/>
              </a:scheme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3" name="AutoShape 22"/>
          <p:cNvSpPr/>
          <p:nvPr/>
        </p:nvSpPr>
        <p:spPr>
          <a:xfrm>
            <a:off x="6923405" y="5085080"/>
            <a:ext cx="4109085" cy="5632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just" latinLnBrk="0">
              <a:lnSpc>
                <a:spcPct val="125000"/>
              </a:lnSpc>
              <a:spcBef>
                <a:spcPts val="0"/>
              </a:spcBef>
            </a:pPr>
            <a:r>
              <a:rPr lang="zh-CN" altLang="en-US" sz="12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如何有效剥离宏观经济波动的干扰因素，精准捕捉不同经济周期下各特征的权重波动规律与差异化影响逻辑，剔除宏观扰动，挖掘周期间特征影响差异，提炼实用风控规则</a:t>
            </a:r>
            <a:endParaRPr lang="zh-CN" altLang="en-US" sz="12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422390" y="2997200"/>
            <a:ext cx="457835" cy="5130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①</a:t>
            </a:r>
            <a:endParaRPr lang="zh-CN" alt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6422390" y="4635500"/>
            <a:ext cx="457835" cy="5130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③</a:t>
            </a:r>
            <a:endParaRPr lang="zh-CN" alt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923020" y="2997200"/>
            <a:ext cx="457835" cy="5130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②</a:t>
            </a:r>
            <a:endParaRPr lang="zh-CN" alt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6807835" y="4653280"/>
            <a:ext cx="2355850" cy="519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lnSpc>
                <a:spcPct val="125000"/>
              </a:lnSpc>
              <a:defRPr/>
            </a:pPr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</a:rPr>
              <a:t>跨周期风险机理挖掘</a:t>
            </a:r>
            <a:endParaRPr lang="zh-CN" altLang="en-US" sz="16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 panose="020B0200000000000000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807835" y="2985135"/>
            <a:ext cx="1442085" cy="519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lnSpc>
                <a:spcPct val="125000"/>
              </a:lnSpc>
              <a:defRPr/>
            </a:pP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删失先验</a:t>
            </a:r>
            <a:endParaRPr lang="en-US" altLang="en-US"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9298940" y="2985135"/>
            <a:ext cx="1838325" cy="519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lnSpc>
                <a:spcPct val="125000"/>
              </a:lnSpc>
              <a:defRPr/>
            </a:pP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  <a:cs typeface="Noto Sans SC" panose="020B0200000000000000" charset="-122"/>
                <a:sym typeface="Noto Sans SC" panose="020B0200000000000000" charset="-122"/>
              </a:rPr>
              <a:t>边界机制优化设计</a:t>
            </a:r>
            <a:endParaRPr lang="en-US" altLang="en-US"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1180" y="984250"/>
            <a:ext cx="2858135" cy="469900"/>
            <a:chOff x="992516" y="4392689"/>
            <a:chExt cx="2775945" cy="358868"/>
          </a:xfrm>
        </p:grpSpPr>
        <p:sp>
          <p:nvSpPr>
            <p:cNvPr id="54" name="矩形 53"/>
            <p:cNvSpPr/>
            <p:nvPr/>
          </p:nvSpPr>
          <p:spPr>
            <a:xfrm>
              <a:off x="1820797" y="4392689"/>
              <a:ext cx="1947664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章节安排</a:t>
              </a:r>
              <a:endPara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623570" y="1917065"/>
            <a:ext cx="2032000" cy="4191000"/>
          </a:xfrm>
          <a:prstGeom prst="roundRect">
            <a:avLst>
              <a:gd name="adj" fmla="val 7500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4770" y="2171065"/>
            <a:ext cx="609600" cy="609600"/>
          </a:xfrm>
          <a:prstGeom prst="rect">
            <a:avLst/>
          </a:prstGeom>
        </p:spPr>
      </p:pic>
      <p:sp>
        <p:nvSpPr>
          <p:cNvPr id="5" name="AutoShape 5"/>
          <p:cNvSpPr/>
          <p:nvPr>
            <p:custDataLst>
              <p:tags r:id="rId5"/>
            </p:custDataLst>
          </p:nvPr>
        </p:nvSpPr>
        <p:spPr>
          <a:xfrm>
            <a:off x="726440" y="2364740"/>
            <a:ext cx="1846580" cy="353250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zh-CN" altLang="en-US" sz="20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绪论</a:t>
            </a:r>
            <a:endParaRPr 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 algn="l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搭建整体的研究框架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  <a:p>
            <a:pPr marL="0" indent="0" algn="l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 </a:t>
            </a:r>
            <a:r>
              <a:rPr 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包括</a:t>
            </a:r>
            <a:r>
              <a:rPr lang="zh-CN" altLang="en-US" sz="140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研究背景、研究意义、核心研究问题、国内外研究综述与研究内容</a:t>
            </a:r>
            <a:endParaRPr lang="zh-CN" altLang="en-US" sz="140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>
            <p:custDataLst>
              <p:tags r:id="rId6"/>
            </p:custDataLst>
          </p:nvPr>
        </p:nvSpPr>
        <p:spPr>
          <a:xfrm>
            <a:off x="2861310" y="1929130"/>
            <a:ext cx="2032000" cy="4191000"/>
          </a:xfrm>
          <a:prstGeom prst="roundRect">
            <a:avLst>
              <a:gd name="adj" fmla="val 7500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72510" y="2183130"/>
            <a:ext cx="609600" cy="609600"/>
          </a:xfrm>
          <a:prstGeom prst="rect">
            <a:avLst/>
          </a:prstGeom>
        </p:spPr>
      </p:pic>
      <p:sp>
        <p:nvSpPr>
          <p:cNvPr id="8" name="AutoShape 8"/>
          <p:cNvSpPr/>
          <p:nvPr>
            <p:custDataLst>
              <p:tags r:id="rId10"/>
            </p:custDataLst>
          </p:nvPr>
        </p:nvSpPr>
        <p:spPr>
          <a:xfrm>
            <a:off x="2964815" y="2493010"/>
            <a:ext cx="1859915" cy="353250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zh-CN" altLang="en-US" sz="20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研究方法</a:t>
            </a:r>
            <a:endParaRPr 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 algn="just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 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研究方法的理论基础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  <a:p>
            <a:pPr marL="0" indent="0" algn="just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 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系统介绍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GAN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、边界感知机制、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Stacking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集成学习、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SHAP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可解释性算法的核心理论与技术原理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>
            <p:custDataLst>
              <p:tags r:id="rId11"/>
            </p:custDataLst>
          </p:nvPr>
        </p:nvSpPr>
        <p:spPr>
          <a:xfrm>
            <a:off x="5088890" y="1917065"/>
            <a:ext cx="2032000" cy="4191000"/>
          </a:xfrm>
          <a:prstGeom prst="roundRect">
            <a:avLst>
              <a:gd name="adj" fmla="val 7500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800090" y="2171065"/>
            <a:ext cx="609600" cy="609600"/>
          </a:xfrm>
          <a:prstGeom prst="rect">
            <a:avLst/>
          </a:prstGeom>
        </p:spPr>
      </p:pic>
      <p:sp>
        <p:nvSpPr>
          <p:cNvPr id="11" name="AutoShape 11"/>
          <p:cNvSpPr/>
          <p:nvPr>
            <p:custDataLst>
              <p:tags r:id="rId15"/>
            </p:custDataLst>
          </p:nvPr>
        </p:nvSpPr>
        <p:spPr>
          <a:xfrm>
            <a:off x="5215890" y="2780665"/>
            <a:ext cx="1778000" cy="33921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zh-CN" altLang="en-US" sz="18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数据预处理与数据生成</a:t>
            </a:r>
            <a:endParaRPr lang="en-US" sz="18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 algn="l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 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介绍数据集，并进行包括样本筛选、违约标签定义、特征编码方式等步骤的数据预处理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  <a:p>
            <a:pPr marL="0" indent="0" algn="l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</a:t>
            </a:r>
            <a:r>
              <a:rPr lang="en-US" sz="16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 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基于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BA-cWGAN-GP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处理不平衡数据，进行数据生成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6"/>
            </p:custDataLst>
          </p:nvPr>
        </p:nvSpPr>
        <p:spPr>
          <a:xfrm>
            <a:off x="7340600" y="1917065"/>
            <a:ext cx="2145665" cy="4191000"/>
          </a:xfrm>
          <a:prstGeom prst="roundRect">
            <a:avLst>
              <a:gd name="adj" fmla="val 7500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121015" y="2171065"/>
            <a:ext cx="609600" cy="609600"/>
          </a:xfrm>
          <a:prstGeom prst="rect">
            <a:avLst/>
          </a:prstGeom>
        </p:spPr>
      </p:pic>
      <p:sp>
        <p:nvSpPr>
          <p:cNvPr id="14" name="AutoShape 14"/>
          <p:cNvSpPr/>
          <p:nvPr>
            <p:custDataLst>
              <p:tags r:id="rId20"/>
            </p:custDataLst>
          </p:nvPr>
        </p:nvSpPr>
        <p:spPr>
          <a:xfrm>
            <a:off x="7536815" y="2859405"/>
            <a:ext cx="1778000" cy="32607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zh-CN" altLang="en-US" sz="18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模型预测与</a:t>
            </a:r>
            <a:endParaRPr lang="zh-CN" altLang="en-US" sz="1800" b="1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  <a:p>
            <a:pPr indent="0" algn="ctr">
              <a:lnSpc>
                <a:spcPct val="100000"/>
              </a:lnSpc>
              <a:defRPr/>
            </a:pPr>
            <a:r>
              <a:rPr lang="zh-CN" altLang="en-US" sz="18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结果分析</a:t>
            </a:r>
            <a:endParaRPr lang="en-US" sz="18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 algn="just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 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基于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Stacking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的集成学习模型构建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  <a:p>
            <a:pPr marL="0" indent="0" algn="just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 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搭建多基学习器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Stacking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集成框架，对比不同基模型组合的预测性能，确定最优模型结构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>
            <p:custDataLst>
              <p:tags r:id="rId21"/>
            </p:custDataLst>
          </p:nvPr>
        </p:nvSpPr>
        <p:spPr>
          <a:xfrm>
            <a:off x="9712325" y="1917065"/>
            <a:ext cx="2032000" cy="4191000"/>
          </a:xfrm>
          <a:prstGeom prst="roundRect">
            <a:avLst>
              <a:gd name="adj" fmla="val 7500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Picture 16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0280015" y="2171065"/>
            <a:ext cx="609600" cy="609600"/>
          </a:xfrm>
          <a:prstGeom prst="rect">
            <a:avLst/>
          </a:prstGeom>
        </p:spPr>
      </p:pic>
      <p:sp>
        <p:nvSpPr>
          <p:cNvPr id="17" name="AutoShape 17"/>
          <p:cNvSpPr/>
          <p:nvPr>
            <p:custDataLst>
              <p:tags r:id="rId25"/>
            </p:custDataLst>
          </p:nvPr>
        </p:nvSpPr>
        <p:spPr>
          <a:xfrm>
            <a:off x="9832975" y="2493010"/>
            <a:ext cx="1778000" cy="353250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模型</a:t>
            </a:r>
            <a:r>
              <a:rPr lang="zh-CN" altLang="en-US" sz="2000" b="1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可解释分析</a:t>
            </a:r>
            <a:endParaRPr 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 algn="l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 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基于</a:t>
            </a:r>
            <a:r>
              <a:rPr lang="en-US" altLang="zh-CN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SHAP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的模型可解释性分析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  <a:p>
            <a:pPr marL="0" indent="0" algn="l" latinLnBrk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• </a:t>
            </a:r>
            <a:r>
              <a:rPr lang="zh-CN" altLang="en-US" sz="1400" b="0" i="0" u="none" strike="noStrik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Noto Sans SC" panose="020B0200000000000000" charset="-122"/>
              </a:rPr>
              <a:t>开展全局特征贡献与局部样本解释，对比不同经济周期的风险特征差异，提炼风控规则</a:t>
            </a:r>
            <a:endParaRPr lang="zh-CN" altLang="en-US" sz="1400" b="0" i="0" u="none" strike="noStrik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Noto Sans SC" panose="020B0200000000000000" charset="-122"/>
            </a:endParaRPr>
          </a:p>
        </p:txBody>
      </p:sp>
    </p:spTree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1180" y="984250"/>
            <a:ext cx="3223895" cy="469900"/>
            <a:chOff x="992516" y="4392689"/>
            <a:chExt cx="3131187" cy="358868"/>
          </a:xfrm>
        </p:grpSpPr>
        <p:sp>
          <p:nvSpPr>
            <p:cNvPr id="54" name="矩形 53"/>
            <p:cNvSpPr/>
            <p:nvPr/>
          </p:nvSpPr>
          <p:spPr>
            <a:xfrm>
              <a:off x="1820797" y="4392689"/>
              <a:ext cx="2302906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目前研究进展</a:t>
              </a:r>
              <a:endPara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545580" y="1706245"/>
            <a:ext cx="5219700" cy="4912995"/>
          </a:xfrm>
          <a:prstGeom prst="rect">
            <a:avLst/>
          </a:prstGeom>
          <a:solidFill>
            <a:schemeClr val="bg1">
              <a:alpha val="8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/>
        </p:txBody>
      </p:sp>
      <p:sp>
        <p:nvSpPr>
          <p:cNvPr id="17" name="圆角矩形 32"/>
          <p:cNvSpPr/>
          <p:nvPr/>
        </p:nvSpPr>
        <p:spPr>
          <a:xfrm>
            <a:off x="7161503" y="1419448"/>
            <a:ext cx="4037282" cy="474385"/>
          </a:xfrm>
          <a:prstGeom prst="roundRect">
            <a:avLst/>
          </a:prstGeom>
          <a:solidFill>
            <a:srgbClr val="89393B"/>
          </a:solidFill>
          <a:ln>
            <a:solidFill>
              <a:srgbClr val="89393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自变量：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贷款发放时的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Origination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483870" y="1647190"/>
            <a:ext cx="5427345" cy="1445260"/>
            <a:chOff x="290939" y="1051227"/>
            <a:chExt cx="5347385" cy="1255590"/>
          </a:xfrm>
          <a:noFill/>
        </p:grpSpPr>
        <p:sp>
          <p:nvSpPr>
            <p:cNvPr id="44" name="矩形 43"/>
            <p:cNvSpPr/>
            <p:nvPr/>
          </p:nvSpPr>
          <p:spPr>
            <a:xfrm>
              <a:off x="290939" y="1085430"/>
              <a:ext cx="5347385" cy="122138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394797" y="1051227"/>
              <a:ext cx="5070887" cy="12489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>
              <a:spAutoFit/>
            </a:bodyPr>
            <a:p>
              <a:pPr marL="342900" lvl="0" indent="-342900" algn="just" fontAlgn="auto">
                <a:lnSpc>
                  <a:spcPct val="125000"/>
                </a:lnSpc>
                <a:buFont typeface="Wingdings" panose="05000000000000000000" charset="0"/>
                <a:buChar char="ü"/>
              </a:pPr>
              <a:r>
                <a:rPr lang="zh-CN" altLang="en-US" sz="1400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数据集取自</a:t>
              </a:r>
              <a:r>
                <a:rPr lang="zh-CN" altLang="en-US" sz="1400" b="1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房地美（</a:t>
              </a:r>
              <a:r>
                <a:rPr lang="en-US" altLang="zh-CN" sz="1400" b="1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Freddie Mac</a:t>
              </a:r>
              <a:r>
                <a:rPr lang="zh-CN" altLang="en-US" sz="1400" b="1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）</a:t>
              </a:r>
              <a:r>
                <a:rPr lang="zh-CN" altLang="en-US" sz="1400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公开数据库。房地美作为</a:t>
              </a:r>
              <a:r>
                <a:rPr lang="en-US" altLang="zh-CN" sz="1400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1970</a:t>
              </a:r>
              <a:r>
                <a:rPr lang="zh-CN" altLang="en-US" sz="1400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年由美国国会设立的政府支持机构，其指责是维护住房信贷市场平稳运行。本研究采用其发布的</a:t>
              </a:r>
              <a:r>
                <a:rPr lang="zh-CN" altLang="en-US" sz="1400" b="1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单户住宅贷款层级数据集</a:t>
              </a:r>
              <a:r>
                <a:rPr lang="en-US" altLang="zh-CN" sz="1400" b="1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SFLLD</a:t>
              </a:r>
              <a:r>
                <a:rPr lang="zh-CN" altLang="en-US" sz="1400" kern="100" dirty="0">
                  <a:effectLst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charset="0"/>
                </a:rPr>
                <a:t>，样本包含贷款初始核发的基础静态指标，以及贷款存续期间每月的还款状态动态数据</a:t>
              </a:r>
              <a:endPara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endParaRPr>
            </a:p>
          </p:txBody>
        </p:sp>
      </p:grpSp>
      <p:graphicFrame>
        <p:nvGraphicFramePr>
          <p:cNvPr id="10" name="表格 9"/>
          <p:cNvGraphicFramePr/>
          <p:nvPr>
            <p:custDataLst>
              <p:tags r:id="rId1"/>
            </p:custDataLst>
          </p:nvPr>
        </p:nvGraphicFramePr>
        <p:xfrm>
          <a:off x="6677660" y="1989455"/>
          <a:ext cx="4988560" cy="4518660"/>
        </p:xfrm>
        <a:graphic>
          <a:graphicData uri="http://schemas.openxmlformats.org/drawingml/2006/table">
            <a:tbl>
              <a:tblPr/>
              <a:tblGrid>
                <a:gridCol w="913130"/>
                <a:gridCol w="1556385"/>
                <a:gridCol w="2519045"/>
              </a:tblGrid>
              <a:tr h="292735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一级指标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二级指标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对应变量名称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92735">
                <a:tc rowSpan="3"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借贷人信息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9525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信用评分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9525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Credit_Score</a:t>
                      </a:r>
                      <a:endParaRPr lang="en-US" alt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9525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 vMerge="1"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债务收入比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Original_Debt_To_Income_DTI_Ratio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 vMerge="1">
                  <a:tcPr>
                    <a:lnL>
                      <a:noFill/>
                    </a:lnL>
                    <a:lnR>
                      <a:noFill/>
                    </a:lnR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借款人人数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Number_of_Borrowers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 rowSpan="5"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贷款合约信息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按揭保险比例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Mortgage_Insurance_Percentage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02920">
                <a:tc vMerge="1"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合并贷款价值比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Original_Combined_Loan_To_Value_CLTV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 vMerge="1"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首贷贷款价值比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Original_Loan_To_Value_LTV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 vMerge="1"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贷款目的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Loan_Purpose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 vMerge="1">
                  <a:tcPr>
                    <a:lnL>
                      <a:noFill/>
                    </a:lnL>
                    <a:lnR>
                      <a:noFill/>
                    </a:lnR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首次购房者标识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First_Time_Homebuyer_Flag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 rowSpan="3"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房产属性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房屋单元数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Number_of_Units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 vMerge="1"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入住状态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Occupancy_Status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 vMerge="1">
                  <a:tcPr>
                    <a:lnL>
                      <a:noFill/>
                    </a:lnL>
                    <a:lnR>
                      <a:noFill/>
                    </a:lnR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房产类型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Property_Type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0292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贷款渠道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贷款申办的业务来源路径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Channel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2735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地理位置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000">
                          <a:latin typeface="Times New Roman" panose="02020603050405020304"/>
                          <a:ea typeface="宋体" panose="02010600030101010101" pitchFamily="2" charset="-122"/>
                        </a:rPr>
                        <a:t>房产所在州</a:t>
                      </a:r>
                      <a:endParaRPr lang="zh-CN" sz="10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000">
                          <a:latin typeface="Times New Roman" panose="02020603050405020304"/>
                          <a:ea typeface="Times New Roman" panose="02020603050405020304"/>
                        </a:rPr>
                        <a:t>Property_State</a:t>
                      </a:r>
                      <a:endParaRPr lang="en-US" altLang="zh-CN" sz="10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" name="矩形 21"/>
          <p:cNvSpPr/>
          <p:nvPr/>
        </p:nvSpPr>
        <p:spPr>
          <a:xfrm>
            <a:off x="589280" y="3430270"/>
            <a:ext cx="5219700" cy="3188335"/>
          </a:xfrm>
          <a:prstGeom prst="rect">
            <a:avLst/>
          </a:prstGeom>
          <a:solidFill>
            <a:schemeClr val="bg1">
              <a:alpha val="8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/>
        </p:txBody>
      </p:sp>
      <p:sp>
        <p:nvSpPr>
          <p:cNvPr id="23" name="圆角矩形 32"/>
          <p:cNvSpPr/>
          <p:nvPr/>
        </p:nvSpPr>
        <p:spPr>
          <a:xfrm>
            <a:off x="1205203" y="3143473"/>
            <a:ext cx="4037282" cy="474385"/>
          </a:xfrm>
          <a:prstGeom prst="roundRect">
            <a:avLst/>
          </a:prstGeom>
          <a:solidFill>
            <a:srgbClr val="89393B"/>
          </a:solidFill>
          <a:ln>
            <a:solidFill>
              <a:srgbClr val="89393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目标变量：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贷款的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违约情况（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DFlag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31495" y="3789680"/>
            <a:ext cx="5238750" cy="2515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pFill/>
              </a14:hiddenFill>
            </a:ext>
          </a:extLst>
        </p:spPr>
        <p:txBody>
          <a:bodyPr wrap="square">
            <a:spAutoFit/>
          </a:bodyPr>
          <a:p>
            <a:pPr marL="342900" lvl="0" indent="-342900" algn="just" fontAlgn="auto" latinLnBrk="0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违约情况的观测窗口设定为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贷款发放后</a:t>
            </a:r>
            <a:r>
              <a:rPr lang="en-US" altLang="zh-CN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24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个月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，取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5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种不同的变量值，分别为：还款正常、逾期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30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天结清、逾期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60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天结清、逾期超过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90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天未还款、有过止赎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/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处置处理的贷款。</a:t>
            </a:r>
            <a:endParaRPr lang="zh-CN" altLang="en-US" sz="14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charset="0"/>
            </a:endParaRPr>
          </a:p>
          <a:p>
            <a:pPr marL="342900" lvl="0" indent="-342900" algn="just" fontAlgn="auto" latinLnBrk="0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本文将前三种还款状态的用户合并形成正常用户，将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逾期超过</a:t>
            </a:r>
            <a:r>
              <a:rPr lang="en-US" altLang="zh-CN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90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天未还款或有过止赎</a:t>
            </a:r>
            <a:r>
              <a:rPr lang="en-US" altLang="zh-CN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/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处置处理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的贷款作为违约样本。</a:t>
            </a:r>
            <a:endParaRPr lang="zh-CN" altLang="en-US" sz="14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charset="0"/>
            </a:endParaRPr>
          </a:p>
          <a:p>
            <a:pPr marL="342900" lvl="0" indent="-342900" algn="just" fontAlgn="auto" latinLnBrk="0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数据集包含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违约样本</a:t>
            </a:r>
            <a:r>
              <a:rPr lang="en-US" altLang="zh-CN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42227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条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、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正常样本</a:t>
            </a:r>
            <a:r>
              <a:rPr lang="en-US" altLang="zh-CN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980474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条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；其中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8150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笔违约贷款放款于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2023Q4—2025Q2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，观测期不足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24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个月但已违约，划为右删失纯违约样本，留存用于数据扩充与建模。</a:t>
            </a:r>
            <a:endParaRPr lang="zh-CN" altLang="en-US" sz="14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1180" y="984250"/>
            <a:ext cx="3223895" cy="469900"/>
            <a:chOff x="992516" y="4392689"/>
            <a:chExt cx="3131187" cy="358868"/>
          </a:xfrm>
        </p:grpSpPr>
        <p:sp>
          <p:nvSpPr>
            <p:cNvPr id="54" name="矩形 53"/>
            <p:cNvSpPr/>
            <p:nvPr/>
          </p:nvSpPr>
          <p:spPr>
            <a:xfrm>
              <a:off x="1820797" y="4392689"/>
              <a:ext cx="2302906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目前研究进展</a:t>
              </a:r>
              <a:endPara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70510" y="1776095"/>
            <a:ext cx="5758180" cy="3418205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7" name="圆角矩形 6"/>
          <p:cNvSpPr/>
          <p:nvPr/>
        </p:nvSpPr>
        <p:spPr>
          <a:xfrm>
            <a:off x="434975" y="1594485"/>
            <a:ext cx="1806575" cy="47688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89393B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326"/>
              </a:buClr>
              <a:buSzTx/>
              <a:buNone/>
              <a:defRPr/>
            </a:pP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WOE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编码结果</a:t>
            </a:r>
            <a:endParaRPr kumimoji="0" lang="zh-CN" altLang="en-US" sz="1800" b="1" i="0" u="none" strike="noStrike" kern="0" cap="none" spc="0" normalizeH="0" baseline="0" noProof="0" dirty="0">
              <a:ln>
                <a:noFill/>
              </a:ln>
              <a:solidFill>
                <a:srgbClr val="89393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024" name="矩形 1023"/>
          <p:cNvSpPr/>
          <p:nvPr/>
        </p:nvSpPr>
        <p:spPr>
          <a:xfrm>
            <a:off x="6151245" y="1776095"/>
            <a:ext cx="5626100" cy="3418205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31" name="圆角矩形 6"/>
          <p:cNvSpPr/>
          <p:nvPr/>
        </p:nvSpPr>
        <p:spPr>
          <a:xfrm>
            <a:off x="6429375" y="1595120"/>
            <a:ext cx="3155950" cy="47688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89393B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326"/>
              </a:buClr>
              <a:buSzTx/>
              <a:buNone/>
              <a:defRPr/>
            </a:pPr>
            <a:r>
              <a:rPr lang="en-US" altLang="zh-CN" sz="2000" b="1" kern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WOE</a:t>
            </a:r>
            <a:r>
              <a:rPr lang="zh-CN" altLang="en-US" sz="2000" b="1" kern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编码压缩后模型结果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srgbClr val="89393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034" name="文本框 1033"/>
          <p:cNvSpPr txBox="1"/>
          <p:nvPr/>
        </p:nvSpPr>
        <p:spPr>
          <a:xfrm>
            <a:off x="270510" y="5369560"/>
            <a:ext cx="11506835" cy="143764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数据集中入住状态、贷款目的等为文本分类特征，采用</a:t>
            </a:r>
            <a:r>
              <a:rPr lang="en-US" altLang="zh-CN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One-Hot</a:t>
            </a:r>
            <a:r>
              <a:rPr lang="zh-CN" altLang="en-US" sz="1400" b="1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编码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实现数值转化：各类别独立生成二进制字段，样本归属该类则赋值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1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，否则为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0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；编码后数据集共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78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个变量，其中</a:t>
            </a:r>
            <a:r>
              <a:rPr lang="en-US" altLang="zh-CN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71</a:t>
            </a:r>
            <a:r>
              <a:rPr lang="zh-CN" altLang="en-US" sz="14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个源自分类特征独热拓展。</a:t>
            </a:r>
            <a:endParaRPr lang="en-US" altLang="zh-CN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71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个的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One-Hot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列的高维结构，对于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GAN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生成器训练来说有较大的挑战，采用</a:t>
            </a:r>
            <a:r>
              <a:rPr lang="zh-CN" altLang="en-US" sz="1400" b="1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证据权重编码</a:t>
            </a:r>
            <a:r>
              <a:rPr lang="en-US" altLang="zh-CN" sz="1400" b="1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(WOE)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，将高基数分类变量替换为单列连续值。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在原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78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维和和压缩后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13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维特征上分别训练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XGBoost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，证明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13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维特征集在降维的前提下完整保留了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78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维原始特征的区分能力，可以用于后续的模型训练与预测。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266700" y="5367020"/>
            <a:ext cx="11510010" cy="1417320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2" descr="WOE编码结果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83615" y="1848485"/>
            <a:ext cx="4706620" cy="3332480"/>
          </a:xfrm>
          <a:prstGeom prst="rect">
            <a:avLst/>
          </a:prstGeom>
        </p:spPr>
      </p:pic>
      <p:pic>
        <p:nvPicPr>
          <p:cNvPr id="6" name="图片 3" descr="WOE验证_AUC对比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43980" y="2143125"/>
            <a:ext cx="5029835" cy="2994025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1180" y="984250"/>
            <a:ext cx="3223895" cy="469900"/>
            <a:chOff x="992516" y="4392689"/>
            <a:chExt cx="3131187" cy="358868"/>
          </a:xfrm>
        </p:grpSpPr>
        <p:sp>
          <p:nvSpPr>
            <p:cNvPr id="54" name="矩形 53"/>
            <p:cNvSpPr/>
            <p:nvPr/>
          </p:nvSpPr>
          <p:spPr>
            <a:xfrm>
              <a:off x="1820797" y="4392689"/>
              <a:ext cx="2302906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目前研究进展</a:t>
              </a:r>
              <a:endPara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70510" y="1776095"/>
            <a:ext cx="11506200" cy="3482975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7" name="圆角矩形 6"/>
          <p:cNvSpPr/>
          <p:nvPr/>
        </p:nvSpPr>
        <p:spPr>
          <a:xfrm>
            <a:off x="434975" y="1594485"/>
            <a:ext cx="4724400" cy="47688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89393B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326"/>
              </a:buClr>
              <a:buSzTx/>
              <a:buNone/>
              <a:defRPr/>
            </a:pP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第一阶段：违约速度分类器与</a:t>
            </a:r>
            <a:r>
              <a:rPr kumimoji="0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NN</a:t>
            </a: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代理模型验证</a:t>
            </a: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srgbClr val="89393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034" name="文本框 1033"/>
          <p:cNvSpPr txBox="1"/>
          <p:nvPr/>
        </p:nvSpPr>
        <p:spPr>
          <a:xfrm>
            <a:off x="270510" y="5369560"/>
            <a:ext cx="11506835" cy="143764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本阶段依托完整的观测违约样本训练违约速度分类器，区分快速违约与慢速违约特征模式，同时训练神经网络代理模型，实现条件变量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r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的可微分拟合，为生成器提供稳定的条件约束信号。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最终生成的输出的违约倾向得分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r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分布稳定，均值为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0.406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，标准差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0.074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，取值区间为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[0.08,0.95]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，风险区分度适中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本阶段实验证实，违约速度分类器可精准挖掘信贷样本的违约快慢特征差异，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NN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代理模型拟合精度高、误差可控，能够稳定输出可微分的条件变量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r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，彻底解决了右删失样本隐性风险特征无法量化、无法嵌入生成模型训练的问题，第一阶段核心技术链路完全跑通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266700" y="5367020"/>
            <a:ext cx="11510010" cy="1417320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3" name="图片 52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7125" y="1957070"/>
            <a:ext cx="9670415" cy="3330575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1180" y="984250"/>
            <a:ext cx="3223895" cy="469900"/>
            <a:chOff x="992516" y="4392689"/>
            <a:chExt cx="3131187" cy="358868"/>
          </a:xfrm>
        </p:grpSpPr>
        <p:sp>
          <p:nvSpPr>
            <p:cNvPr id="54" name="矩形 53"/>
            <p:cNvSpPr/>
            <p:nvPr/>
          </p:nvSpPr>
          <p:spPr>
            <a:xfrm>
              <a:off x="1820797" y="4392689"/>
              <a:ext cx="2302906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目前研究进展</a:t>
              </a:r>
              <a:endPara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6" name="矩形 125"/>
          <p:cNvSpPr/>
          <p:nvPr>
            <p:custDataLst>
              <p:tags r:id="rId1"/>
            </p:custDataLst>
          </p:nvPr>
        </p:nvSpPr>
        <p:spPr>
          <a:xfrm>
            <a:off x="270510" y="1704340"/>
            <a:ext cx="5455285" cy="3482975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7" name="圆角矩形 6"/>
          <p:cNvSpPr/>
          <p:nvPr>
            <p:custDataLst>
              <p:tags r:id="rId2"/>
            </p:custDataLst>
          </p:nvPr>
        </p:nvSpPr>
        <p:spPr>
          <a:xfrm>
            <a:off x="551180" y="1524000"/>
            <a:ext cx="4724400" cy="47688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89393B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326"/>
              </a:buClr>
              <a:buSzTx/>
              <a:buNone/>
              <a:defRPr/>
            </a:pP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第二阶段：</a:t>
            </a:r>
            <a:r>
              <a:rPr lang="en-US" altLang="zh-CN" sz="1600" b="1" kern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XGBoost</a:t>
            </a:r>
            <a:r>
              <a:rPr lang="zh-CN" altLang="en-US" sz="1600" b="1" kern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基分类器知识蒸馏验证</a:t>
            </a: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srgbClr val="89393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034" name="文本框 1033"/>
          <p:cNvSpPr txBox="1"/>
          <p:nvPr>
            <p:custDataLst>
              <p:tags r:id="rId3"/>
            </p:custDataLst>
          </p:nvPr>
        </p:nvSpPr>
        <p:spPr>
          <a:xfrm>
            <a:off x="6135370" y="5441315"/>
            <a:ext cx="5641975" cy="1245235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5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本阶段分别对标准</a:t>
            </a:r>
            <a:r>
              <a:rPr lang="en-US" altLang="zh-CN" sz="15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WGAN-GP</a:t>
            </a:r>
            <a:r>
              <a:rPr lang="zh-CN" altLang="en-US" sz="15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与</a:t>
            </a:r>
            <a:r>
              <a:rPr lang="en-US" altLang="zh-CN" sz="15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BA-cWGAN-GP</a:t>
            </a:r>
            <a:r>
              <a:rPr lang="zh-CN" altLang="en-US" sz="15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模型开展训练，对比两类模型的收敛特性、训练效率与损失优化规律</a:t>
            </a:r>
            <a:endParaRPr lang="zh-CN" altLang="en-US" sz="15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5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三项损失函数同步稳定收敛，无相互冲突、无梯度爆炸与模式坍塌问题，多损失联合优化机制适配性良好</a:t>
            </a:r>
            <a:endParaRPr lang="zh-CN" altLang="en-US" sz="15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  <a:sym typeface="+mn-ea"/>
            </a:endParaRPr>
          </a:p>
        </p:txBody>
      </p:sp>
      <p:sp>
        <p:nvSpPr>
          <p:cNvPr id="2" name="矩形 1"/>
          <p:cNvSpPr/>
          <p:nvPr>
            <p:custDataLst>
              <p:tags r:id="rId4"/>
            </p:custDataLst>
          </p:nvPr>
        </p:nvSpPr>
        <p:spPr>
          <a:xfrm>
            <a:off x="6136005" y="5295265"/>
            <a:ext cx="5641340" cy="1460500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5"/>
            </p:custDataLst>
          </p:nvPr>
        </p:nvSpPr>
        <p:spPr>
          <a:xfrm>
            <a:off x="6136005" y="1700530"/>
            <a:ext cx="5641340" cy="3486150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>
            <p:custDataLst>
              <p:tags r:id="rId6"/>
            </p:custDataLst>
          </p:nvPr>
        </p:nvSpPr>
        <p:spPr>
          <a:xfrm>
            <a:off x="6383655" y="1524000"/>
            <a:ext cx="4255135" cy="47688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89393B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326"/>
              </a:buClr>
              <a:buSzTx/>
              <a:buNone/>
              <a:defRPr/>
            </a:pPr>
            <a:r>
              <a:rPr lang="zh-CN" altLang="en-US" sz="1600" b="1" kern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第三阶段：生成模型训练稳定性验证</a:t>
            </a: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srgbClr val="89393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8" name="图片 4" descr="01_gan_training_loss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49921" t="6649"/>
          <a:stretch>
            <a:fillRect/>
          </a:stretch>
        </p:blipFill>
        <p:spPr>
          <a:xfrm>
            <a:off x="6520815" y="1896745"/>
            <a:ext cx="4828540" cy="333248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262890" y="5372735"/>
            <a:ext cx="5464175" cy="138303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285750" indent="-285750" algn="just" fontAlgn="auto" latinLnBrk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本阶段以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XGBoost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为基分类器构建信贷风险决策边界，通过知识蒸馏将离散的树模型决策逻辑迁移至神经网络代理模型，实现决策边界的可微分处理，为边界感知损失提供计算支撑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  <a:sym typeface="+mn-ea"/>
            </a:endParaRPr>
          </a:p>
          <a:p>
            <a:pPr marL="285750" indent="-285750" algn="just" fontAlgn="auto" latinLnBrk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蒸馏后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NN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代理模型几乎完美复刻了基分类器的风险决策逻辑与边界划分标准，解决了传统边界约束无法嵌入</a:t>
            </a:r>
            <a:r>
              <a:rPr lang="en-US" altLang="zh-CN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GAN</a:t>
            </a: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  <a:sym typeface="+mn-ea"/>
              </a:rPr>
              <a:t>训练的痛点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  <a:sym typeface="+mn-ea"/>
            </a:endParaRPr>
          </a:p>
        </p:txBody>
      </p:sp>
      <p:sp>
        <p:nvSpPr>
          <p:cNvPr id="10" name="矩形 9"/>
          <p:cNvSpPr/>
          <p:nvPr>
            <p:custDataLst>
              <p:tags r:id="rId10"/>
            </p:custDataLst>
          </p:nvPr>
        </p:nvSpPr>
        <p:spPr>
          <a:xfrm>
            <a:off x="263525" y="5333365"/>
            <a:ext cx="5462905" cy="1441450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7" descr="09_phase2_boundary_consistency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53128" r="-4666" b="-8911"/>
          <a:stretch>
            <a:fillRect/>
          </a:stretch>
        </p:blipFill>
        <p:spPr>
          <a:xfrm>
            <a:off x="1055370" y="2060575"/>
            <a:ext cx="4213860" cy="3724910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1180" y="984250"/>
            <a:ext cx="3223895" cy="469900"/>
            <a:chOff x="992516" y="4392689"/>
            <a:chExt cx="3131187" cy="358868"/>
          </a:xfrm>
        </p:grpSpPr>
        <p:sp>
          <p:nvSpPr>
            <p:cNvPr id="54" name="矩形 53"/>
            <p:cNvSpPr/>
            <p:nvPr/>
          </p:nvSpPr>
          <p:spPr>
            <a:xfrm>
              <a:off x="1820797" y="4392689"/>
              <a:ext cx="2302906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目前研究进展</a:t>
              </a:r>
              <a:endPara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70510" y="1776095"/>
            <a:ext cx="5455285" cy="3482975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7" name="圆角矩形 6"/>
          <p:cNvSpPr/>
          <p:nvPr/>
        </p:nvSpPr>
        <p:spPr>
          <a:xfrm>
            <a:off x="551180" y="1595755"/>
            <a:ext cx="4724400" cy="47688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89393B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326"/>
              </a:buClr>
              <a:buSzTx/>
              <a:buNone/>
              <a:defRPr/>
            </a:pP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第四阶段：样本生成质量与模型性能评估</a:t>
            </a: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srgbClr val="89393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034" name="文本框 1033"/>
          <p:cNvSpPr txBox="1"/>
          <p:nvPr/>
        </p:nvSpPr>
        <p:spPr>
          <a:xfrm>
            <a:off x="270510" y="5441315"/>
            <a:ext cx="11506835" cy="1207135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本阶段通过边界富集度与裁判模型双维度，量化评估合成样本质量与模型预测性能</a:t>
            </a:r>
            <a:endParaRPr lang="zh-CN" altLang="en-US" sz="145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在样本边界富集度层面</a:t>
            </a:r>
            <a:r>
              <a:rPr 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，</a:t>
            </a:r>
            <a:r>
              <a:rPr lang="en-US" alt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BA-cWGAN-GP</a:t>
            </a: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生成的合成样本边界富集度提升至</a:t>
            </a:r>
            <a:r>
              <a:rPr lang="en-US" alt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59.2%</a:t>
            </a: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（提升了</a:t>
            </a:r>
            <a:r>
              <a:rPr lang="en-US" alt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1.8</a:t>
            </a: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倍），充分验证了边界感知机制的核心优势，从根源上解决了传统生成模型盲目采样、无效生成的缺陷</a:t>
            </a:r>
            <a:endParaRPr lang="zh-CN" altLang="en-US" sz="145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  <a:p>
            <a:pPr marL="285750" indent="-285750" algn="just" fontAlgn="auto" latinLnBrk="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相较于原始无采样、</a:t>
            </a:r>
            <a:r>
              <a:rPr lang="en-US" alt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SMOTE</a:t>
            </a: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过采样、标准</a:t>
            </a:r>
            <a:r>
              <a:rPr lang="en-US" alt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WGAN-GP</a:t>
            </a: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模型，</a:t>
            </a:r>
            <a:r>
              <a:rPr lang="en-US" alt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BA-cWGAN-GP</a:t>
            </a: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模型的</a:t>
            </a:r>
            <a:r>
              <a:rPr lang="en-US" alt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Brier</a:t>
            </a: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分数从</a:t>
            </a:r>
            <a:r>
              <a:rPr lang="en-US" alt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0.2017</a:t>
            </a: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降至</a:t>
            </a:r>
            <a:r>
              <a:rPr lang="en-US" altLang="zh-CN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0.0623</a:t>
            </a:r>
            <a:r>
              <a:rPr lang="zh-CN" altLang="en-US" sz="145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Mongolian Baiti" panose="03000500000000000000" pitchFamily="66" charset="0"/>
              </a:rPr>
              <a:t>，预测误差显著降低</a:t>
            </a:r>
            <a:endParaRPr lang="zh-CN" altLang="en-US" sz="1450" kern="100" dirty="0">
              <a:latin typeface="微软雅黑" panose="020B0503020204020204" pitchFamily="34" charset="-122"/>
              <a:ea typeface="微软雅黑" panose="020B0503020204020204" pitchFamily="34" charset="-122"/>
              <a:cs typeface="Mongolian Baiti" panose="03000500000000000000" pitchFamily="66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266700" y="5367020"/>
            <a:ext cx="11510010" cy="1417320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5" descr="02_boundary_enrichment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425" y="2143125"/>
            <a:ext cx="4909820" cy="304609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6136005" y="1772285"/>
            <a:ext cx="5597525" cy="3486150"/>
          </a:xfrm>
          <a:prstGeom prst="rect">
            <a:avLst/>
          </a:prstGeom>
          <a:noFill/>
          <a:ln w="19050">
            <a:solidFill>
              <a:srgbClr val="893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04585" y="1914525"/>
            <a:ext cx="5323840" cy="32639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圆角矩形 6"/>
          <p:cNvSpPr/>
          <p:nvPr/>
        </p:nvSpPr>
        <p:spPr>
          <a:xfrm>
            <a:off x="6383655" y="1595755"/>
            <a:ext cx="1460500" cy="47688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89393B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326"/>
              </a:buClr>
              <a:buSzTx/>
              <a:buNone/>
              <a:defRPr/>
            </a:pPr>
            <a:r>
              <a:rPr kumimoji="0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Brier</a:t>
            </a: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89393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对比图</a:t>
            </a: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srgbClr val="89393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8" name="组合 4"/>
          <p:cNvGrpSpPr/>
          <p:nvPr/>
        </p:nvGrpSpPr>
        <p:grpSpPr bwMode="auto">
          <a:xfrm>
            <a:off x="551180" y="984250"/>
            <a:ext cx="3138805" cy="469900"/>
            <a:chOff x="992516" y="4392689"/>
            <a:chExt cx="3048544" cy="358868"/>
          </a:xfrm>
        </p:grpSpPr>
        <p:sp>
          <p:nvSpPr>
            <p:cNvPr id="54" name="矩形 53"/>
            <p:cNvSpPr/>
            <p:nvPr/>
          </p:nvSpPr>
          <p:spPr>
            <a:xfrm>
              <a:off x="1820797" y="4392689"/>
              <a:ext cx="2220263" cy="358868"/>
            </a:xfrm>
            <a:prstGeom prst="rect">
              <a:avLst/>
            </a:prstGeom>
            <a:solidFill>
              <a:srgbClr val="7C2326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论文进度安排</a:t>
              </a:r>
              <a:endPara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TextBox 47"/>
            <p:cNvSpPr txBox="1"/>
            <p:nvPr/>
          </p:nvSpPr>
          <p:spPr>
            <a:xfrm>
              <a:off x="992516" y="4397539"/>
              <a:ext cx="759724" cy="3515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txBody>
            <a:bodyPr anchor="ctr">
              <a:spAutoFit/>
            </a:bodyPr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400" b="1" dirty="0">
                  <a:solidFill>
                    <a:schemeClr val="l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五</a:t>
              </a:r>
              <a:endParaRPr lang="zh-CN" altLang="en-US" sz="2400" b="1" dirty="0">
                <a:solidFill>
                  <a:schemeClr val="l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75248"/>
            <a:ext cx="127000" cy="3067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30153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3795322" y="1915314"/>
            <a:ext cx="2557424" cy="907751"/>
            <a:chOff x="3666731" y="1984470"/>
            <a:chExt cx="2636520" cy="1447800"/>
          </a:xfrm>
          <a:solidFill>
            <a:srgbClr val="404040"/>
          </a:solidFill>
        </p:grpSpPr>
        <p:sp>
          <p:nvSpPr>
            <p:cNvPr id="3" name="任意多边形 2"/>
            <p:cNvSpPr/>
            <p:nvPr>
              <p:custDataLst>
                <p:tags r:id="rId2"/>
              </p:custDataLst>
            </p:nvPr>
          </p:nvSpPr>
          <p:spPr>
            <a:xfrm>
              <a:off x="3666731" y="1984470"/>
              <a:ext cx="2636520" cy="1447800"/>
            </a:xfrm>
            <a:custGeom>
              <a:avLst/>
              <a:gdLst>
                <a:gd name="connsiteX0" fmla="*/ 0 w 2636520"/>
                <a:gd name="connsiteY0" fmla="*/ 0 h 1447800"/>
                <a:gd name="connsiteX1" fmla="*/ 2103122 w 2636520"/>
                <a:gd name="connsiteY1" fmla="*/ 0 h 1447800"/>
                <a:gd name="connsiteX2" fmla="*/ 2636520 w 2636520"/>
                <a:gd name="connsiteY2" fmla="*/ 723900 h 1447800"/>
                <a:gd name="connsiteX3" fmla="*/ 2103122 w 2636520"/>
                <a:gd name="connsiteY3" fmla="*/ 1447800 h 1447800"/>
                <a:gd name="connsiteX4" fmla="*/ 0 w 2636520"/>
                <a:gd name="connsiteY4" fmla="*/ 1447800 h 1447800"/>
                <a:gd name="connsiteX5" fmla="*/ 0 w 2636520"/>
                <a:gd name="connsiteY5" fmla="*/ 1442632 h 1447800"/>
                <a:gd name="connsiteX6" fmla="*/ 529590 w 2636520"/>
                <a:gd name="connsiteY6" fmla="*/ 723900 h 1447800"/>
                <a:gd name="connsiteX7" fmla="*/ 0 w 2636520"/>
                <a:gd name="connsiteY7" fmla="*/ 5168 h 1447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36520" h="1447800">
                  <a:moveTo>
                    <a:pt x="0" y="0"/>
                  </a:moveTo>
                  <a:lnTo>
                    <a:pt x="2103122" y="0"/>
                  </a:lnTo>
                  <a:lnTo>
                    <a:pt x="2636520" y="723900"/>
                  </a:lnTo>
                  <a:lnTo>
                    <a:pt x="2103122" y="1447800"/>
                  </a:lnTo>
                  <a:lnTo>
                    <a:pt x="0" y="1447800"/>
                  </a:lnTo>
                  <a:lnTo>
                    <a:pt x="0" y="1442632"/>
                  </a:lnTo>
                  <a:lnTo>
                    <a:pt x="529590" y="723900"/>
                  </a:lnTo>
                  <a:lnTo>
                    <a:pt x="0" y="51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90" b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5" name="文本框 35"/>
            <p:cNvSpPr txBox="1"/>
            <p:nvPr>
              <p:custDataLst>
                <p:tags r:id="rId3"/>
              </p:custDataLst>
            </p:nvPr>
          </p:nvSpPr>
          <p:spPr>
            <a:xfrm>
              <a:off x="3971726" y="2311866"/>
              <a:ext cx="2230360" cy="9550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第二阶段</a:t>
              </a:r>
              <a:endParaRPr lang="zh-CN" altLang="en-US" sz="20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（</a:t>
              </a:r>
              <a:r>
                <a:rPr lang="en-US" altLang="zh-CN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7-11</a:t>
              </a:r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月）</a:t>
              </a:r>
              <a:endParaRPr lang="zh-CN" altLang="en-US" sz="2000" b="1" baseline="-3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6" name="组合 5"/>
          <p:cNvGrpSpPr/>
          <p:nvPr>
            <p:custDataLst>
              <p:tags r:id="rId4"/>
            </p:custDataLst>
          </p:nvPr>
        </p:nvGrpSpPr>
        <p:grpSpPr>
          <a:xfrm>
            <a:off x="1657801" y="1915314"/>
            <a:ext cx="2557424" cy="907751"/>
            <a:chOff x="1436370" y="1984470"/>
            <a:chExt cx="2636520" cy="1447800"/>
          </a:xfrm>
          <a:solidFill>
            <a:srgbClr val="89393B"/>
          </a:solidFill>
        </p:grpSpPr>
        <p:sp>
          <p:nvSpPr>
            <p:cNvPr id="7" name="任意多边形 6"/>
            <p:cNvSpPr/>
            <p:nvPr>
              <p:custDataLst>
                <p:tags r:id="rId5"/>
              </p:custDataLst>
            </p:nvPr>
          </p:nvSpPr>
          <p:spPr>
            <a:xfrm>
              <a:off x="1436370" y="1984470"/>
              <a:ext cx="2636520" cy="1447800"/>
            </a:xfrm>
            <a:custGeom>
              <a:avLst/>
              <a:gdLst>
                <a:gd name="connsiteX0" fmla="*/ 0 w 2636520"/>
                <a:gd name="connsiteY0" fmla="*/ 0 h 1447800"/>
                <a:gd name="connsiteX1" fmla="*/ 2103122 w 2636520"/>
                <a:gd name="connsiteY1" fmla="*/ 0 h 1447800"/>
                <a:gd name="connsiteX2" fmla="*/ 2636520 w 2636520"/>
                <a:gd name="connsiteY2" fmla="*/ 723900 h 1447800"/>
                <a:gd name="connsiteX3" fmla="*/ 2103122 w 2636520"/>
                <a:gd name="connsiteY3" fmla="*/ 1447800 h 1447800"/>
                <a:gd name="connsiteX4" fmla="*/ 0 w 2636520"/>
                <a:gd name="connsiteY4" fmla="*/ 1447800 h 1447800"/>
                <a:gd name="connsiteX5" fmla="*/ 0 w 2636520"/>
                <a:gd name="connsiteY5" fmla="*/ 1442632 h 1447800"/>
                <a:gd name="connsiteX6" fmla="*/ 529590 w 2636520"/>
                <a:gd name="connsiteY6" fmla="*/ 723900 h 1447800"/>
                <a:gd name="connsiteX7" fmla="*/ 0 w 2636520"/>
                <a:gd name="connsiteY7" fmla="*/ 5168 h 1447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36520" h="1447800">
                  <a:moveTo>
                    <a:pt x="0" y="0"/>
                  </a:moveTo>
                  <a:lnTo>
                    <a:pt x="2103122" y="0"/>
                  </a:lnTo>
                  <a:lnTo>
                    <a:pt x="2636520" y="723900"/>
                  </a:lnTo>
                  <a:lnTo>
                    <a:pt x="2103122" y="1447800"/>
                  </a:lnTo>
                  <a:lnTo>
                    <a:pt x="0" y="1447800"/>
                  </a:lnTo>
                  <a:lnTo>
                    <a:pt x="0" y="1442632"/>
                  </a:lnTo>
                  <a:lnTo>
                    <a:pt x="529590" y="723900"/>
                  </a:lnTo>
                  <a:lnTo>
                    <a:pt x="0" y="51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90" b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8" name="文本框 43"/>
            <p:cNvSpPr txBox="1"/>
            <p:nvPr>
              <p:custDataLst>
                <p:tags r:id="rId6"/>
              </p:custDataLst>
            </p:nvPr>
          </p:nvSpPr>
          <p:spPr>
            <a:xfrm>
              <a:off x="1709209" y="2149820"/>
              <a:ext cx="2293960" cy="11170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20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第一阶段</a:t>
              </a:r>
              <a:endParaRPr lang="zh-CN" altLang="en-US" sz="20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（</a:t>
              </a:r>
              <a:r>
                <a:rPr lang="en-US" altLang="zh-CN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5-6</a:t>
              </a:r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月）</a:t>
              </a:r>
              <a:endParaRPr lang="zh-CN" altLang="en-US" sz="2000" b="1" baseline="-3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9" name="组合 8"/>
          <p:cNvGrpSpPr/>
          <p:nvPr>
            <p:custDataLst>
              <p:tags r:id="rId7"/>
            </p:custDataLst>
          </p:nvPr>
        </p:nvGrpSpPr>
        <p:grpSpPr>
          <a:xfrm>
            <a:off x="8070363" y="1915314"/>
            <a:ext cx="2557424" cy="907751"/>
            <a:chOff x="8127453" y="1984470"/>
            <a:chExt cx="2636520" cy="1447800"/>
          </a:xfrm>
          <a:solidFill>
            <a:srgbClr val="404040"/>
          </a:solidFill>
        </p:grpSpPr>
        <p:sp>
          <p:nvSpPr>
            <p:cNvPr id="10" name="任意多边形 9"/>
            <p:cNvSpPr/>
            <p:nvPr>
              <p:custDataLst>
                <p:tags r:id="rId8"/>
              </p:custDataLst>
            </p:nvPr>
          </p:nvSpPr>
          <p:spPr>
            <a:xfrm>
              <a:off x="8127453" y="1984470"/>
              <a:ext cx="2636520" cy="1447800"/>
            </a:xfrm>
            <a:custGeom>
              <a:avLst/>
              <a:gdLst>
                <a:gd name="connsiteX0" fmla="*/ 0 w 2636520"/>
                <a:gd name="connsiteY0" fmla="*/ 0 h 1447800"/>
                <a:gd name="connsiteX1" fmla="*/ 2103122 w 2636520"/>
                <a:gd name="connsiteY1" fmla="*/ 0 h 1447800"/>
                <a:gd name="connsiteX2" fmla="*/ 2636520 w 2636520"/>
                <a:gd name="connsiteY2" fmla="*/ 723900 h 1447800"/>
                <a:gd name="connsiteX3" fmla="*/ 2103122 w 2636520"/>
                <a:gd name="connsiteY3" fmla="*/ 1447800 h 1447800"/>
                <a:gd name="connsiteX4" fmla="*/ 0 w 2636520"/>
                <a:gd name="connsiteY4" fmla="*/ 1447800 h 1447800"/>
                <a:gd name="connsiteX5" fmla="*/ 0 w 2636520"/>
                <a:gd name="connsiteY5" fmla="*/ 1442632 h 1447800"/>
                <a:gd name="connsiteX6" fmla="*/ 529590 w 2636520"/>
                <a:gd name="connsiteY6" fmla="*/ 723900 h 1447800"/>
                <a:gd name="connsiteX7" fmla="*/ 0 w 2636520"/>
                <a:gd name="connsiteY7" fmla="*/ 5168 h 1447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36520" h="1447800">
                  <a:moveTo>
                    <a:pt x="0" y="0"/>
                  </a:moveTo>
                  <a:lnTo>
                    <a:pt x="2103122" y="0"/>
                  </a:lnTo>
                  <a:lnTo>
                    <a:pt x="2636520" y="723900"/>
                  </a:lnTo>
                  <a:lnTo>
                    <a:pt x="2103122" y="1447800"/>
                  </a:lnTo>
                  <a:lnTo>
                    <a:pt x="0" y="1447800"/>
                  </a:lnTo>
                  <a:lnTo>
                    <a:pt x="0" y="1442632"/>
                  </a:lnTo>
                  <a:lnTo>
                    <a:pt x="529590" y="723900"/>
                  </a:lnTo>
                  <a:lnTo>
                    <a:pt x="0" y="51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90" b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11" name="文本框 46"/>
            <p:cNvSpPr txBox="1"/>
            <p:nvPr>
              <p:custDataLst>
                <p:tags r:id="rId9"/>
              </p:custDataLst>
            </p:nvPr>
          </p:nvSpPr>
          <p:spPr>
            <a:xfrm>
              <a:off x="8439016" y="2230844"/>
              <a:ext cx="2230360" cy="9550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第四阶段</a:t>
              </a:r>
              <a:endParaRPr lang="zh-CN" altLang="en-US" sz="20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（</a:t>
              </a:r>
              <a:r>
                <a:rPr lang="en-US" altLang="zh-CN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12</a:t>
              </a:r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月</a:t>
              </a:r>
              <a:r>
                <a:rPr lang="en-US" altLang="zh-CN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-</a:t>
              </a:r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次年</a:t>
              </a:r>
              <a:r>
                <a:rPr lang="en-US" altLang="zh-CN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3</a:t>
              </a:r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月）</a:t>
              </a:r>
              <a:endParaRPr lang="zh-CN" altLang="en-US" sz="2000" b="1" baseline="-3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2" name="组合 11"/>
          <p:cNvGrpSpPr/>
          <p:nvPr>
            <p:custDataLst>
              <p:tags r:id="rId10"/>
            </p:custDataLst>
          </p:nvPr>
        </p:nvGrpSpPr>
        <p:grpSpPr>
          <a:xfrm>
            <a:off x="5932842" y="1915314"/>
            <a:ext cx="2557424" cy="907751"/>
            <a:chOff x="5897092" y="1984470"/>
            <a:chExt cx="2636520" cy="1447800"/>
          </a:xfrm>
          <a:solidFill>
            <a:srgbClr val="89393B"/>
          </a:solidFill>
        </p:grpSpPr>
        <p:sp>
          <p:nvSpPr>
            <p:cNvPr id="26" name="任意多边形 25"/>
            <p:cNvSpPr/>
            <p:nvPr>
              <p:custDataLst>
                <p:tags r:id="rId11"/>
              </p:custDataLst>
            </p:nvPr>
          </p:nvSpPr>
          <p:spPr>
            <a:xfrm>
              <a:off x="5897092" y="1984470"/>
              <a:ext cx="2636520" cy="1447800"/>
            </a:xfrm>
            <a:custGeom>
              <a:avLst/>
              <a:gdLst>
                <a:gd name="connsiteX0" fmla="*/ 0 w 2636520"/>
                <a:gd name="connsiteY0" fmla="*/ 0 h 1447800"/>
                <a:gd name="connsiteX1" fmla="*/ 2103122 w 2636520"/>
                <a:gd name="connsiteY1" fmla="*/ 0 h 1447800"/>
                <a:gd name="connsiteX2" fmla="*/ 2636520 w 2636520"/>
                <a:gd name="connsiteY2" fmla="*/ 723900 h 1447800"/>
                <a:gd name="connsiteX3" fmla="*/ 2103122 w 2636520"/>
                <a:gd name="connsiteY3" fmla="*/ 1447800 h 1447800"/>
                <a:gd name="connsiteX4" fmla="*/ 0 w 2636520"/>
                <a:gd name="connsiteY4" fmla="*/ 1447800 h 1447800"/>
                <a:gd name="connsiteX5" fmla="*/ 0 w 2636520"/>
                <a:gd name="connsiteY5" fmla="*/ 1442632 h 1447800"/>
                <a:gd name="connsiteX6" fmla="*/ 529590 w 2636520"/>
                <a:gd name="connsiteY6" fmla="*/ 723900 h 1447800"/>
                <a:gd name="connsiteX7" fmla="*/ 0 w 2636520"/>
                <a:gd name="connsiteY7" fmla="*/ 5168 h 1447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36520" h="1447800">
                  <a:moveTo>
                    <a:pt x="0" y="0"/>
                  </a:moveTo>
                  <a:lnTo>
                    <a:pt x="2103122" y="0"/>
                  </a:lnTo>
                  <a:lnTo>
                    <a:pt x="2636520" y="723900"/>
                  </a:lnTo>
                  <a:lnTo>
                    <a:pt x="2103122" y="1447800"/>
                  </a:lnTo>
                  <a:lnTo>
                    <a:pt x="0" y="1447800"/>
                  </a:lnTo>
                  <a:lnTo>
                    <a:pt x="0" y="1442632"/>
                  </a:lnTo>
                  <a:lnTo>
                    <a:pt x="529590" y="723900"/>
                  </a:lnTo>
                  <a:lnTo>
                    <a:pt x="0" y="51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90" b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40" name="文本框 49"/>
            <p:cNvSpPr txBox="1"/>
            <p:nvPr>
              <p:custDataLst>
                <p:tags r:id="rId12"/>
              </p:custDataLst>
            </p:nvPr>
          </p:nvSpPr>
          <p:spPr>
            <a:xfrm>
              <a:off x="6227711" y="2149825"/>
              <a:ext cx="2205655" cy="11170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20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第三阶段</a:t>
              </a:r>
              <a:endParaRPr lang="zh-CN" altLang="en-US" sz="20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（</a:t>
              </a:r>
              <a:r>
                <a:rPr lang="en-US" altLang="zh-CN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11-12</a:t>
              </a:r>
              <a:r>
                <a:rPr lang="zh-CN" altLang="en-US" sz="2000" b="1" baseline="-3000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月）</a:t>
              </a:r>
              <a:endParaRPr lang="zh-CN" altLang="en-US" sz="2000" b="1" baseline="-3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</p:grpSp>
      <p:sp>
        <p:nvSpPr>
          <p:cNvPr id="42" name="矩形 47"/>
          <p:cNvSpPr>
            <a:spLocks noChangeArrowheads="1"/>
          </p:cNvSpPr>
          <p:nvPr>
            <p:custDataLst>
              <p:tags r:id="rId13"/>
            </p:custDataLst>
          </p:nvPr>
        </p:nvSpPr>
        <p:spPr bwMode="auto">
          <a:xfrm>
            <a:off x="1760220" y="2997200"/>
            <a:ext cx="1888490" cy="16402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just"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/>
                </a:solidFill>
                <a:sym typeface="微软雅黑" panose="020B0503020204020204" pitchFamily="34" charset="-122"/>
              </a:rPr>
              <a:t>进行文献收集和阅读，完成文献综述和理论基础部分的撰写。同时收集、处理数据，完成实证分析的前置性基础工作。</a:t>
            </a:r>
            <a:endParaRPr lang="zh-CN" altLang="en-US" sz="1400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44" name="矩形 47"/>
          <p:cNvSpPr>
            <a:spLocks noChangeArrowheads="1"/>
          </p:cNvSpPr>
          <p:nvPr>
            <p:custDataLst>
              <p:tags r:id="rId14"/>
            </p:custDataLst>
          </p:nvPr>
        </p:nvSpPr>
        <p:spPr bwMode="auto">
          <a:xfrm>
            <a:off x="3862705" y="2997200"/>
            <a:ext cx="1987550" cy="1123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just"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/>
                </a:solidFill>
                <a:sym typeface="微软雅黑" panose="020B0503020204020204" pitchFamily="34" charset="-122"/>
              </a:rPr>
              <a:t>进行实证研究设计，展开具体实验研究，完成数据生成、</a:t>
            </a:r>
            <a:r>
              <a:rPr lang="en-US" altLang="zh-CN" sz="1400" dirty="0">
                <a:solidFill>
                  <a:schemeClr val="tx1"/>
                </a:solidFill>
                <a:sym typeface="微软雅黑" panose="020B0503020204020204" pitchFamily="34" charset="-122"/>
              </a:rPr>
              <a:t>Stacking</a:t>
            </a:r>
            <a:r>
              <a:rPr lang="zh-CN" altLang="en-US" sz="1400" dirty="0">
                <a:solidFill>
                  <a:schemeClr val="tx1"/>
                </a:solidFill>
                <a:sym typeface="微软雅黑" panose="020B0503020204020204" pitchFamily="34" charset="-122"/>
              </a:rPr>
              <a:t>模型建模等实验</a:t>
            </a:r>
            <a:endParaRPr lang="zh-CN" altLang="en-US" sz="1400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46" name="矩形 47"/>
          <p:cNvSpPr>
            <a:spLocks noChangeArrowheads="1"/>
          </p:cNvSpPr>
          <p:nvPr>
            <p:custDataLst>
              <p:tags r:id="rId15"/>
            </p:custDataLst>
          </p:nvPr>
        </p:nvSpPr>
        <p:spPr bwMode="auto">
          <a:xfrm>
            <a:off x="6152515" y="2997200"/>
            <a:ext cx="2044065" cy="1381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just"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/>
                </a:solidFill>
                <a:sym typeface="微软雅黑" panose="020B0503020204020204" pitchFamily="34" charset="-122"/>
              </a:rPr>
              <a:t>对实验结果进行分析，并通过</a:t>
            </a:r>
            <a:r>
              <a:rPr lang="en-US" altLang="zh-CN" sz="1400" dirty="0">
                <a:solidFill>
                  <a:schemeClr val="tx1"/>
                </a:solidFill>
                <a:sym typeface="微软雅黑" panose="020B0503020204020204" pitchFamily="34" charset="-122"/>
              </a:rPr>
              <a:t>SHAP</a:t>
            </a:r>
            <a:r>
              <a:rPr lang="zh-CN" altLang="en-US" sz="1400" dirty="0">
                <a:solidFill>
                  <a:schemeClr val="tx1"/>
                </a:solidFill>
                <a:sym typeface="微软雅黑" panose="020B0503020204020204" pitchFamily="34" charset="-122"/>
              </a:rPr>
              <a:t>解释框架对模型的结果进行可视化分析与解释。对全文进行初步修改和完善。</a:t>
            </a:r>
            <a:endParaRPr lang="zh-CN" altLang="en-US" sz="1400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48" name="矩形 47"/>
          <p:cNvSpPr>
            <a:spLocks noChangeArrowheads="1"/>
          </p:cNvSpPr>
          <p:nvPr>
            <p:custDataLst>
              <p:tags r:id="rId16"/>
            </p:custDataLst>
          </p:nvPr>
        </p:nvSpPr>
        <p:spPr bwMode="auto">
          <a:xfrm>
            <a:off x="8392795" y="2997200"/>
            <a:ext cx="1750695" cy="864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just"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/>
                </a:solidFill>
                <a:sym typeface="微软雅黑" panose="020B0503020204020204" pitchFamily="34" charset="-122"/>
              </a:rPr>
              <a:t>进行论文的定稿和提交工作，准备答辩和展示。</a:t>
            </a:r>
            <a:endParaRPr lang="zh-CN" altLang="en-US" sz="1400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49" name="Freeform 12"/>
          <p:cNvSpPr/>
          <p:nvPr/>
        </p:nvSpPr>
        <p:spPr bwMode="auto">
          <a:xfrm>
            <a:off x="1608509" y="5016598"/>
            <a:ext cx="528638" cy="530225"/>
          </a:xfrm>
          <a:custGeom>
            <a:avLst/>
            <a:gdLst>
              <a:gd name="T0" fmla="*/ 0 w 1446"/>
              <a:gd name="T1" fmla="*/ 0 h 1446"/>
              <a:gd name="T2" fmla="*/ 1446 w 1446"/>
              <a:gd name="T3" fmla="*/ 0 h 1446"/>
              <a:gd name="T4" fmla="*/ 1446 w 1446"/>
              <a:gd name="T5" fmla="*/ 458 h 1446"/>
              <a:gd name="T6" fmla="*/ 438 w 1446"/>
              <a:gd name="T7" fmla="*/ 458 h 1446"/>
              <a:gd name="T8" fmla="*/ 438 w 1446"/>
              <a:gd name="T9" fmla="*/ 1446 h 1446"/>
              <a:gd name="T10" fmla="*/ 0 w 1446"/>
              <a:gd name="T11" fmla="*/ 1446 h 1446"/>
              <a:gd name="T12" fmla="*/ 0 w 1446"/>
              <a:gd name="T13" fmla="*/ 0 h 14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46" h="1446">
                <a:moveTo>
                  <a:pt x="0" y="0"/>
                </a:moveTo>
                <a:lnTo>
                  <a:pt x="1446" y="0"/>
                </a:lnTo>
                <a:lnTo>
                  <a:pt x="1446" y="458"/>
                </a:lnTo>
                <a:lnTo>
                  <a:pt x="438" y="458"/>
                </a:lnTo>
                <a:lnTo>
                  <a:pt x="438" y="1446"/>
                </a:lnTo>
                <a:lnTo>
                  <a:pt x="0" y="1446"/>
                </a:lnTo>
                <a:lnTo>
                  <a:pt x="0" y="0"/>
                </a:lnTo>
                <a:close/>
              </a:path>
            </a:pathLst>
          </a:custGeom>
          <a:solidFill>
            <a:srgbClr val="202A36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0" name="Freeform 12"/>
          <p:cNvSpPr/>
          <p:nvPr/>
        </p:nvSpPr>
        <p:spPr bwMode="auto">
          <a:xfrm flipH="1" flipV="1">
            <a:off x="10249469" y="5993854"/>
            <a:ext cx="528638" cy="530225"/>
          </a:xfrm>
          <a:custGeom>
            <a:avLst/>
            <a:gdLst>
              <a:gd name="T0" fmla="*/ 0 w 1446"/>
              <a:gd name="T1" fmla="*/ 0 h 1446"/>
              <a:gd name="T2" fmla="*/ 1446 w 1446"/>
              <a:gd name="T3" fmla="*/ 0 h 1446"/>
              <a:gd name="T4" fmla="*/ 1446 w 1446"/>
              <a:gd name="T5" fmla="*/ 458 h 1446"/>
              <a:gd name="T6" fmla="*/ 438 w 1446"/>
              <a:gd name="T7" fmla="*/ 458 h 1446"/>
              <a:gd name="T8" fmla="*/ 438 w 1446"/>
              <a:gd name="T9" fmla="*/ 1446 h 1446"/>
              <a:gd name="T10" fmla="*/ 0 w 1446"/>
              <a:gd name="T11" fmla="*/ 1446 h 1446"/>
              <a:gd name="T12" fmla="*/ 0 w 1446"/>
              <a:gd name="T13" fmla="*/ 0 h 14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46" h="1446">
                <a:moveTo>
                  <a:pt x="0" y="0"/>
                </a:moveTo>
                <a:lnTo>
                  <a:pt x="1446" y="0"/>
                </a:lnTo>
                <a:lnTo>
                  <a:pt x="1446" y="458"/>
                </a:lnTo>
                <a:lnTo>
                  <a:pt x="438" y="458"/>
                </a:lnTo>
                <a:lnTo>
                  <a:pt x="438" y="1446"/>
                </a:lnTo>
                <a:lnTo>
                  <a:pt x="0" y="1446"/>
                </a:lnTo>
                <a:lnTo>
                  <a:pt x="0" y="0"/>
                </a:lnTo>
                <a:close/>
              </a:path>
            </a:pathLst>
          </a:custGeom>
          <a:solidFill>
            <a:srgbClr val="202A36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1" name="TextBox 35"/>
          <p:cNvSpPr txBox="1"/>
          <p:nvPr/>
        </p:nvSpPr>
        <p:spPr>
          <a:xfrm>
            <a:off x="1919654" y="5259044"/>
            <a:ext cx="8545239" cy="991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</a:pPr>
            <a:r>
              <a:rPr lang="zh-CN" altLang="en-US" sz="15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为保障论文高质高效完成，我将制定详细的研究计划和时间表，确保研究的进度和质量；研究过程中遇到问题与困难时及时与导师进行沟通和交流；实验结束后将认真撰写和完善论文的每一部分，确保论文的逻辑性和连贯性；同时会定期进行自我评估和反思，及时调整研究计划和方向。</a:t>
            </a:r>
            <a:endParaRPr lang="zh-CN" altLang="en-US" sz="15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  <p:bldLst>
      <p:bldP spid="42" grpId="0"/>
      <p:bldP spid="44" grpId="0"/>
      <p:bldP spid="46" grpId="0"/>
      <p:bldP spid="48" grpId="0"/>
      <p:bldP spid="49" grpId="0" bldLvl="0" animBg="1"/>
      <p:bldP spid="49" grpId="1" bldLvl="0" animBg="1"/>
      <p:bldP spid="50" grpId="0" bldLvl="0" animBg="1"/>
      <p:bldP spid="50" grpId="1" bldLvl="0" animBg="1"/>
      <p:bldP spid="5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525" y="0"/>
            <a:ext cx="1220089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1528564" y="2142431"/>
            <a:ext cx="9144000" cy="124523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L="0" lvl="1" algn="ctr" eaLnBrk="1" fontAlgn="auto" hangingPunct="1">
              <a:lnSpc>
                <a:spcPts val="9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800" b="1" spc="300" dirty="0">
                <a:solidFill>
                  <a:srgbClr val="74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感谢各位老师批评指正</a:t>
            </a:r>
            <a:endParaRPr lang="zh-CN" altLang="en-US" sz="4800" b="1" spc="300" dirty="0">
              <a:solidFill>
                <a:srgbClr val="74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5364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663" y="188913"/>
            <a:ext cx="2416175" cy="48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 Box 4"/>
          <p:cNvSpPr txBox="1">
            <a:spLocks noChangeArrowheads="1"/>
          </p:cNvSpPr>
          <p:nvPr/>
        </p:nvSpPr>
        <p:spPr bwMode="auto">
          <a:xfrm>
            <a:off x="3425825" y="3429000"/>
            <a:ext cx="5355590" cy="1014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50000"/>
              </a:lnSpc>
              <a:spcAft>
                <a:spcPts val="0"/>
              </a:spcAft>
            </a:pP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答辩人：蒋奕文</a:t>
            </a:r>
            <a:endParaRPr lang="zh-CN" altLang="en-US" sz="2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ctr" eaLnBrk="1" hangingPunct="1">
              <a:lnSpc>
                <a:spcPct val="150000"/>
              </a:lnSpc>
              <a:spcAft>
                <a:spcPts val="0"/>
              </a:spcAft>
            </a:pP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时间：</a:t>
            </a:r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2026</a:t>
            </a: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</a:t>
            </a:r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</a:t>
            </a: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月</a:t>
            </a:r>
            <a:r>
              <a:rPr lang="en-US" altLang="zh-CN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8</a:t>
            </a:r>
            <a:r>
              <a:rPr lang="zh-CN" altLang="en-US" sz="2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日</a:t>
            </a:r>
            <a:endParaRPr lang="zh-CN" altLang="en-US" sz="2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tags/tag1.xml><?xml version="1.0" encoding="utf-8"?>
<p:tagLst xmlns:p="http://schemas.openxmlformats.org/presentationml/2006/main">
  <p:tag name="KSO_WM_SLIDE_MODEL_TYPE" val="cover"/>
</p:tagLst>
</file>

<file path=ppt/tags/tag2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3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4.xml><?xml version="1.0" encoding="utf-8"?>
<p:tagLst xmlns:p="http://schemas.openxmlformats.org/presentationml/2006/main">
  <p:tag name="KSO_WM_DIAGRAM_VIRTUALLY_FRAME" val="{&quot;height&quot;:291.85,&quot;left&quot;:53.85,&quot;top&quot;:150.95,&quot;width&quot;:702.35}"/>
</p:tagLst>
</file>

<file path=ppt/tags/tag5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6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7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8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9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10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11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12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13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14.xml><?xml version="1.0" encoding="utf-8"?>
<p:tagLst xmlns:p="http://schemas.openxmlformats.org/presentationml/2006/main">
  <p:tag name="KSO_WM_DIAGRAM_VIRTUALLY_FRAME" val="{&quot;height&quot;:291.8,&quot;left&quot;:42,&quot;top&quot;:150.95,&quot;width&quot;:752.05}"/>
</p:tagLst>
</file>

<file path=ppt/tags/tag15.xml><?xml version="1.0" encoding="utf-8"?>
<p:tagLst xmlns:p="http://schemas.openxmlformats.org/presentationml/2006/main">
  <p:tag name="KSO_WM_DIAGRAM_VIRTUALLY_FRAME" val="{&quot;height&quot;:385.75,&quot;left&quot;:56.9,&quot;top&quot;:114.25,&quot;width&quot;:843.1}"/>
</p:tagLst>
</file>

<file path=ppt/tags/tag16.xml><?xml version="1.0" encoding="utf-8"?>
<p:tagLst xmlns:p="http://schemas.openxmlformats.org/presentationml/2006/main">
  <p:tag name="KSO_WM_DIAGRAM_VIRTUALLY_FRAME" val="{&quot;height&quot;:385.75,&quot;left&quot;:56.9,&quot;top&quot;:114.25,&quot;width&quot;:843.1}"/>
</p:tagLst>
</file>

<file path=ppt/tags/tag17.xml><?xml version="1.0" encoding="utf-8"?>
<p:tagLst xmlns:p="http://schemas.openxmlformats.org/presentationml/2006/main">
  <p:tag name="KSO_WM_BEAUTIFY_FLAG" val=""/>
  <p:tag name="KSO_WM_DIAGRAM_VIRTUALLY_FRAME" val="{&quot;height&quot;:425.32811023622054,&quot;left&quot;:653.7875590551181,&quot;top&quot;:86.48370078740157,&quot;width&quot;:321.93716535433066}"/>
</p:tagLst>
</file>

<file path=ppt/tags/tag18.xml><?xml version="1.0" encoding="utf-8"?>
<p:tagLst xmlns:p="http://schemas.openxmlformats.org/presentationml/2006/main">
  <p:tag name="KSO_WM_BEAUTIFY_FLAG" val=""/>
  <p:tag name="KSO_WM_DIAGRAM_VIRTUALLY_FRAME" val="{&quot;height&quot;:425.32811023622054,&quot;left&quot;:653.7875590551181,&quot;top&quot;:86.48370078740157,&quot;width&quot;:321.93716535433066}"/>
</p:tagLst>
</file>

<file path=ppt/tags/tag19.xml><?xml version="1.0" encoding="utf-8"?>
<p:tagLst xmlns:p="http://schemas.openxmlformats.org/presentationml/2006/main">
  <p:tag name="KSO_WM_DIAGRAM_VIRTUALLY_FRAME" val="{&quot;height&quot;:385.75,&quot;left&quot;:56.9,&quot;top&quot;:114.25,&quot;width&quot;:843.1}"/>
</p:tagLst>
</file>

<file path=ppt/tags/tag20.xml><?xml version="1.0" encoding="utf-8"?>
<p:tagLst xmlns:p="http://schemas.openxmlformats.org/presentationml/2006/main">
  <p:tag name="KSO_WM_BEAUTIFY_FLAG" val=""/>
  <p:tag name="KSO_WM_DIAGRAM_VIRTUALLY_FRAME" val="{&quot;height&quot;:425.32811023622054,&quot;left&quot;:653.7875590551181,&quot;top&quot;:86.48370078740157,&quot;width&quot;:321.93716535433066}"/>
</p:tagLst>
</file>

<file path=ppt/tags/tag21.xml><?xml version="1.0" encoding="utf-8"?>
<p:tagLst xmlns:p="http://schemas.openxmlformats.org/presentationml/2006/main">
  <p:tag name="KSO_WM_BEAUTIFY_FLAG" val=""/>
  <p:tag name="KSO_WM_DIAGRAM_VIRTUALLY_FRAME" val="{&quot;height&quot;:425.32811023622054,&quot;left&quot;:653.7875590551181,&quot;top&quot;:86.48370078740157,&quot;width&quot;:321.93716535433066}"/>
</p:tagLst>
</file>

<file path=ppt/tags/tag22.xml><?xml version="1.0" encoding="utf-8"?>
<p:tagLst xmlns:p="http://schemas.openxmlformats.org/presentationml/2006/main">
  <p:tag name="KSO_WM_DIAGRAM_VIRTUALLY_FRAME" val="{&quot;height&quot;:385.75,&quot;left&quot;:56.9,&quot;top&quot;:114.25,&quot;width&quot;:843.1}"/>
</p:tagLst>
</file>

<file path=ppt/tags/tag23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24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25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26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27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28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29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30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31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32.xml><?xml version="1.0" encoding="utf-8"?>
<p:tagLst xmlns:p="http://schemas.openxmlformats.org/presentationml/2006/main">
  <p:tag name="KSO_WM_DIAGRAM_VIRTUALLY_FRAME" val="{&quot;height&quot;:340,&quot;left&quot;:43.05,&quot;top&quot;:123.05,&quot;width&quot;:872.5}"/>
</p:tagLst>
</file>

<file path=ppt/tags/tag33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34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35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36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37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38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39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40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41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42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43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44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45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46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47.xml><?xml version="1.0" encoding="utf-8"?>
<p:tagLst xmlns:p="http://schemas.openxmlformats.org/presentationml/2006/main">
  <p:tag name="KSO_WM_DIAGRAM_VIRTUALLY_FRAME" val="{&quot;height&quot;:378.8,&quot;left&quot;:49.1,&quot;top&quot;:150,&quot;width&quot;:897.85}"/>
</p:tagLst>
</file>

<file path=ppt/tags/tag48.xml><?xml version="1.0" encoding="utf-8"?>
<p:tagLst xmlns:p="http://schemas.openxmlformats.org/presentationml/2006/main">
  <p:tag name="TABLE_ENDDRAG_ORIGIN_RECT" val="392*322"/>
  <p:tag name="TABLE_ENDDRAG_RECT" val="476*195*392*322"/>
</p:tagLst>
</file>

<file path=ppt/tags/tag49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0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1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2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3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4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5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6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7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8.xml><?xml version="1.0" encoding="utf-8"?>
<p:tagLst xmlns:p="http://schemas.openxmlformats.org/presentationml/2006/main">
  <p:tag name="KSO_WM_DIAGRAM_VIRTUALLY_FRAME" val="{&quot;height&quot;:413.45,&quot;left&quot;:20.7,&quot;top&quot;:120,&quot;width&quot;:906.65}"/>
</p:tagLst>
</file>

<file path=ppt/tags/tag59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0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1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2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3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4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5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6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7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8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69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70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71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72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73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74.xml><?xml version="1.0" encoding="utf-8"?>
<p:tagLst xmlns:p="http://schemas.openxmlformats.org/presentationml/2006/main">
  <p:tag name="KSO_WM_DIAGRAM_VIRTUALLY_FRAME" val="{&quot;height&quot;:253.88826771653538,&quot;left&quot;:130.5355118110236,&quot;top&quot;:145.162125984252,&quot;width&quot;:706.2981102362204}"/>
</p:tagLst>
</file>

<file path=ppt/tags/tag75.xml><?xml version="1.0" encoding="utf-8"?>
<p:tagLst xmlns:p="http://schemas.openxmlformats.org/presentationml/2006/main">
  <p:tag name="KSO_WM_SLIDE_MODEL_TYPE" val="cover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ain">
  <a:themeElements>
    <a:clrScheme name="mai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ain">
      <a:majorFont>
        <a:latin typeface="HY헤드라인M"/>
        <a:ea typeface="HY헤드라인M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ko-K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Gulim" pitchFamily="34" charset="-127"/>
            <a:ea typeface="Gulim" pitchFamily="34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ko-K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Gulim" pitchFamily="34" charset="-127"/>
            <a:ea typeface="Gulim" pitchFamily="34" charset="-127"/>
          </a:defRPr>
        </a:defPPr>
      </a:lstStyle>
    </a:lnDef>
  </a:objectDefaults>
  <a:extraClrSchemeLst>
    <a:extraClrScheme>
      <a:clrScheme name="mai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ai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ai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ai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ai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ai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ai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ai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ai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ai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ai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ai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4953</Words>
  <Application>WPS 演示</Application>
  <PresentationFormat>宽屏</PresentationFormat>
  <Paragraphs>359</Paragraphs>
  <Slides>14</Slides>
  <Notes>20</Notes>
  <HiddenSlides>0</HiddenSlides>
  <MMClips>0</MMClips>
  <ScaleCrop>false</ScaleCrop>
  <HeadingPairs>
    <vt:vector size="8" baseType="variant">
      <vt:variant>
        <vt:lpstr>已用的字体</vt:lpstr>
      </vt:variant>
      <vt:variant>
        <vt:i4>28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45" baseType="lpstr">
      <vt:lpstr>Arial</vt:lpstr>
      <vt:lpstr>宋体</vt:lpstr>
      <vt:lpstr>Wingdings</vt:lpstr>
      <vt:lpstr>Calibri</vt:lpstr>
      <vt:lpstr>Gulim</vt:lpstr>
      <vt:lpstr>Malgun Gothic</vt:lpstr>
      <vt:lpstr>Impact</vt:lpstr>
      <vt:lpstr>HY헤드라인M</vt:lpstr>
      <vt:lpstr>Segoe Print</vt:lpstr>
      <vt:lpstr>HY헤드라인M</vt:lpstr>
      <vt:lpstr>微软雅黑</vt:lpstr>
      <vt:lpstr>黑体</vt:lpstr>
      <vt:lpstr>Times New Roman</vt:lpstr>
      <vt:lpstr>Noto Sans SC</vt:lpstr>
      <vt:lpstr>Wingdings 3</vt:lpstr>
      <vt:lpstr>Wingdings</vt:lpstr>
      <vt:lpstr>Mongolian Baiti</vt:lpstr>
      <vt:lpstr>Cambria Math</vt:lpstr>
      <vt:lpstr>Arial Unicode MS</vt:lpstr>
      <vt:lpstr>MS Mincho</vt:lpstr>
      <vt:lpstr>Roboto Regular</vt:lpstr>
      <vt:lpstr>等线</vt:lpstr>
      <vt:lpstr>Wide Latin</vt:lpstr>
      <vt:lpstr>ui-sans-serif</vt:lpstr>
      <vt:lpstr>Times New Roman</vt:lpstr>
      <vt:lpstr>汉仪铁线黑-65简</vt:lpstr>
      <vt:lpstr>思源黑体 CN Normal</vt:lpstr>
      <vt:lpstr>思源黑体 CN Bold</vt:lpstr>
      <vt:lpstr>Office 主题</vt:lpstr>
      <vt:lpstr>main</vt:lpstr>
      <vt:lpstr>Equation.KSEE3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Dell</dc:creator>
  <cp:lastModifiedBy>Vincent.</cp:lastModifiedBy>
  <cp:revision>1756</cp:revision>
  <dcterms:created xsi:type="dcterms:W3CDTF">2014-06-18T05:07:00Z</dcterms:created>
  <dcterms:modified xsi:type="dcterms:W3CDTF">2026-06-07T15:30:46Z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113401DAA9C94CEAAF2198A8AF835170_13</vt:lpwstr>
  </property>
</Properties>
</file>