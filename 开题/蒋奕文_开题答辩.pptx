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0.svg" ContentType="image/svg+xml"/>
  <Override PartName="/ppt/media/image12.svg" ContentType="image/svg+xml"/>
  <Override PartName="/ppt/media/image14.svg" ContentType="image/svg+xml"/>
  <Override PartName="/ppt/media/image16.svg" ContentType="image/svg+xml"/>
  <Override PartName="/ppt/media/image1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notesMasterIdLst>
    <p:notesMasterId r:id="rId5"/>
  </p:notesMasterIdLst>
  <p:sldIdLst>
    <p:sldId id="423" r:id="rId4"/>
    <p:sldId id="425" r:id="rId6"/>
    <p:sldId id="449" r:id="rId7"/>
    <p:sldId id="426" r:id="rId8"/>
    <p:sldId id="455" r:id="rId9"/>
    <p:sldId id="430" r:id="rId10"/>
    <p:sldId id="433" r:id="rId11"/>
    <p:sldId id="437" r:id="rId12"/>
    <p:sldId id="453" r:id="rId13"/>
    <p:sldId id="461" r:id="rId14"/>
    <p:sldId id="464" r:id="rId15"/>
    <p:sldId id="465" r:id="rId16"/>
    <p:sldId id="448" r:id="rId17"/>
    <p:sldId id="421" r:id="rId18"/>
  </p:sldIdLst>
  <p:sldSz cx="12192000" cy="6858000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36" userDrawn="1">
          <p15:clr>
            <a:srgbClr val="A4A3A4"/>
          </p15:clr>
        </p15:guide>
        <p15:guide id="2" pos="361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45309"/>
    <a:srgbClr val="E46C0A"/>
    <a:srgbClr val="EEE4E2"/>
    <a:srgbClr val="F4DBDD"/>
    <a:srgbClr val="E9F3DB"/>
    <a:srgbClr val="89393B"/>
    <a:srgbClr val="7A6060"/>
    <a:srgbClr val="404040"/>
    <a:srgbClr val="811E23"/>
    <a:srgbClr val="79101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319" autoAdjust="0"/>
    <p:restoredTop sz="95058" autoAdjust="0"/>
  </p:normalViewPr>
  <p:slideViewPr>
    <p:cSldViewPr showGuides="1">
      <p:cViewPr varScale="1">
        <p:scale>
          <a:sx n="87" d="100"/>
          <a:sy n="87" d="100"/>
        </p:scale>
        <p:origin x="78" y="30"/>
      </p:cViewPr>
      <p:guideLst>
        <p:guide orient="horz" pos="2236"/>
        <p:guide pos="3613"/>
      </p:guideLst>
    </p:cSldViewPr>
  </p:slideViewPr>
  <p:outlineViewPr>
    <p:cViewPr>
      <p:scale>
        <a:sx n="33" d="100"/>
        <a:sy n="33" d="100"/>
      </p:scale>
      <p:origin x="0" y="60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AE365C8A-5979-44FB-8B1D-48A57240CD4A}" type="datetimeFigureOut">
              <a:rPr lang="zh-CN" altLang="en-US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/>
              <a:t>单击此处编辑母版文本样式</a:t>
            </a:r>
            <a:endParaRPr lang="zh-CN" altLang="en-US" noProof="0"/>
          </a:p>
          <a:p>
            <a:pPr lvl="1"/>
            <a:r>
              <a:rPr lang="zh-CN" altLang="en-US" noProof="0"/>
              <a:t>第二级</a:t>
            </a:r>
            <a:endParaRPr lang="zh-CN" altLang="en-US" noProof="0"/>
          </a:p>
          <a:p>
            <a:pPr lvl="2"/>
            <a:r>
              <a:rPr lang="zh-CN" altLang="en-US" noProof="0"/>
              <a:t>第三级</a:t>
            </a:r>
            <a:endParaRPr lang="zh-CN" altLang="en-US" noProof="0"/>
          </a:p>
          <a:p>
            <a:pPr lvl="3"/>
            <a:r>
              <a:rPr lang="zh-CN" altLang="en-US" noProof="0"/>
              <a:t>第四级</a:t>
            </a:r>
            <a:endParaRPr lang="zh-CN" altLang="en-US" noProof="0"/>
          </a:p>
          <a:p>
            <a:pPr lvl="4"/>
            <a:r>
              <a:rPr lang="zh-CN" altLang="en-US" noProof="0"/>
              <a:t>第五级</a:t>
            </a:r>
            <a:endParaRPr lang="zh-CN" altLang="en-US" noProof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fld id="{7B2911A5-62DE-401D-BCB7-20341B72CEA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fld id="{7B2911A5-62DE-401D-BCB7-20341B72CEA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fld id="{7B2911A5-62DE-401D-BCB7-20341B72CEA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fld id="{7B2911A5-62DE-401D-BCB7-20341B72CEA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fld id="{7B2911A5-62DE-401D-BCB7-20341B72CEA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fld id="{7B2911A5-62DE-401D-BCB7-20341B72CEA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fld id="{7B2911A5-62DE-401D-BCB7-20341B72CEA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fld id="{7B2911A5-62DE-401D-BCB7-20341B72CEA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fld id="{7B2911A5-62DE-401D-BCB7-20341B72CEA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fld id="{7B2911A5-62DE-401D-BCB7-20341B72CEA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fld id="{7B2911A5-62DE-401D-BCB7-20341B72CEA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fld id="{7B2911A5-62DE-401D-BCB7-20341B72CEA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fld id="{7B2911A5-62DE-401D-BCB7-20341B72CEA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fld id="{7B2911A5-62DE-401D-BCB7-20341B72CEA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99B212A-BDF9-4572-BA8F-75E5875351BB}" type="datetimeFigureOut">
              <a:rPr lang="zh-CN" altLang="en-US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9C957E-7E66-44E7-A832-473B371A2E23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D336C76-91C8-4067-A345-7FCBF85E4672}" type="datetimeFigureOut">
              <a:rPr lang="zh-CN" altLang="en-US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DC501DE-FF77-4970-AC0B-28A9A40DD6E3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5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3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56667" y="647700"/>
            <a:ext cx="7488767" cy="44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图片 6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700" y="241300"/>
            <a:ext cx="3589867" cy="54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8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7467E4-390B-46B7-B212-90CA7FF51CF7}" type="datetimeFigureOut">
              <a:rPr lang="zh-CN" altLang="en-US"/>
            </a:fld>
            <a:endParaRPr lang="zh-CN" altLang="en-US"/>
          </a:p>
        </p:txBody>
      </p:sp>
      <p:sp>
        <p:nvSpPr>
          <p:cNvPr id="9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7B75D6D-2D2B-4193-9DF5-E1D37365CDA0}" type="datetimeFigureOut">
              <a:rPr lang="zh-CN" altLang="en-US"/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F5DCE62-B857-447D-8D97-B72A67645BAA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7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7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17678C-879C-4D9C-963B-90B49EE1DC90}" type="datetimeFigureOut">
              <a:rPr lang="zh-CN" altLang="en-US"/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97AAA46-E34C-4EBE-8E66-369D36BCB1C0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969C068-DFB3-485E-BC9D-4E5A5E935F34}" type="datetimeFigureOut">
              <a:rPr lang="zh-CN" altLang="en-US"/>
            </a:fld>
            <a:endParaRPr lang="zh-CN" altLang="en-US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DFDA1B0-4F30-4D2B-A4A2-EF66D3E0DFA2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4FBAF1C-BB4A-4165-95E8-AA0220494D81}" type="datetimeFigureOut">
              <a:rPr lang="zh-CN" altLang="en-US"/>
            </a:fld>
            <a:endParaRPr lang="zh-CN" altLang="en-US"/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4192AD4-421B-4B1C-B721-585E0D87EF33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55DB6F4-A280-4A26-8B1A-A807BF3C8D26}" type="datetimeFigureOut">
              <a:rPr lang="zh-CN" altLang="en-US"/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1454498-5A45-4AA3-9350-E8A18C0CF694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DA0EABF-25A7-46FB-BF48-4943BC4549B9}" type="datetimeFigureOut">
              <a:rPr lang="zh-CN" altLang="en-US"/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13B7E86-37FB-46D4-A5AE-918BE52C6FA1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5E6F08A-C722-4BA4-915D-AE317A7A378A}" type="datetimeFigureOut">
              <a:rPr lang="zh-CN" altLang="en-US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3713AE5-03B8-4DE4-91BE-27A07F02D367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A0407FD-2F16-4BD1-AA8D-920433646B84}" type="datetimeFigureOut">
              <a:rPr lang="zh-CN" altLang="en-US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5F2CFE0-C2F0-4094-B996-46A6F14EBE1E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53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latinLnBrk="0" hangingPunct="0">
              <a:defRPr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latinLnBrk="0" hangingPunct="0">
              <a:defRPr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latinLnBrk="0" hangingPunct="0">
              <a:defRPr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fld id="{F769E745-CF32-4FD8-9E5D-1ABFF3451395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latinLnBrk="0" hangingPunct="0">
              <a:defRPr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latinLnBrk="0" hangingPunct="0">
              <a:defRPr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latinLnBrk="0" hangingPunct="0">
              <a:defRPr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fld id="{6B0FC7E9-9D8C-47A8-B43A-B7738C6679EC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5" y="440691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5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latinLnBrk="0" hangingPunct="0">
              <a:defRPr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latinLnBrk="0" hangingPunct="0">
              <a:defRPr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latinLnBrk="0" hangingPunct="0">
              <a:defRPr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fld id="{DAD93510-583D-4A78-BC75-52BA27ABF8FB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4417" y="1125539"/>
            <a:ext cx="5384800" cy="50006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12417" y="1125539"/>
            <a:ext cx="5384800" cy="50006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latinLnBrk="0" hangingPunct="0">
              <a:defRPr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latinLnBrk="0" hangingPunct="0">
              <a:defRPr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latinLnBrk="0" hangingPunct="0">
              <a:defRPr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fld id="{D287AF28-F7CB-47C0-8E2B-3F4270622E0D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7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77" y="1535113"/>
            <a:ext cx="5389033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77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latinLnBrk="0" hangingPunct="0">
              <a:defRPr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latinLnBrk="0" hangingPunct="0">
              <a:defRPr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latinLnBrk="0" hangingPunct="0">
              <a:defRPr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fld id="{B9CA7A16-4AD5-40F5-B8E0-8DAC29E69E63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>
    <p:fad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latinLnBrk="0" hangingPunct="0">
              <a:defRPr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latinLnBrk="0" hangingPunct="0">
              <a:defRPr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latinLnBrk="0" hangingPunct="0">
              <a:defRPr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fld id="{0F583E1A-22D6-4410-B88C-9B24FA498987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>
    <p:fad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latinLnBrk="0" hangingPunct="0">
              <a:defRPr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latinLnBrk="0" hangingPunct="0">
              <a:defRPr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latinLnBrk="0" hangingPunct="0">
              <a:defRPr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fld id="{956770E0-638A-4EED-962E-EE0248CA6DB2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>
    <p:fad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25" y="273049"/>
            <a:ext cx="4011084" cy="11620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7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25" y="1435104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latinLnBrk="0" hangingPunct="0">
              <a:defRPr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latinLnBrk="0" hangingPunct="0">
              <a:defRPr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latinLnBrk="0" hangingPunct="0">
              <a:defRPr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fld id="{B0086B61-90C9-40DB-A0B6-6FAD287F10AE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>
    <p:fade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9" y="4800601"/>
            <a:ext cx="7315200" cy="56673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9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9" y="5367354"/>
            <a:ext cx="7315200" cy="8048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latinLnBrk="0" hangingPunct="0">
              <a:defRPr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latinLnBrk="0" hangingPunct="0">
              <a:defRPr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latinLnBrk="0" hangingPunct="0">
              <a:defRPr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fld id="{2E83BEC3-7499-4242-A4CD-12C7A4963AAF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>
    <p:fade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latinLnBrk="0" hangingPunct="0">
              <a:defRPr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latinLnBrk="0" hangingPunct="0">
              <a:defRPr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latinLnBrk="0" hangingPunct="0">
              <a:defRPr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fld id="{5713EB95-E038-4E58-8B25-05E520A76A44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>
    <p:fade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51900" y="115901"/>
            <a:ext cx="2745317" cy="601027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19" y="115901"/>
            <a:ext cx="8039100" cy="601027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latinLnBrk="0" hangingPunct="0">
              <a:defRPr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latinLnBrk="0" hangingPunct="0">
              <a:defRPr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latinLnBrk="0" hangingPunct="0">
              <a:defRPr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fld id="{0CA1A004-AD34-4FFB-B971-9DF9C45D6599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4" Type="http://schemas.openxmlformats.org/officeDocument/2006/relationships/theme" Target="../theme/theme2.xml"/><Relationship Id="rId13" Type="http://schemas.openxmlformats.org/officeDocument/2006/relationships/image" Target="../media/image5.png"/><Relationship Id="rId12" Type="http://schemas.openxmlformats.org/officeDocument/2006/relationships/image" Target="../media/image4.png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609600" y="1600200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A3693065-A409-4CEF-B33B-549216B21A0C}" type="datetimeFigureOut">
              <a:rPr lang="zh-CN" altLang="en-US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 eaLnBrk="1" hangingPunct="1">
              <a:defRPr sz="120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fld id="{32881E3B-0EA9-41E5-826A-6043103F7E75}" type="slidenum">
              <a:rPr lang="zh-CN" altLang="en-US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156" descr="투명배경"/>
          <p:cNvPicPr>
            <a:picLocks noChangeAspect="1" noChangeArrowheads="1"/>
          </p:cNvPicPr>
          <p:nvPr userDrawn="1"/>
        </p:nvPicPr>
        <p:blipFill>
          <a:blip r:embed="rId12" cstate="print">
            <a:lum bright="32000" contrast="-3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567" y="2492375"/>
            <a:ext cx="12145433" cy="4365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1" name="Picture 155" descr="칸1"/>
          <p:cNvPicPr>
            <a:picLocks noChangeAspect="1" noChangeArrowheads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836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52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latinLnBrk="1" hangingPunct="1">
              <a:defRPr sz="1400" b="0">
                <a:solidFill>
                  <a:srgbClr val="000000"/>
                </a:solidFill>
                <a:latin typeface="Gulim" pitchFamily="34" charset="-127"/>
                <a:ea typeface="Gulim" pitchFamily="34" charset="-127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5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24417" y="1125538"/>
            <a:ext cx="10972800" cy="5000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ko-KR"/>
              <a:t>Click to edit Master text styles</a:t>
            </a:r>
            <a:endParaRPr lang="zh-CN" altLang="ko-KR"/>
          </a:p>
          <a:p>
            <a:pPr lvl="1"/>
            <a:r>
              <a:rPr lang="zh-CN" altLang="ko-KR"/>
              <a:t>Second level</a:t>
            </a:r>
            <a:endParaRPr lang="zh-CN" altLang="ko-KR"/>
          </a:p>
          <a:p>
            <a:pPr lvl="2"/>
            <a:r>
              <a:rPr lang="zh-CN" altLang="ko-KR"/>
              <a:t>Third level</a:t>
            </a:r>
            <a:endParaRPr lang="zh-CN" altLang="ko-KR"/>
          </a:p>
          <a:p>
            <a:pPr lvl="3"/>
            <a:r>
              <a:rPr lang="zh-CN" altLang="ko-KR"/>
              <a:t>Fourth level</a:t>
            </a:r>
            <a:endParaRPr lang="zh-CN" altLang="ko-KR"/>
          </a:p>
          <a:p>
            <a:pPr lvl="4"/>
            <a:r>
              <a:rPr lang="zh-CN" altLang="ko-KR"/>
              <a:t>Fifth level</a:t>
            </a:r>
            <a:endParaRPr lang="zh-CN" altLang="ko-KR"/>
          </a:p>
        </p:txBody>
      </p:sp>
      <p:sp>
        <p:nvSpPr>
          <p:cNvPr id="2054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 eaLnBrk="1" latinLnBrk="1" hangingPunct="1">
              <a:defRPr sz="1400" b="0">
                <a:solidFill>
                  <a:srgbClr val="000000"/>
                </a:solidFill>
                <a:latin typeface="Gulim" pitchFamily="34" charset="-127"/>
                <a:ea typeface="Gulim" pitchFamily="34" charset="-127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55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latinLnBrk="1" hangingPunct="1">
              <a:defRPr sz="1400">
                <a:solidFill>
                  <a:srgbClr val="000000"/>
                </a:solidFill>
                <a:latin typeface="Gulim" pitchFamily="34" charset="-127"/>
                <a:ea typeface="Gulim" pitchFamily="34" charset="-127"/>
              </a:defRPr>
            </a:lvl1pPr>
          </a:lstStyle>
          <a:p>
            <a:fld id="{3B4CB6AC-3873-49F0-BD66-FA1948DFFBF5}" type="slidenum">
              <a:rPr lang="en-US" altLang="zh-CN"/>
            </a:fld>
            <a:endParaRPr lang="en-US" altLang="zh-CN"/>
          </a:p>
        </p:txBody>
      </p:sp>
      <p:grpSp>
        <p:nvGrpSpPr>
          <p:cNvPr id="2056" name="Group 8"/>
          <p:cNvGrpSpPr/>
          <p:nvPr userDrawn="1"/>
        </p:nvGrpSpPr>
        <p:grpSpPr bwMode="auto">
          <a:xfrm>
            <a:off x="436033" y="6408738"/>
            <a:ext cx="3119967" cy="260350"/>
            <a:chOff x="0" y="0"/>
            <a:chExt cx="1474" cy="164"/>
          </a:xfrm>
        </p:grpSpPr>
        <p:sp>
          <p:nvSpPr>
            <p:cNvPr id="2058" name="WordArt 124"/>
            <p:cNvSpPr>
              <a:spLocks noChangeArrowheads="1" noChangeShapeType="1" noTextEdit="1"/>
            </p:cNvSpPr>
            <p:nvPr/>
          </p:nvSpPr>
          <p:spPr bwMode="auto">
            <a:xfrm>
              <a:off x="0" y="0"/>
              <a:ext cx="653" cy="164"/>
            </a:xfrm>
            <a:prstGeom prst="rect">
              <a:avLst/>
            </a:prstGeom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en-US" altLang="zh-CN" sz="1400" b="1" kern="10" spc="-70">
                  <a:solidFill>
                    <a:srgbClr val="333333">
                      <a:alpha val="89803"/>
                    </a:srgbClr>
                  </a:solidFill>
                  <a:latin typeface="Impact" panose="020B0806030902050204" pitchFamily="34" charset="0"/>
                </a:rPr>
                <a:t>' LOGO '</a:t>
              </a:r>
              <a:endParaRPr lang="zh-CN" altLang="en-US" sz="1400" b="1" kern="10" spc="-70">
                <a:solidFill>
                  <a:srgbClr val="333333">
                    <a:alpha val="89803"/>
                  </a:srgbClr>
                </a:solidFill>
                <a:latin typeface="Impact" panose="020B0806030902050204" pitchFamily="34" charset="0"/>
              </a:endParaRPr>
            </a:p>
          </p:txBody>
        </p:sp>
        <p:sp>
          <p:nvSpPr>
            <p:cNvPr id="2059" name="WordArt 125"/>
            <p:cNvSpPr>
              <a:spLocks noChangeArrowheads="1" noChangeShapeType="1" noTextEdit="1"/>
            </p:cNvSpPr>
            <p:nvPr/>
          </p:nvSpPr>
          <p:spPr bwMode="auto">
            <a:xfrm>
              <a:off x="657" y="105"/>
              <a:ext cx="817" cy="41"/>
            </a:xfrm>
            <a:prstGeom prst="rect">
              <a:avLst/>
            </a:prstGeom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r>
                <a:rPr lang="en-US" altLang="zh-CN" sz="800" b="1" kern="10" spc="-40">
                  <a:solidFill>
                    <a:srgbClr val="333333">
                      <a:alpha val="89803"/>
                    </a:srgbClr>
                  </a:solidFill>
                  <a:cs typeface="Arial" panose="020B0604020202020204" pitchFamily="34" charset="0"/>
                </a:rPr>
                <a:t>COMPANY LOGOTYPE INSERT</a:t>
              </a:r>
              <a:endParaRPr lang="zh-CN" altLang="en-US" sz="800" b="1" kern="10" spc="-40">
                <a:solidFill>
                  <a:srgbClr val="333333">
                    <a:alpha val="89803"/>
                  </a:srgbClr>
                </a:solidFill>
                <a:cs typeface="Arial" panose="020B0604020202020204" pitchFamily="34" charset="0"/>
              </a:endParaRPr>
            </a:p>
          </p:txBody>
        </p:sp>
      </p:grpSp>
      <p:sp>
        <p:nvSpPr>
          <p:cNvPr id="2057" name="Rectangle 127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115888"/>
            <a:ext cx="10972800" cy="417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ko-KR" altLang="zh-CN"/>
              <a:t>마스터 제목 스타일 편집</a:t>
            </a:r>
            <a:endParaRPr lang="ko-KR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ransition>
    <p:fade/>
  </p:transition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sz="3000">
          <a:solidFill>
            <a:schemeClr val="bg1"/>
          </a:solidFill>
          <a:latin typeface="+mj-lt"/>
          <a:ea typeface="+mj-ea"/>
          <a:cs typeface="HY헤드라인M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sz="3000">
          <a:solidFill>
            <a:schemeClr val="bg1"/>
          </a:solidFill>
          <a:latin typeface="HY헤드라인M" pitchFamily="2" charset="-127"/>
          <a:ea typeface="HY헤드라인M" pitchFamily="2" charset="-127"/>
          <a:cs typeface="HY헤드라인M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sz="3000">
          <a:solidFill>
            <a:schemeClr val="bg1"/>
          </a:solidFill>
          <a:latin typeface="HY헤드라인M" pitchFamily="2" charset="-127"/>
          <a:ea typeface="HY헤드라인M" pitchFamily="2" charset="-127"/>
          <a:cs typeface="HY헤드라인M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sz="3000">
          <a:solidFill>
            <a:schemeClr val="bg1"/>
          </a:solidFill>
          <a:latin typeface="HY헤드라인M" pitchFamily="2" charset="-127"/>
          <a:ea typeface="HY헤드라인M" pitchFamily="2" charset="-127"/>
          <a:cs typeface="HY헤드라인M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sz="3000">
          <a:solidFill>
            <a:schemeClr val="bg1"/>
          </a:solidFill>
          <a:latin typeface="HY헤드라인M" pitchFamily="2" charset="-127"/>
          <a:ea typeface="HY헤드라인M" pitchFamily="2" charset="-127"/>
          <a:cs typeface="HY헤드라인M"/>
        </a:defRPr>
      </a:lvl5pPr>
      <a:lvl6pPr marL="457200" algn="l" rtl="0" eaLnBrk="0" fontAlgn="base" latinLnBrk="1" hangingPunct="0">
        <a:spcBef>
          <a:spcPct val="0"/>
        </a:spcBef>
        <a:spcAft>
          <a:spcPct val="0"/>
        </a:spcAft>
        <a:defRPr sz="3000">
          <a:solidFill>
            <a:schemeClr val="bg1"/>
          </a:solidFill>
          <a:latin typeface="HY헤드라인M" pitchFamily="2" charset="-127"/>
          <a:ea typeface="HY헤드라인M" pitchFamily="2" charset="-127"/>
        </a:defRPr>
      </a:lvl6pPr>
      <a:lvl7pPr marL="914400" algn="l" rtl="0" eaLnBrk="0" fontAlgn="base" latinLnBrk="1" hangingPunct="0">
        <a:spcBef>
          <a:spcPct val="0"/>
        </a:spcBef>
        <a:spcAft>
          <a:spcPct val="0"/>
        </a:spcAft>
        <a:defRPr sz="3000">
          <a:solidFill>
            <a:schemeClr val="bg1"/>
          </a:solidFill>
          <a:latin typeface="HY헤드라인M" pitchFamily="2" charset="-127"/>
          <a:ea typeface="HY헤드라인M" pitchFamily="2" charset="-127"/>
        </a:defRPr>
      </a:lvl7pPr>
      <a:lvl8pPr marL="1371600" algn="l" rtl="0" eaLnBrk="0" fontAlgn="base" latinLnBrk="1" hangingPunct="0">
        <a:spcBef>
          <a:spcPct val="0"/>
        </a:spcBef>
        <a:spcAft>
          <a:spcPct val="0"/>
        </a:spcAft>
        <a:defRPr sz="3000">
          <a:solidFill>
            <a:schemeClr val="bg1"/>
          </a:solidFill>
          <a:latin typeface="HY헤드라인M" pitchFamily="2" charset="-127"/>
          <a:ea typeface="HY헤드라인M" pitchFamily="2" charset="-127"/>
        </a:defRPr>
      </a:lvl8pPr>
      <a:lvl9pPr marL="1828800" algn="l" rtl="0" eaLnBrk="0" fontAlgn="base" latinLnBrk="1" hangingPunct="0">
        <a:spcBef>
          <a:spcPct val="0"/>
        </a:spcBef>
        <a:spcAft>
          <a:spcPct val="0"/>
        </a:spcAft>
        <a:defRPr sz="3000">
          <a:solidFill>
            <a:schemeClr val="bg1"/>
          </a:solidFill>
          <a:latin typeface="HY헤드라인M" pitchFamily="2" charset="-127"/>
          <a:ea typeface="HY헤드라인M" pitchFamily="2" charset="-127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 b="1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.xml"/><Relationship Id="rId3" Type="http://schemas.openxmlformats.org/officeDocument/2006/relationships/tags" Target="../tags/tag1.xml"/><Relationship Id="rId2" Type="http://schemas.openxmlformats.org/officeDocument/2006/relationships/image" Target="../media/image3.png"/><Relationship Id="rId1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image" Target="../media/image7.wmf"/><Relationship Id="rId3" Type="http://schemas.openxmlformats.org/officeDocument/2006/relationships/oleObject" Target="../embeddings/oleObject1.bin"/><Relationship Id="rId2" Type="http://schemas.openxmlformats.org/officeDocument/2006/relationships/tags" Target="../tags/tag3.xml"/><Relationship Id="rId18" Type="http://schemas.openxmlformats.org/officeDocument/2006/relationships/notesSlide" Target="../notesSlides/notesSlide2.xml"/><Relationship Id="rId17" Type="http://schemas.openxmlformats.org/officeDocument/2006/relationships/vmlDrawing" Target="../drawings/vmlDrawing1.vml"/><Relationship Id="rId16" Type="http://schemas.openxmlformats.org/officeDocument/2006/relationships/slideLayout" Target="../slideLayouts/slideLayout3.xml"/><Relationship Id="rId15" Type="http://schemas.openxmlformats.org/officeDocument/2006/relationships/tags" Target="../tags/tag14.xml"/><Relationship Id="rId14" Type="http://schemas.openxmlformats.org/officeDocument/2006/relationships/tags" Target="../tags/tag13.xml"/><Relationship Id="rId13" Type="http://schemas.openxmlformats.org/officeDocument/2006/relationships/tags" Target="../tags/tag12.xml"/><Relationship Id="rId12" Type="http://schemas.openxmlformats.org/officeDocument/2006/relationships/tags" Target="../tags/tag11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tags" Target="../tags/tag2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.xml"/><Relationship Id="rId8" Type="http://schemas.openxmlformats.org/officeDocument/2006/relationships/tags" Target="../tags/tag22.xml"/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0" Type="http://schemas.openxmlformats.org/officeDocument/2006/relationships/notesSlide" Target="../notesSlides/notesSlide3.xml"/><Relationship Id="rId1" Type="http://schemas.openxmlformats.org/officeDocument/2006/relationships/tags" Target="../tags/tag15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31.xml"/><Relationship Id="rId8" Type="http://schemas.openxmlformats.org/officeDocument/2006/relationships/tags" Target="../tags/tag30.xml"/><Relationship Id="rId7" Type="http://schemas.openxmlformats.org/officeDocument/2006/relationships/tags" Target="../tags/tag29.xml"/><Relationship Id="rId6" Type="http://schemas.openxmlformats.org/officeDocument/2006/relationships/tags" Target="../tags/tag28.xml"/><Relationship Id="rId5" Type="http://schemas.openxmlformats.org/officeDocument/2006/relationships/tags" Target="../tags/tag27.xml"/><Relationship Id="rId4" Type="http://schemas.openxmlformats.org/officeDocument/2006/relationships/tags" Target="../tags/tag26.xml"/><Relationship Id="rId3" Type="http://schemas.openxmlformats.org/officeDocument/2006/relationships/tags" Target="../tags/tag25.xml"/><Relationship Id="rId2" Type="http://schemas.openxmlformats.org/officeDocument/2006/relationships/tags" Target="../tags/tag24.xml"/><Relationship Id="rId12" Type="http://schemas.openxmlformats.org/officeDocument/2006/relationships/notesSlide" Target="../notesSlides/notesSlide4.xml"/><Relationship Id="rId11" Type="http://schemas.openxmlformats.org/officeDocument/2006/relationships/slideLayout" Target="../slideLayouts/slideLayout3.xml"/><Relationship Id="rId10" Type="http://schemas.openxmlformats.org/officeDocument/2006/relationships/tags" Target="../tags/tag32.xml"/><Relationship Id="rId1" Type="http://schemas.openxmlformats.org/officeDocument/2006/relationships/tags" Target="../tags/tag2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image" Target="../media/image12.svg"/><Relationship Id="rId8" Type="http://schemas.openxmlformats.org/officeDocument/2006/relationships/image" Target="../media/image11.png"/><Relationship Id="rId7" Type="http://schemas.openxmlformats.org/officeDocument/2006/relationships/tags" Target="../tags/tag37.xml"/><Relationship Id="rId6" Type="http://schemas.openxmlformats.org/officeDocument/2006/relationships/tags" Target="../tags/tag36.xml"/><Relationship Id="rId5" Type="http://schemas.openxmlformats.org/officeDocument/2006/relationships/tags" Target="../tags/tag35.xml"/><Relationship Id="rId4" Type="http://schemas.openxmlformats.org/officeDocument/2006/relationships/image" Target="../media/image10.svg"/><Relationship Id="rId3" Type="http://schemas.openxmlformats.org/officeDocument/2006/relationships/image" Target="../media/image9.png"/><Relationship Id="rId27" Type="http://schemas.openxmlformats.org/officeDocument/2006/relationships/notesSlide" Target="../notesSlides/notesSlide7.xml"/><Relationship Id="rId26" Type="http://schemas.openxmlformats.org/officeDocument/2006/relationships/slideLayout" Target="../slideLayouts/slideLayout3.xml"/><Relationship Id="rId25" Type="http://schemas.openxmlformats.org/officeDocument/2006/relationships/tags" Target="../tags/tag47.xml"/><Relationship Id="rId24" Type="http://schemas.openxmlformats.org/officeDocument/2006/relationships/image" Target="../media/image18.svg"/><Relationship Id="rId23" Type="http://schemas.openxmlformats.org/officeDocument/2006/relationships/image" Target="../media/image17.png"/><Relationship Id="rId22" Type="http://schemas.openxmlformats.org/officeDocument/2006/relationships/tags" Target="../tags/tag46.xml"/><Relationship Id="rId21" Type="http://schemas.openxmlformats.org/officeDocument/2006/relationships/tags" Target="../tags/tag45.xml"/><Relationship Id="rId20" Type="http://schemas.openxmlformats.org/officeDocument/2006/relationships/tags" Target="../tags/tag44.xml"/><Relationship Id="rId2" Type="http://schemas.openxmlformats.org/officeDocument/2006/relationships/tags" Target="../tags/tag34.xml"/><Relationship Id="rId19" Type="http://schemas.openxmlformats.org/officeDocument/2006/relationships/image" Target="../media/image16.svg"/><Relationship Id="rId18" Type="http://schemas.openxmlformats.org/officeDocument/2006/relationships/image" Target="../media/image15.png"/><Relationship Id="rId17" Type="http://schemas.openxmlformats.org/officeDocument/2006/relationships/tags" Target="../tags/tag43.xml"/><Relationship Id="rId16" Type="http://schemas.openxmlformats.org/officeDocument/2006/relationships/tags" Target="../tags/tag42.xml"/><Relationship Id="rId15" Type="http://schemas.openxmlformats.org/officeDocument/2006/relationships/tags" Target="../tags/tag41.xml"/><Relationship Id="rId14" Type="http://schemas.openxmlformats.org/officeDocument/2006/relationships/image" Target="../media/image14.svg"/><Relationship Id="rId13" Type="http://schemas.openxmlformats.org/officeDocument/2006/relationships/image" Target="../media/image13.png"/><Relationship Id="rId12" Type="http://schemas.openxmlformats.org/officeDocument/2006/relationships/tags" Target="../tags/tag40.xml"/><Relationship Id="rId11" Type="http://schemas.openxmlformats.org/officeDocument/2006/relationships/tags" Target="../tags/tag39.xml"/><Relationship Id="rId10" Type="http://schemas.openxmlformats.org/officeDocument/2006/relationships/tags" Target="../tags/tag38.xml"/><Relationship Id="rId1" Type="http://schemas.openxmlformats.org/officeDocument/2006/relationships/tags" Target="../tags/tag3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4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20.png"/><Relationship Id="rId1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tags" Target="../tags/tag56.xml"/><Relationship Id="rId8" Type="http://schemas.openxmlformats.org/officeDocument/2006/relationships/image" Target="../media/image22.png"/><Relationship Id="rId7" Type="http://schemas.openxmlformats.org/officeDocument/2006/relationships/tags" Target="../tags/tag55.xml"/><Relationship Id="rId6" Type="http://schemas.openxmlformats.org/officeDocument/2006/relationships/tags" Target="../tags/tag54.xml"/><Relationship Id="rId5" Type="http://schemas.openxmlformats.org/officeDocument/2006/relationships/tags" Target="../tags/tag53.xml"/><Relationship Id="rId4" Type="http://schemas.openxmlformats.org/officeDocument/2006/relationships/tags" Target="../tags/tag52.xml"/><Relationship Id="rId3" Type="http://schemas.openxmlformats.org/officeDocument/2006/relationships/tags" Target="../tags/tag51.xml"/><Relationship Id="rId2" Type="http://schemas.openxmlformats.org/officeDocument/2006/relationships/tags" Target="../tags/tag50.xml"/><Relationship Id="rId14" Type="http://schemas.openxmlformats.org/officeDocument/2006/relationships/notesSlide" Target="../notesSlides/notesSlide11.xml"/><Relationship Id="rId13" Type="http://schemas.openxmlformats.org/officeDocument/2006/relationships/slideLayout" Target="../slideLayouts/slideLayout3.xml"/><Relationship Id="rId12" Type="http://schemas.openxmlformats.org/officeDocument/2006/relationships/image" Target="../media/image23.png"/><Relationship Id="rId11" Type="http://schemas.openxmlformats.org/officeDocument/2006/relationships/tags" Target="../tags/tag58.xml"/><Relationship Id="rId10" Type="http://schemas.openxmlformats.org/officeDocument/2006/relationships/tags" Target="../tags/tag57.xml"/><Relationship Id="rId1" Type="http://schemas.openxmlformats.org/officeDocument/2006/relationships/tags" Target="../tags/tag49.xml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2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25.png"/><Relationship Id="rId1" Type="http://schemas.openxmlformats.org/officeDocument/2006/relationships/image" Target="../media/image24.png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tags" Target="../tags/tag67.xml"/><Relationship Id="rId8" Type="http://schemas.openxmlformats.org/officeDocument/2006/relationships/tags" Target="../tags/tag66.xml"/><Relationship Id="rId7" Type="http://schemas.openxmlformats.org/officeDocument/2006/relationships/tags" Target="../tags/tag65.xml"/><Relationship Id="rId6" Type="http://schemas.openxmlformats.org/officeDocument/2006/relationships/tags" Target="../tags/tag64.xml"/><Relationship Id="rId5" Type="http://schemas.openxmlformats.org/officeDocument/2006/relationships/tags" Target="../tags/tag63.xml"/><Relationship Id="rId4" Type="http://schemas.openxmlformats.org/officeDocument/2006/relationships/tags" Target="../tags/tag62.xml"/><Relationship Id="rId3" Type="http://schemas.openxmlformats.org/officeDocument/2006/relationships/tags" Target="../tags/tag61.xml"/><Relationship Id="rId2" Type="http://schemas.openxmlformats.org/officeDocument/2006/relationships/tags" Target="../tags/tag60.xml"/><Relationship Id="rId18" Type="http://schemas.openxmlformats.org/officeDocument/2006/relationships/notesSlide" Target="../notesSlides/notesSlide13.xml"/><Relationship Id="rId17" Type="http://schemas.openxmlformats.org/officeDocument/2006/relationships/slideLayout" Target="../slideLayouts/slideLayout3.xml"/><Relationship Id="rId16" Type="http://schemas.openxmlformats.org/officeDocument/2006/relationships/tags" Target="../tags/tag74.xml"/><Relationship Id="rId15" Type="http://schemas.openxmlformats.org/officeDocument/2006/relationships/tags" Target="../tags/tag73.xml"/><Relationship Id="rId14" Type="http://schemas.openxmlformats.org/officeDocument/2006/relationships/tags" Target="../tags/tag72.xml"/><Relationship Id="rId13" Type="http://schemas.openxmlformats.org/officeDocument/2006/relationships/tags" Target="../tags/tag71.xml"/><Relationship Id="rId12" Type="http://schemas.openxmlformats.org/officeDocument/2006/relationships/tags" Target="../tags/tag70.xml"/><Relationship Id="rId11" Type="http://schemas.openxmlformats.org/officeDocument/2006/relationships/tags" Target="../tags/tag69.xml"/><Relationship Id="rId10" Type="http://schemas.openxmlformats.org/officeDocument/2006/relationships/tags" Target="../tags/tag68.xml"/><Relationship Id="rId1" Type="http://schemas.openxmlformats.org/officeDocument/2006/relationships/tags" Target="../tags/tag59.xml"/></Relationships>
</file>

<file path=ppt/slides/_rels/slide1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4.xml"/><Relationship Id="rId4" Type="http://schemas.openxmlformats.org/officeDocument/2006/relationships/slideLayout" Target="../slideLayouts/slideLayout1.xml"/><Relationship Id="rId3" Type="http://schemas.openxmlformats.org/officeDocument/2006/relationships/tags" Target="../tags/tag75.xml"/><Relationship Id="rId2" Type="http://schemas.openxmlformats.org/officeDocument/2006/relationships/image" Target="../media/image3.png"/><Relationship Id="rId1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1019810" y="1844675"/>
            <a:ext cx="10152380" cy="1568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 indent="0" algn="ctr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3200" b="1" kern="0" spc="-120" dirty="0">
                <a:solidFill>
                  <a:srgbClr val="740000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跨周期的信贷风险预测研究</a:t>
            </a:r>
            <a:endParaRPr lang="zh-CN" altLang="en-US" sz="3200" b="1" kern="0" spc="-120" dirty="0">
              <a:solidFill>
                <a:srgbClr val="740000"/>
              </a:solidFill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0" algn="ctr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3200" b="1" kern="0" spc="-120" dirty="0">
                <a:solidFill>
                  <a:srgbClr val="740000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3200" b="1" kern="0" spc="-120" dirty="0">
                <a:solidFill>
                  <a:srgbClr val="740000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基于边界感知条件</a:t>
            </a:r>
            <a:r>
              <a:rPr lang="en-US" altLang="zh-CN" sz="3200" b="1" kern="0" spc="-120" dirty="0">
                <a:solidFill>
                  <a:srgbClr val="740000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WGAN-GP</a:t>
            </a:r>
            <a:r>
              <a:rPr lang="zh-CN" altLang="en-US" sz="3200" b="1" kern="0" spc="-120" dirty="0">
                <a:solidFill>
                  <a:srgbClr val="740000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en-US" altLang="zh-CN" sz="3200" b="1" kern="0" spc="-120" dirty="0">
                <a:solidFill>
                  <a:srgbClr val="740000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Stacking</a:t>
            </a:r>
            <a:r>
              <a:rPr lang="zh-CN" altLang="en-US" sz="3200" b="1" kern="0" spc="-120" dirty="0">
                <a:solidFill>
                  <a:srgbClr val="740000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集成模型</a:t>
            </a:r>
            <a:endParaRPr lang="en-US" altLang="zh-CN" sz="2000" b="1" kern="0" spc="-120" dirty="0">
              <a:solidFill>
                <a:srgbClr val="740000"/>
              </a:solidFill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5364" name="图片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24378" y="188913"/>
            <a:ext cx="2416175" cy="485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365" name="Text Box 4"/>
          <p:cNvSpPr txBox="1">
            <a:spLocks noChangeArrowheads="1"/>
          </p:cNvSpPr>
          <p:nvPr/>
        </p:nvSpPr>
        <p:spPr bwMode="auto">
          <a:xfrm>
            <a:off x="3425825" y="3429000"/>
            <a:ext cx="5355590" cy="10147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50000"/>
              </a:lnSpc>
              <a:spcAft>
                <a:spcPts val="0"/>
              </a:spcAft>
            </a:pPr>
            <a:r>
              <a:rPr lang="zh-CN" altLang="en-US" sz="20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答辩人：蒋奕文</a:t>
            </a:r>
            <a:endParaRPr lang="zh-CN" altLang="en-US" sz="2000" b="1" dirty="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ctr" eaLnBrk="1" hangingPunct="1">
              <a:lnSpc>
                <a:spcPct val="150000"/>
              </a:lnSpc>
              <a:spcAft>
                <a:spcPts val="0"/>
              </a:spcAft>
            </a:pPr>
            <a:r>
              <a:rPr lang="zh-CN" altLang="en-US" sz="20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时间：</a:t>
            </a:r>
            <a:r>
              <a:rPr lang="en-US" altLang="zh-CN" sz="20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2026</a:t>
            </a:r>
            <a:r>
              <a:rPr lang="zh-CN" altLang="en-US" sz="20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年</a:t>
            </a:r>
            <a:r>
              <a:rPr lang="en-US" altLang="zh-CN" sz="20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6</a:t>
            </a:r>
            <a:r>
              <a:rPr lang="zh-CN" altLang="en-US" sz="20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月</a:t>
            </a:r>
            <a:r>
              <a:rPr lang="en-US" altLang="zh-CN" sz="20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8</a:t>
            </a:r>
            <a:r>
              <a:rPr lang="zh-CN" altLang="en-US" sz="20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日</a:t>
            </a:r>
            <a:endParaRPr lang="zh-CN" altLang="en-US" sz="2000" b="1" dirty="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矩形 53"/>
          <p:cNvSpPr/>
          <p:nvPr/>
        </p:nvSpPr>
        <p:spPr>
          <a:xfrm>
            <a:off x="479425" y="981075"/>
            <a:ext cx="1384935" cy="469900"/>
          </a:xfrm>
          <a:prstGeom prst="rect">
            <a:avLst/>
          </a:prstGeom>
          <a:solidFill>
            <a:srgbClr val="7C2326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1524000" y="75248"/>
            <a:ext cx="127000" cy="30670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30153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26" name="组合 25"/>
          <p:cNvGrpSpPr/>
          <p:nvPr>
            <p:custDataLst>
              <p:tags r:id="rId1"/>
            </p:custDataLst>
          </p:nvPr>
        </p:nvGrpSpPr>
        <p:grpSpPr>
          <a:xfrm>
            <a:off x="2057400" y="1917065"/>
            <a:ext cx="8027035" cy="3705860"/>
            <a:chOff x="1077" y="3019"/>
            <a:chExt cx="13069" cy="5836"/>
          </a:xfrm>
        </p:grpSpPr>
        <p:graphicFrame>
          <p:nvGraphicFramePr>
            <p:cNvPr id="3" name="对象 2">
              <a:hlinkClick r:id="" action="ppaction://ole?verb=0"/>
            </p:cNvPr>
            <p:cNvGraphicFramePr>
              <a:graphicFrameLocks noChangeAspect="1"/>
            </p:cNvGraphicFramePr>
            <p:nvPr>
              <p:custDataLst>
                <p:tags r:id="rId2"/>
              </p:custDataLst>
            </p:nvPr>
          </p:nvGraphicFramePr>
          <p:xfrm>
            <a:off x="7110" y="5230"/>
            <a:ext cx="180" cy="3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" name="" r:id="rId3" imgW="114300" imgH="215900" progId="Equation.KSEE3">
                    <p:embed/>
                  </p:oleObj>
                </mc:Choice>
                <mc:Fallback>
                  <p:oleObj name="" r:id="rId3" imgW="114300" imgH="215900" progId="Equation.KSEE3">
                    <p:embed/>
                    <p:pic>
                      <p:nvPicPr>
                        <p:cNvPr id="0" name="对象 2">
                          <a:hlinkClick r:id="" action="ppaction://ole?verb=0"/>
                        </p:cNvPr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7110" y="5230"/>
                          <a:ext cx="180" cy="34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15" name="组合 14"/>
            <p:cNvGrpSpPr/>
            <p:nvPr>
              <p:custDataLst>
                <p:tags r:id="rId5"/>
              </p:custDataLst>
            </p:nvPr>
          </p:nvGrpSpPr>
          <p:grpSpPr>
            <a:xfrm>
              <a:off x="2448" y="3019"/>
              <a:ext cx="11699" cy="5837"/>
              <a:chOff x="850" y="2906"/>
              <a:chExt cx="2796" cy="5448"/>
            </a:xfrm>
          </p:grpSpPr>
          <p:sp>
            <p:nvSpPr>
              <p:cNvPr id="7" name="矩形 6"/>
              <p:cNvSpPr/>
              <p:nvPr>
                <p:custDataLst>
                  <p:tags r:id="rId6"/>
                </p:custDataLst>
              </p:nvPr>
            </p:nvSpPr>
            <p:spPr>
              <a:xfrm>
                <a:off x="850" y="7614"/>
                <a:ext cx="2796" cy="740"/>
              </a:xfrm>
              <a:prstGeom prst="rect">
                <a:avLst/>
              </a:prstGeom>
              <a:solidFill>
                <a:srgbClr val="7C2326">
                  <a:alpha val="9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l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zh-CN" sz="2400" b="1"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+mn-ea"/>
                  </a:rPr>
                  <a:t>进度安排：进度安排，采取的措施</a:t>
                </a:r>
                <a:endParaRPr lang="zh-CN" sz="2400" b="1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endParaRPr>
              </a:p>
            </p:txBody>
          </p:sp>
          <p:sp>
            <p:nvSpPr>
              <p:cNvPr id="11" name="矩形 10"/>
              <p:cNvSpPr/>
              <p:nvPr>
                <p:custDataLst>
                  <p:tags r:id="rId7"/>
                </p:custDataLst>
              </p:nvPr>
            </p:nvSpPr>
            <p:spPr>
              <a:xfrm>
                <a:off x="850" y="2906"/>
                <a:ext cx="2796" cy="740"/>
              </a:xfrm>
              <a:prstGeom prst="rect">
                <a:avLst/>
              </a:prstGeom>
              <a:solidFill>
                <a:srgbClr val="7C2326">
                  <a:alpha val="9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l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zh-CN" sz="2400" b="1"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+mn-ea"/>
                  </a:rPr>
                  <a:t>背景知识：研究背景，研究问题，研究意义</a:t>
                </a:r>
                <a:endParaRPr lang="zh-CN" sz="2400" b="1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endParaRPr>
              </a:p>
            </p:txBody>
          </p:sp>
          <p:sp>
            <p:nvSpPr>
              <p:cNvPr id="12" name="矩形 11"/>
              <p:cNvSpPr/>
              <p:nvPr>
                <p:custDataLst>
                  <p:tags r:id="rId8"/>
                </p:custDataLst>
              </p:nvPr>
            </p:nvSpPr>
            <p:spPr>
              <a:xfrm>
                <a:off x="850" y="6437"/>
                <a:ext cx="2796" cy="740"/>
              </a:xfrm>
              <a:prstGeom prst="rect">
                <a:avLst/>
              </a:prstGeom>
              <a:solidFill>
                <a:srgbClr val="7C2326">
                  <a:alpha val="9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l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zh-CN" sz="2400" b="1"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+mn-ea"/>
                  </a:rPr>
                  <a:t>研究范围：研究范围，目前进展</a:t>
                </a:r>
                <a:endParaRPr lang="zh-CN" sz="2400" b="1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endParaRPr>
              </a:p>
            </p:txBody>
          </p:sp>
          <p:sp>
            <p:nvSpPr>
              <p:cNvPr id="13" name="矩形 12"/>
              <p:cNvSpPr/>
              <p:nvPr>
                <p:custDataLst>
                  <p:tags r:id="rId9"/>
                </p:custDataLst>
              </p:nvPr>
            </p:nvSpPr>
            <p:spPr>
              <a:xfrm>
                <a:off x="850" y="5260"/>
                <a:ext cx="2796" cy="740"/>
              </a:xfrm>
              <a:prstGeom prst="rect">
                <a:avLst/>
              </a:prstGeom>
              <a:solidFill>
                <a:srgbClr val="7C2326">
                  <a:alpha val="9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l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zh-CN" sz="2400" b="1"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+mn-ea"/>
                  </a:rPr>
                  <a:t>创新点与难点：论文创新点，研究难道，预期成果</a:t>
                </a:r>
                <a:endParaRPr lang="zh-CN" sz="2400" b="1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endParaRPr>
              </a:p>
            </p:txBody>
          </p:sp>
          <p:sp>
            <p:nvSpPr>
              <p:cNvPr id="14" name="矩形 13"/>
              <p:cNvSpPr/>
              <p:nvPr>
                <p:custDataLst>
                  <p:tags r:id="rId10"/>
                </p:custDataLst>
              </p:nvPr>
            </p:nvSpPr>
            <p:spPr>
              <a:xfrm>
                <a:off x="850" y="4083"/>
                <a:ext cx="2796" cy="740"/>
              </a:xfrm>
              <a:prstGeom prst="rect">
                <a:avLst/>
              </a:prstGeom>
              <a:solidFill>
                <a:srgbClr val="7C2326">
                  <a:alpha val="9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l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zh-CN" sz="2400" b="1"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+mn-ea"/>
                  </a:rPr>
                  <a:t>研究思路：国内外研究现状，研究思路</a:t>
                </a:r>
                <a:r>
                  <a:rPr lang="zh-CN" sz="2400" b="1"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+mn-ea"/>
                  </a:rPr>
                  <a:t>，研究方法</a:t>
                </a:r>
                <a:endParaRPr lang="zh-CN" sz="2400" b="1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endParaRPr>
              </a:p>
            </p:txBody>
          </p:sp>
        </p:grpSp>
        <p:sp>
          <p:nvSpPr>
            <p:cNvPr id="16" name="TextBox 47"/>
            <p:cNvSpPr txBox="1"/>
            <p:nvPr>
              <p:custDataLst>
                <p:tags r:id="rId11"/>
              </p:custDataLst>
            </p:nvPr>
          </p:nvSpPr>
          <p:spPr>
            <a:xfrm>
              <a:off x="1077" y="3019"/>
              <a:ext cx="1260" cy="793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</p:spPr>
          <p:txBody>
            <a:bodyPr anchor="ctr">
              <a:noAutofit/>
            </a:bodyPr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2400" b="1" dirty="0">
                  <a:solidFill>
                    <a:schemeClr val="l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一</a:t>
              </a:r>
              <a:endParaRPr lang="zh-CN" altLang="en-US" sz="2400" b="1" dirty="0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" name="TextBox 47"/>
            <p:cNvSpPr txBox="1"/>
            <p:nvPr>
              <p:custDataLst>
                <p:tags r:id="rId12"/>
              </p:custDataLst>
            </p:nvPr>
          </p:nvSpPr>
          <p:spPr>
            <a:xfrm>
              <a:off x="1077" y="8063"/>
              <a:ext cx="1260" cy="793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</p:spPr>
          <p:txBody>
            <a:bodyPr anchor="ctr">
              <a:noAutofit/>
            </a:bodyPr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2400" b="1" dirty="0">
                  <a:solidFill>
                    <a:schemeClr val="l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五</a:t>
              </a:r>
              <a:endParaRPr lang="zh-CN" altLang="en-US" sz="2400" b="1" dirty="0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" name="TextBox 47"/>
            <p:cNvSpPr txBox="1"/>
            <p:nvPr>
              <p:custDataLst>
                <p:tags r:id="rId13"/>
              </p:custDataLst>
            </p:nvPr>
          </p:nvSpPr>
          <p:spPr>
            <a:xfrm>
              <a:off x="1077" y="4280"/>
              <a:ext cx="1260" cy="793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</p:spPr>
          <p:txBody>
            <a:bodyPr anchor="ctr">
              <a:noAutofit/>
            </a:bodyPr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2400" b="1" dirty="0">
                  <a:solidFill>
                    <a:schemeClr val="l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二</a:t>
              </a:r>
              <a:endParaRPr lang="zh-CN" altLang="en-US" sz="2400" b="1" dirty="0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" name="TextBox 47"/>
            <p:cNvSpPr txBox="1"/>
            <p:nvPr>
              <p:custDataLst>
                <p:tags r:id="rId14"/>
              </p:custDataLst>
            </p:nvPr>
          </p:nvSpPr>
          <p:spPr>
            <a:xfrm>
              <a:off x="1077" y="5541"/>
              <a:ext cx="1260" cy="793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</p:spPr>
          <p:txBody>
            <a:bodyPr anchor="ctr">
              <a:noAutofit/>
            </a:bodyPr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2400" b="1" dirty="0">
                  <a:solidFill>
                    <a:schemeClr val="l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三</a:t>
              </a:r>
              <a:endParaRPr lang="zh-CN" altLang="en-US" sz="2400" b="1" dirty="0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" name="TextBox 47"/>
            <p:cNvSpPr txBox="1"/>
            <p:nvPr>
              <p:custDataLst>
                <p:tags r:id="rId15"/>
              </p:custDataLst>
            </p:nvPr>
          </p:nvSpPr>
          <p:spPr>
            <a:xfrm>
              <a:off x="1077" y="6802"/>
              <a:ext cx="1260" cy="793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</p:spPr>
          <p:txBody>
            <a:bodyPr anchor="ctr">
              <a:noAutofit/>
            </a:bodyPr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2400" b="1" dirty="0">
                  <a:solidFill>
                    <a:schemeClr val="l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四</a:t>
              </a:r>
              <a:endParaRPr lang="zh-CN" altLang="en-US" sz="2400" b="1" dirty="0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  <p:transition spd="slow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438" name="组合 4"/>
          <p:cNvGrpSpPr/>
          <p:nvPr/>
        </p:nvGrpSpPr>
        <p:grpSpPr bwMode="auto">
          <a:xfrm>
            <a:off x="550863" y="984250"/>
            <a:ext cx="3316605" cy="469900"/>
            <a:chOff x="992516" y="4392689"/>
            <a:chExt cx="3200031" cy="358868"/>
          </a:xfrm>
        </p:grpSpPr>
        <p:sp>
          <p:nvSpPr>
            <p:cNvPr id="54" name="矩形 53"/>
            <p:cNvSpPr/>
            <p:nvPr/>
          </p:nvSpPr>
          <p:spPr>
            <a:xfrm>
              <a:off x="1820860" y="4392689"/>
              <a:ext cx="2371687" cy="358868"/>
            </a:xfrm>
            <a:prstGeom prst="rect">
              <a:avLst/>
            </a:prstGeom>
            <a:solidFill>
              <a:srgbClr val="7C2326">
                <a:alpha val="9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2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研究背景与意义</a:t>
              </a:r>
              <a:endPara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6" name="TextBox 47"/>
            <p:cNvSpPr txBox="1"/>
            <p:nvPr/>
          </p:nvSpPr>
          <p:spPr>
            <a:xfrm>
              <a:off x="992516" y="4397539"/>
              <a:ext cx="759724" cy="351594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</p:spPr>
          <p:txBody>
            <a:bodyPr anchor="ctr">
              <a:spAutoFit/>
            </a:bodyPr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2400" b="1" dirty="0">
                  <a:solidFill>
                    <a:schemeClr val="l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一</a:t>
              </a:r>
              <a:endParaRPr lang="zh-CN" altLang="en-US" sz="2400" b="1" dirty="0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75248"/>
            <a:ext cx="127000" cy="30670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30153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AutoShape 3"/>
          <p:cNvSpPr/>
          <p:nvPr>
            <p:custDataLst>
              <p:tags r:id="rId1"/>
            </p:custDataLst>
          </p:nvPr>
        </p:nvSpPr>
        <p:spPr>
          <a:xfrm>
            <a:off x="722630" y="1557020"/>
            <a:ext cx="10647045" cy="1609090"/>
          </a:xfrm>
          <a:prstGeom prst="roundRect">
            <a:avLst>
              <a:gd name="adj" fmla="val 4615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marL="0" indent="0" algn="just" latinLnBrk="0">
              <a:lnSpc>
                <a:spcPct val="125000"/>
              </a:lnSpc>
              <a:defRPr/>
            </a:pPr>
            <a:endParaRPr sz="16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" name="AutoShape 5"/>
          <p:cNvSpPr/>
          <p:nvPr>
            <p:custDataLst>
              <p:tags r:id="rId2"/>
            </p:custDataLst>
          </p:nvPr>
        </p:nvSpPr>
        <p:spPr>
          <a:xfrm>
            <a:off x="911225" y="1557020"/>
            <a:ext cx="109855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811E2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研究背景</a:t>
            </a:r>
            <a:endParaRPr lang="en-US" sz="2000" b="1" i="0" u="none" strike="noStrike">
              <a:solidFill>
                <a:srgbClr val="811E2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878205" y="1988820"/>
            <a:ext cx="10329545" cy="956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0" indent="0" algn="just" latinLnBrk="0">
              <a:lnSpc>
                <a:spcPct val="125000"/>
              </a:lnSpc>
            </a:pPr>
            <a:r>
              <a:rPr lang="zh-CN" altLang="en-US" sz="15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国内个人信贷规模连年扩容，住户信贷体量庞大，业务发展带动消费与小微经济，但客群下沉、宏观环境变化推升信贷不良，监管出台多项新规严控高息贷款、规范业务。传统人工与单一模型风控短板突出，现存建模存在数据失衡、删失样本浪费、跨周期适配差等问题；如今集成学习、可解释</a:t>
            </a:r>
            <a:r>
              <a:rPr lang="en-US" altLang="zh-CN" sz="15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AI</a:t>
            </a:r>
            <a:r>
              <a:rPr lang="zh-CN" altLang="en-US" sz="15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等新技术落地，成为优化信贷风控、破解现有难题的重要路径。</a:t>
            </a:r>
            <a:endParaRPr lang="zh-CN" altLang="en-US" sz="15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grpSp>
        <p:nvGrpSpPr>
          <p:cNvPr id="50" name="组合 49"/>
          <p:cNvGrpSpPr/>
          <p:nvPr/>
        </p:nvGrpSpPr>
        <p:grpSpPr>
          <a:xfrm rot="0">
            <a:off x="839470" y="3524885"/>
            <a:ext cx="4843780" cy="3022600"/>
            <a:chOff x="6900903" y="1002379"/>
            <a:chExt cx="4805971" cy="3046418"/>
          </a:xfrm>
        </p:grpSpPr>
        <p:sp>
          <p:nvSpPr>
            <p:cNvPr id="51" name="矩形: 圆角 56"/>
            <p:cNvSpPr/>
            <p:nvPr>
              <p:custDataLst>
                <p:tags r:id="rId3"/>
              </p:custDataLst>
            </p:nvPr>
          </p:nvSpPr>
          <p:spPr>
            <a:xfrm>
              <a:off x="6900903" y="1002379"/>
              <a:ext cx="4805971" cy="150915"/>
            </a:xfrm>
            <a:prstGeom prst="roundRect">
              <a:avLst>
                <a:gd name="adj" fmla="val 50000"/>
              </a:avLst>
            </a:prstGeom>
            <a:solidFill>
              <a:srgbClr val="89393B"/>
            </a:solidFill>
            <a:ln w="88900">
              <a:solidFill>
                <a:srgbClr val="89393B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Regular" panose="02000000000000000000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52" name="矩形: 圆顶角 18"/>
            <p:cNvSpPr/>
            <p:nvPr>
              <p:custDataLst>
                <p:tags r:id="rId4"/>
              </p:custDataLst>
            </p:nvPr>
          </p:nvSpPr>
          <p:spPr>
            <a:xfrm>
              <a:off x="6965452" y="1076021"/>
              <a:ext cx="4673559" cy="297277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571500" dist="241300" dir="5400000" sx="99000" sy="99000" algn="t" rotWithShape="0">
                <a:schemeClr val="tx1">
                  <a:lumMod val="75000"/>
                  <a:lumOff val="25000"/>
                  <a:alpha val="29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Regular" panose="02000000000000000000"/>
                <a:ea typeface="等线" panose="02010600030101010101" pitchFamily="2" charset="-122"/>
                <a:cs typeface="+mn-cs"/>
              </a:endParaRPr>
            </a:p>
          </p:txBody>
        </p:sp>
      </p:grpSp>
      <p:sp>
        <p:nvSpPr>
          <p:cNvPr id="29" name="文本框 28"/>
          <p:cNvSpPr txBox="1"/>
          <p:nvPr/>
        </p:nvSpPr>
        <p:spPr>
          <a:xfrm>
            <a:off x="1019810" y="3642995"/>
            <a:ext cx="457835" cy="51308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altLang="en-US" sz="2400" b="1">
                <a:solidFill>
                  <a:srgbClr val="893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①</a:t>
            </a:r>
            <a:endParaRPr lang="zh-CN" altLang="en-US" sz="2400" b="1">
              <a:solidFill>
                <a:srgbClr val="89393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6" name="AutoShape 5"/>
          <p:cNvSpPr/>
          <p:nvPr>
            <p:custDataLst>
              <p:tags r:id="rId5"/>
            </p:custDataLst>
          </p:nvPr>
        </p:nvSpPr>
        <p:spPr>
          <a:xfrm>
            <a:off x="1468755" y="3621405"/>
            <a:ext cx="109855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2000" b="1" i="0" u="none" strike="noStrike">
                <a:solidFill>
                  <a:srgbClr val="811E2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理论意义</a:t>
            </a:r>
            <a:endParaRPr lang="zh-CN" altLang="en-US" sz="2000" b="1" i="0" u="none" strike="noStrike">
              <a:solidFill>
                <a:srgbClr val="811E2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grpSp>
        <p:nvGrpSpPr>
          <p:cNvPr id="7" name="组合 6"/>
          <p:cNvGrpSpPr/>
          <p:nvPr/>
        </p:nvGrpSpPr>
        <p:grpSpPr>
          <a:xfrm rot="0">
            <a:off x="6426835" y="3524885"/>
            <a:ext cx="4843780" cy="3022600"/>
            <a:chOff x="6900903" y="1002379"/>
            <a:chExt cx="4805971" cy="3046418"/>
          </a:xfrm>
        </p:grpSpPr>
        <p:sp>
          <p:nvSpPr>
            <p:cNvPr id="11" name="矩形: 圆角 56"/>
            <p:cNvSpPr/>
            <p:nvPr>
              <p:custDataLst>
                <p:tags r:id="rId6"/>
              </p:custDataLst>
            </p:nvPr>
          </p:nvSpPr>
          <p:spPr>
            <a:xfrm>
              <a:off x="6900903" y="1002379"/>
              <a:ext cx="4805971" cy="150915"/>
            </a:xfrm>
            <a:prstGeom prst="roundRect">
              <a:avLst>
                <a:gd name="adj" fmla="val 50000"/>
              </a:avLst>
            </a:prstGeom>
            <a:solidFill>
              <a:srgbClr val="89393B"/>
            </a:solidFill>
            <a:ln w="88900">
              <a:solidFill>
                <a:srgbClr val="89393B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Regular" panose="02000000000000000000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1" name="矩形: 圆顶角 18"/>
            <p:cNvSpPr/>
            <p:nvPr>
              <p:custDataLst>
                <p:tags r:id="rId7"/>
              </p:custDataLst>
            </p:nvPr>
          </p:nvSpPr>
          <p:spPr>
            <a:xfrm>
              <a:off x="6965452" y="1076021"/>
              <a:ext cx="4673559" cy="297277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571500" dist="241300" dir="5400000" sx="99000" sy="99000" algn="t" rotWithShape="0">
                <a:schemeClr val="tx1">
                  <a:lumMod val="75000"/>
                  <a:lumOff val="25000"/>
                  <a:alpha val="29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Regular" panose="02000000000000000000"/>
                <a:ea typeface="等线" panose="02010600030101010101" pitchFamily="2" charset="-122"/>
                <a:cs typeface="+mn-cs"/>
              </a:endParaRPr>
            </a:p>
          </p:txBody>
        </p:sp>
      </p:grpSp>
      <p:sp>
        <p:nvSpPr>
          <p:cNvPr id="23" name="AutoShape 5"/>
          <p:cNvSpPr/>
          <p:nvPr>
            <p:custDataLst>
              <p:tags r:id="rId8"/>
            </p:custDataLst>
          </p:nvPr>
        </p:nvSpPr>
        <p:spPr>
          <a:xfrm>
            <a:off x="7056120" y="3621405"/>
            <a:ext cx="109855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2000" b="1" i="0" u="none" strike="noStrike">
                <a:solidFill>
                  <a:srgbClr val="811E2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实用价值</a:t>
            </a:r>
            <a:endParaRPr lang="zh-CN" altLang="en-US" sz="2000" b="1" i="0" u="none" strike="noStrike">
              <a:solidFill>
                <a:srgbClr val="811E2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6598285" y="3621405"/>
            <a:ext cx="457835" cy="51308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altLang="en-US" sz="2400" b="1">
                <a:solidFill>
                  <a:srgbClr val="893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②</a:t>
            </a:r>
            <a:endParaRPr lang="zh-CN" altLang="en-US" sz="2400" b="1">
              <a:solidFill>
                <a:srgbClr val="89393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1019810" y="4134485"/>
            <a:ext cx="4487545" cy="2092960"/>
          </a:xfrm>
          <a:prstGeom prst="rect">
            <a:avLst/>
          </a:prstGeom>
        </p:spPr>
        <p:txBody>
          <a:bodyPr wrap="square">
            <a:noAutofit/>
          </a:bodyPr>
          <a:p>
            <a:pPr marL="0" indent="0" algn="just" latinLnBrk="0">
              <a:lnSpc>
                <a:spcPct val="125000"/>
              </a:lnSpc>
            </a:pPr>
            <a:r>
              <a:rPr lang="zh-CN" altLang="en-US" sz="1400" b="0" i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本文摒弃直接剔除右删失样本的常规做法，以快速违约删失样本为先验构建数据增强框架，充分挖掘闲置风险信息。突破单一数据集验证局限，搭建</a:t>
            </a:r>
            <a:r>
              <a:rPr lang="en-US" altLang="zh-CN" sz="1400" b="0" i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OOS</a:t>
            </a:r>
            <a:r>
              <a:rPr lang="zh-CN" altLang="en-US" sz="1400" b="0" i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en-US" altLang="zh-CN" sz="1400" b="0" i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OOT</a:t>
            </a:r>
            <a:r>
              <a:rPr lang="zh-CN" altLang="en-US" sz="1400" b="0" i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双测试体系，依托宏观加息场景完成跨周期检验。研究融合</a:t>
            </a:r>
            <a:r>
              <a:rPr lang="en-US" altLang="zh-CN" sz="1400" b="0" i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Stacking</a:t>
            </a:r>
            <a:r>
              <a:rPr lang="zh-CN" altLang="en-US" sz="1400" b="0" i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集成模型与</a:t>
            </a:r>
            <a:r>
              <a:rPr lang="en-US" altLang="zh-CN" sz="1400" b="0" i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SHAP</a:t>
            </a:r>
            <a:r>
              <a:rPr lang="zh-CN" altLang="en-US" sz="1400" b="0" i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可解释算法，从全局、局部双层拆解违约特征作用机理，破除模型黑箱缺陷，完善信贷违约建模逻辑，进一步丰富不平衡信贷数据建模与智能风控的相关理论体系。</a:t>
            </a:r>
            <a:endParaRPr lang="zh-CN" altLang="en-US" sz="1400" b="0" i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6563360" y="4156075"/>
            <a:ext cx="4550410" cy="197612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just" latinLnBrk="0">
              <a:lnSpc>
                <a:spcPct val="125000"/>
              </a:lnSpc>
            </a:pPr>
            <a:r>
              <a:rPr lang="zh-CN" altLang="en-US" sz="1400" b="0" i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本文的</a:t>
            </a:r>
            <a:r>
              <a:rPr lang="en-US" altLang="zh-CN" sz="1400" b="0" i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BA-cWGAN-GP</a:t>
            </a:r>
            <a:r>
              <a:rPr lang="zh-CN" altLang="en-US" sz="1400" b="0" i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样本增强与</a:t>
            </a:r>
            <a:r>
              <a:rPr lang="en-US" altLang="zh-CN" sz="1400" b="0" i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Stacking</a:t>
            </a:r>
            <a:r>
              <a:rPr lang="zh-CN" altLang="en-US" sz="1400" b="0" i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集成模型可提升低违约信贷风险识别准确率，为机构智能建模提供可行方案。借助</a:t>
            </a:r>
            <a:r>
              <a:rPr lang="en-US" altLang="zh-CN" sz="1400" b="0" i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OOS</a:t>
            </a:r>
            <a:r>
              <a:rPr lang="zh-CN" altLang="en-US" sz="1400" b="0" i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en-US" altLang="zh-CN" sz="1400" b="0" i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OOT</a:t>
            </a:r>
            <a:r>
              <a:rPr lang="zh-CN" altLang="en-US" sz="1400" b="0" i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双测试开展跨周期实证，厘清加息与常态周期的信贷风险差异、关键风险指标，助力机构随宏观环境灵活优化风控、抵御集中违约。结合</a:t>
            </a:r>
            <a:r>
              <a:rPr lang="en-US" altLang="zh-CN" sz="1400" b="0" i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SHAP</a:t>
            </a:r>
            <a:r>
              <a:rPr lang="zh-CN" altLang="en-US" sz="1400" b="0" i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生成可解释风控规则，破解机器学习黑箱难题，方便风控人员掌握风险逻辑，提升模型落地实用性。</a:t>
            </a:r>
            <a:endParaRPr lang="zh-CN" altLang="en-US" sz="1400" b="0" i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438" name="组合 4"/>
          <p:cNvGrpSpPr/>
          <p:nvPr/>
        </p:nvGrpSpPr>
        <p:grpSpPr bwMode="auto">
          <a:xfrm>
            <a:off x="550863" y="984250"/>
            <a:ext cx="3512820" cy="469900"/>
            <a:chOff x="992516" y="4392689"/>
            <a:chExt cx="3389349" cy="358868"/>
          </a:xfrm>
        </p:grpSpPr>
        <p:sp>
          <p:nvSpPr>
            <p:cNvPr id="54" name="矩形 53"/>
            <p:cNvSpPr/>
            <p:nvPr/>
          </p:nvSpPr>
          <p:spPr>
            <a:xfrm>
              <a:off x="1820860" y="4392689"/>
              <a:ext cx="2561005" cy="358868"/>
            </a:xfrm>
            <a:prstGeom prst="rect">
              <a:avLst/>
            </a:prstGeom>
            <a:solidFill>
              <a:srgbClr val="7C2326">
                <a:alpha val="9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2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国内外文献综述</a:t>
              </a:r>
              <a:endPara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6" name="TextBox 47"/>
            <p:cNvSpPr txBox="1"/>
            <p:nvPr/>
          </p:nvSpPr>
          <p:spPr>
            <a:xfrm>
              <a:off x="992516" y="4397539"/>
              <a:ext cx="759724" cy="351594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</p:spPr>
          <p:txBody>
            <a:bodyPr anchor="ctr">
              <a:spAutoFit/>
            </a:bodyPr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2400" b="1" dirty="0">
                  <a:solidFill>
                    <a:schemeClr val="l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二</a:t>
              </a:r>
              <a:endParaRPr lang="zh-CN" altLang="en-US" sz="2400" b="1" dirty="0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75248"/>
            <a:ext cx="127000" cy="30670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30153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40" name="组合 39"/>
          <p:cNvGrpSpPr/>
          <p:nvPr/>
        </p:nvGrpSpPr>
        <p:grpSpPr>
          <a:xfrm>
            <a:off x="550545" y="5906135"/>
            <a:ext cx="11195685" cy="651510"/>
            <a:chOff x="838188" y="5873433"/>
            <a:chExt cx="10554335" cy="598947"/>
          </a:xfrm>
          <a:solidFill>
            <a:srgbClr val="89393B"/>
          </a:solidFill>
        </p:grpSpPr>
        <p:sp>
          <p:nvSpPr>
            <p:cNvPr id="42" name="矩形 41"/>
            <p:cNvSpPr/>
            <p:nvPr/>
          </p:nvSpPr>
          <p:spPr>
            <a:xfrm>
              <a:off x="850760" y="5873433"/>
              <a:ext cx="10490279" cy="456777"/>
            </a:xfrm>
            <a:prstGeom prst="rect">
              <a:avLst/>
            </a:prstGeom>
            <a:grpFill/>
            <a:ln>
              <a:solidFill>
                <a:srgbClr val="89393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3" name="文本框 42"/>
            <p:cNvSpPr txBox="1"/>
            <p:nvPr/>
          </p:nvSpPr>
          <p:spPr>
            <a:xfrm>
              <a:off x="838188" y="5873892"/>
              <a:ext cx="10554335" cy="598488"/>
            </a:xfrm>
            <a:prstGeom prst="rect">
              <a:avLst/>
            </a:prstGeom>
            <a:grpFill/>
            <a:ln>
              <a:solidFill>
                <a:srgbClr val="89393B"/>
              </a:solidFill>
            </a:ln>
            <a:extLst>
              <a:ext uri="{909E8E84-426E-40DD-AFC4-6F175D3DCCD1}">
                <a14:hiddenFill xmlns:a14="http://schemas.microsoft.com/office/drawing/2010/main">
                  <a:grpFill/>
                </a14:hiddenFill>
              </a:ext>
            </a:extLst>
          </p:spPr>
          <p:txBody>
            <a:bodyPr wrap="square" anchor="ctr">
              <a:noAutofit/>
            </a:bodyPr>
            <a:lstStyle/>
            <a:p>
              <a:pPr lvl="0" algn="ctr">
                <a:defRPr/>
              </a:pPr>
              <a:r>
                <a:rPr lang="zh-CN" altLang="en-US" b="1" kern="0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Wingdings 3" panose="05040102010807070707" pitchFamily="18" charset="2"/>
                </a:rPr>
                <a:t>问题</a:t>
              </a:r>
              <a:r>
                <a:rPr kumimoji="0" lang="zh-CN" altLang="en-US" b="1" i="0" u="none" strike="noStrike" kern="0" cap="none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Wingdings 3" panose="05040102010807070707" pitchFamily="18" charset="2"/>
                </a:rPr>
                <a:t></a:t>
              </a:r>
              <a:r>
                <a:rPr kumimoji="0" lang="en-US" altLang="zh-CN" b="1" i="0" u="none" strike="noStrike" kern="0" cap="none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Wingdings 3" panose="05040102010807070707" pitchFamily="18" charset="2"/>
                </a:rPr>
                <a:t>1.</a:t>
              </a:r>
              <a:r>
                <a:rPr lang="zh-CN" altLang="en-US" b="1" kern="0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Wingdings 3" panose="05040102010807070707" pitchFamily="18" charset="2"/>
                </a:rPr>
                <a:t>不平衡数据生成忽略风险决策边界，边界样本挖掘不足  </a:t>
              </a:r>
              <a:r>
                <a:rPr lang="en-US" altLang="zh-CN" b="1" kern="0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Wingdings 3" panose="05040102010807070707" pitchFamily="18" charset="2"/>
                </a:rPr>
                <a:t>2.</a:t>
              </a:r>
              <a:r>
                <a:rPr lang="zh-CN" altLang="en-US" b="1" kern="0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Wingdings 3" panose="05040102010807070707" pitchFamily="18" charset="2"/>
                </a:rPr>
                <a:t>模型验证缺少跨时间、跨周期外测试</a:t>
              </a:r>
              <a:r>
                <a:rPr lang="en-US" altLang="zh-CN" b="1" kern="0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Wingdings 3" panose="05040102010807070707" pitchFamily="18" charset="2"/>
                </a:rPr>
                <a:t> 3.</a:t>
              </a:r>
              <a:r>
                <a:rPr lang="zh-CN" altLang="en-US" b="1" kern="0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Wingdings 3" panose="05040102010807070707" pitchFamily="18" charset="2"/>
                </a:rPr>
                <a:t>可解释性研究仅做静态特征归因，未结合经济周期分析风险机制。</a:t>
              </a:r>
              <a:endParaRPr lang="zh-CN" altLang="en-US" b="1" kern="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 3" panose="05040102010807070707" pitchFamily="18" charset="2"/>
              </a:endParaRPr>
            </a:p>
          </p:txBody>
        </p:sp>
      </p:grpSp>
      <p:sp>
        <p:nvSpPr>
          <p:cNvPr id="44" name="AutoShape 4"/>
          <p:cNvSpPr/>
          <p:nvPr>
            <p:custDataLst>
              <p:tags r:id="rId1"/>
            </p:custDataLst>
          </p:nvPr>
        </p:nvSpPr>
        <p:spPr>
          <a:xfrm>
            <a:off x="546735" y="1562735"/>
            <a:ext cx="5290820" cy="4079240"/>
          </a:xfrm>
          <a:prstGeom prst="roundRect">
            <a:avLst>
              <a:gd name="adj" fmla="val 3529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5" name="AutoShape 5"/>
          <p:cNvSpPr/>
          <p:nvPr>
            <p:custDataLst>
              <p:tags r:id="rId2"/>
            </p:custDataLst>
          </p:nvPr>
        </p:nvSpPr>
        <p:spPr>
          <a:xfrm>
            <a:off x="546735" y="1562735"/>
            <a:ext cx="5290820" cy="76200"/>
          </a:xfrm>
          <a:prstGeom prst="roundRect">
            <a:avLst>
              <a:gd name="adj" fmla="val 0"/>
            </a:avLst>
          </a:prstGeom>
          <a:solidFill>
            <a:srgbClr val="811E23"/>
          </a:solidFill>
          <a:ln w="25400" cap="flat" cmpd="sng">
            <a:solidFill>
              <a:srgbClr val="811E23"/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6" name="AutoShape 6"/>
          <p:cNvSpPr/>
          <p:nvPr>
            <p:custDataLst>
              <p:tags r:id="rId3"/>
            </p:custDataLst>
          </p:nvPr>
        </p:nvSpPr>
        <p:spPr>
          <a:xfrm>
            <a:off x="800735" y="1880235"/>
            <a:ext cx="4653915" cy="48006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2000" b="1" i="0" u="none" strike="noStrike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不平衡数据集的处理</a:t>
            </a:r>
            <a:endParaRPr lang="zh-CN" altLang="en-US" sz="2000" b="1" i="0" u="none" strike="noStrike">
              <a:solidFill>
                <a:srgbClr val="1F2937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48" name="AutoShape 8"/>
          <p:cNvSpPr/>
          <p:nvPr>
            <p:custDataLst>
              <p:tags r:id="rId4"/>
            </p:custDataLst>
          </p:nvPr>
        </p:nvSpPr>
        <p:spPr>
          <a:xfrm>
            <a:off x="800735" y="2564765"/>
            <a:ext cx="4916170" cy="118681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just" latinLnBrk="0">
              <a:lnSpc>
                <a:spcPct val="100000"/>
              </a:lnSpc>
              <a:spcAft>
                <a:spcPts val="600"/>
              </a:spcAft>
              <a:defRPr/>
            </a:pPr>
            <a:r>
              <a:rPr lang="zh-CN" altLang="en-US" sz="1600" b="1" i="0" u="none" strike="noStrike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Noto Sans SC" panose="020B0200000000000000" charset="-122"/>
              </a:rPr>
              <a:t>理论演进</a:t>
            </a:r>
            <a:endParaRPr lang="en-US" sz="16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285750" indent="-285750" algn="just" latinLnBrk="0">
              <a:lnSpc>
                <a:spcPct val="125000"/>
              </a:lnSpc>
              <a:spcBef>
                <a:spcPts val="0"/>
              </a:spcBef>
              <a:buFont typeface="Wingdings" panose="05000000000000000000" charset="0"/>
              <a:buChar char="Ø"/>
            </a:pPr>
            <a:r>
              <a:rPr lang="zh-CN" altLang="en-US" sz="1400" b="0" i="0" u="none" strike="noStrike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Noto Sans SC" panose="020B0200000000000000" charset="-122"/>
              </a:rPr>
              <a:t>早期依托传统采样理论，优化</a:t>
            </a:r>
            <a:r>
              <a:rPr lang="en-US" altLang="zh-CN" sz="1400" b="0" i="0" u="none" strike="noStrike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Noto Sans SC" panose="020B0200000000000000" charset="-122"/>
              </a:rPr>
              <a:t>SMOTE</a:t>
            </a:r>
            <a:r>
              <a:rPr lang="zh-CN" altLang="en-US" sz="1400" b="0" i="0" u="none" strike="noStrike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Noto Sans SC" panose="020B0200000000000000" charset="-122"/>
              </a:rPr>
              <a:t>系列混合采样算法，解决数据失衡、过拟合、样本丢失等基础问题。</a:t>
            </a:r>
            <a:endParaRPr lang="zh-CN" altLang="en-US" sz="1400" b="0" i="0" u="none" strike="noStrike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Noto Sans SC" panose="020B0200000000000000" charset="-122"/>
            </a:endParaRPr>
          </a:p>
          <a:p>
            <a:pPr marL="285750" indent="-285750" algn="just" latinLnBrk="0">
              <a:lnSpc>
                <a:spcPct val="125000"/>
              </a:lnSpc>
              <a:spcBef>
                <a:spcPts val="0"/>
              </a:spcBef>
              <a:buFont typeface="Wingdings" panose="05000000000000000000" charset="0"/>
              <a:buChar char="Ø"/>
            </a:pP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Noto Sans SC" panose="020B0200000000000000" charset="-122"/>
              </a:rPr>
              <a:t>后期依托生成式学习理论，结合</a:t>
            </a: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Noto Sans SC" panose="020B0200000000000000" charset="-122"/>
              </a:rPr>
              <a:t>GAN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Noto Sans SC" panose="020B0200000000000000" charset="-122"/>
              </a:rPr>
              <a:t>与可解释性算法，</a:t>
            </a:r>
            <a:r>
              <a:rPr lang="zh-CN" altLang="en-US" sz="1400" b="0" i="0" u="none" strike="noStrike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Noto Sans SC" panose="020B0200000000000000" charset="-122"/>
              </a:rPr>
              <a:t>实现从基础数据平衡到高质量智能样本生成的升级。</a:t>
            </a:r>
            <a:endParaRPr lang="zh-CN" altLang="en-US" sz="1400" b="0" i="0" u="none" strike="noStrike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Noto Sans SC" panose="020B0200000000000000" charset="-122"/>
            </a:endParaRPr>
          </a:p>
        </p:txBody>
      </p:sp>
      <p:sp>
        <p:nvSpPr>
          <p:cNvPr id="50" name="AutoShape 10"/>
          <p:cNvSpPr/>
          <p:nvPr>
            <p:custDataLst>
              <p:tags r:id="rId5"/>
            </p:custDataLst>
          </p:nvPr>
        </p:nvSpPr>
        <p:spPr>
          <a:xfrm>
            <a:off x="800735" y="3933190"/>
            <a:ext cx="4916170" cy="152717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latinLnBrk="0">
              <a:lnSpc>
                <a:spcPct val="100000"/>
              </a:lnSpc>
              <a:spcAft>
                <a:spcPts val="600"/>
              </a:spcAft>
              <a:defRPr/>
            </a:pPr>
            <a:r>
              <a:rPr lang="zh-CN" altLang="en-US" sz="1600" b="1" i="0" u="none" strike="noStrike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技术驱动</a:t>
            </a:r>
            <a:endParaRPr lang="en-US" sz="16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 algn="l" latinLnBrk="0">
              <a:lnSpc>
                <a:spcPct val="125000"/>
              </a:lnSpc>
              <a:spcBef>
                <a:spcPts val="0"/>
              </a:spcBef>
              <a:buFont typeface="Wingdings" panose="05000000000000000000" charset="0"/>
              <a:buChar char="Ø"/>
            </a:pPr>
            <a:r>
              <a:rPr lang="zh-CN" altLang="en-US" sz="1400" b="1" i="0" u="none" strike="noStrike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Noto Sans SC" panose="020B0200000000000000" charset="-122"/>
              </a:rPr>
              <a:t>传统采样技术：</a:t>
            </a:r>
            <a:r>
              <a:rPr lang="zh-CN" altLang="en-US" sz="1400" b="0" i="0" u="none" strike="noStrike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Noto Sans SC" panose="020B0200000000000000" charset="-122"/>
              </a:rPr>
              <a:t>迭代优化</a:t>
            </a:r>
            <a:r>
              <a:rPr lang="en-US" altLang="zh-CN" sz="1400" b="0" i="0" u="none" strike="noStrike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Noto Sans SC" panose="020B0200000000000000" charset="-122"/>
              </a:rPr>
              <a:t>SMOTE</a:t>
            </a:r>
            <a:r>
              <a:rPr lang="zh-CN" altLang="en-US" sz="1400" b="0" i="0" u="none" strike="noStrike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Noto Sans SC" panose="020B0200000000000000" charset="-122"/>
              </a:rPr>
              <a:t>、</a:t>
            </a:r>
            <a:r>
              <a:rPr lang="en-US" altLang="zh-CN" sz="1400" b="0" i="0" u="none" strike="noStrike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Noto Sans SC" panose="020B0200000000000000" charset="-122"/>
              </a:rPr>
              <a:t>ADASYN</a:t>
            </a:r>
            <a:r>
              <a:rPr lang="zh-CN" altLang="en-US" sz="1400" b="0" i="0" u="none" strike="noStrike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Noto Sans SC" panose="020B0200000000000000" charset="-122"/>
              </a:rPr>
              <a:t>等算法，结合聚类、混合采样方式，规避噪声、过拟合、样本缺失问题。</a:t>
            </a:r>
            <a:endParaRPr lang="zh-CN" altLang="en-US" sz="1400" b="0" i="0" u="none" strike="noStrike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Noto Sans SC" panose="020B0200000000000000" charset="-122"/>
            </a:endParaRPr>
          </a:p>
          <a:p>
            <a:pPr marL="285750" indent="-285750" algn="l" latinLnBrk="0">
              <a:lnSpc>
                <a:spcPct val="125000"/>
              </a:lnSpc>
              <a:spcBef>
                <a:spcPts val="0"/>
              </a:spcBef>
              <a:buFont typeface="Wingdings" panose="05000000000000000000" charset="0"/>
              <a:buChar char="Ø"/>
            </a:pPr>
            <a:r>
              <a:rPr lang="zh-CN" altLang="en-US" sz="1400" b="1" i="0" u="none" strike="noStrike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Noto Sans SC" panose="020B0200000000000000" charset="-122"/>
              </a:rPr>
              <a:t>生成式增强技术：</a:t>
            </a:r>
            <a:r>
              <a:rPr lang="zh-CN" altLang="en-US" sz="1400" b="0" i="0" u="none" strike="noStrike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Noto Sans SC" panose="020B0200000000000000" charset="-122"/>
              </a:rPr>
              <a:t>以</a:t>
            </a:r>
            <a:r>
              <a:rPr lang="en-US" altLang="zh-CN" sz="1400" b="0" i="0" u="none" strike="noStrike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Noto Sans SC" panose="020B0200000000000000" charset="-122"/>
              </a:rPr>
              <a:t>GAN</a:t>
            </a:r>
            <a:r>
              <a:rPr lang="zh-CN" altLang="en-US" sz="1400" b="0" i="0" u="none" strike="noStrike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Noto Sans SC" panose="020B0200000000000000" charset="-122"/>
              </a:rPr>
              <a:t>衍生算法、扩散模型为核心，融合自适应权重、可解释性优化。</a:t>
            </a:r>
            <a:endParaRPr lang="zh-CN" altLang="en-US" sz="1400" b="0" i="0" u="none" strike="noStrike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Noto Sans SC" panose="020B0200000000000000" charset="-122"/>
            </a:endParaRPr>
          </a:p>
        </p:txBody>
      </p:sp>
      <p:sp>
        <p:nvSpPr>
          <p:cNvPr id="69" name="AutoShape 4"/>
          <p:cNvSpPr/>
          <p:nvPr>
            <p:custDataLst>
              <p:tags r:id="rId6"/>
            </p:custDataLst>
          </p:nvPr>
        </p:nvSpPr>
        <p:spPr>
          <a:xfrm>
            <a:off x="6455410" y="1562735"/>
            <a:ext cx="5290820" cy="4079240"/>
          </a:xfrm>
          <a:prstGeom prst="roundRect">
            <a:avLst>
              <a:gd name="adj" fmla="val 3529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0" name="AutoShape 5"/>
          <p:cNvSpPr/>
          <p:nvPr>
            <p:custDataLst>
              <p:tags r:id="rId7"/>
            </p:custDataLst>
          </p:nvPr>
        </p:nvSpPr>
        <p:spPr>
          <a:xfrm>
            <a:off x="6455410" y="1562735"/>
            <a:ext cx="5290820" cy="76200"/>
          </a:xfrm>
          <a:prstGeom prst="roundRect">
            <a:avLst>
              <a:gd name="adj" fmla="val 0"/>
            </a:avLst>
          </a:prstGeom>
          <a:solidFill>
            <a:srgbClr val="811E23"/>
          </a:solidFill>
          <a:ln w="25400" cap="flat" cmpd="sng">
            <a:solidFill>
              <a:srgbClr val="811E23"/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1" name="AutoShape 6"/>
          <p:cNvSpPr/>
          <p:nvPr>
            <p:custDataLst>
              <p:tags r:id="rId8"/>
            </p:custDataLst>
          </p:nvPr>
        </p:nvSpPr>
        <p:spPr>
          <a:xfrm>
            <a:off x="6709410" y="1880235"/>
            <a:ext cx="4653915" cy="48006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2000" b="1" i="0" u="none" strike="noStrike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信贷风险预测</a:t>
            </a:r>
            <a:endParaRPr lang="zh-CN" altLang="en-US" sz="2000" b="1" i="0" u="none" strike="noStrike">
              <a:solidFill>
                <a:srgbClr val="1F2937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72" name="AutoShape 8"/>
          <p:cNvSpPr/>
          <p:nvPr>
            <p:custDataLst>
              <p:tags r:id="rId9"/>
            </p:custDataLst>
          </p:nvPr>
        </p:nvSpPr>
        <p:spPr>
          <a:xfrm>
            <a:off x="6709410" y="2564765"/>
            <a:ext cx="4848860" cy="118681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latinLnBrk="0">
              <a:lnSpc>
                <a:spcPct val="100000"/>
              </a:lnSpc>
              <a:spcAft>
                <a:spcPts val="600"/>
              </a:spcAft>
              <a:defRPr/>
            </a:pPr>
            <a:r>
              <a:rPr lang="zh-CN" altLang="en-US" sz="1600" b="1" i="0" u="none" strike="noStrike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Noto Sans SC" panose="020B0200000000000000" charset="-122"/>
              </a:rPr>
              <a:t>理论奠基</a:t>
            </a:r>
            <a:endParaRPr lang="en-US" sz="16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285750" indent="-285750" algn="just">
              <a:lnSpc>
                <a:spcPct val="125000"/>
              </a:lnSpc>
              <a:buClrTx/>
              <a:buSzTx/>
              <a:buFont typeface="Wingdings" panose="05000000000000000000" pitchFamily="2" charset="2"/>
              <a:buChar char="Ø"/>
            </a:pPr>
            <a:r>
              <a:rPr lang="en-US" altLang="zh-CN" sz="1400" dirty="0">
                <a:latin typeface="Times New Roman" panose="02020603050405020304" charset="0"/>
                <a:ea typeface="微软雅黑" panose="020B0503020204020204" pitchFamily="34" charset="-122"/>
                <a:sym typeface="+mn-ea"/>
              </a:rPr>
              <a:t>Altman</a:t>
            </a:r>
            <a:r>
              <a:rPr lang="zh-CN" altLang="en-US" sz="1400" dirty="0">
                <a:latin typeface="Times New Roman" panose="02020603050405020304" charset="0"/>
                <a:ea typeface="微软雅黑" panose="020B0503020204020204" pitchFamily="34" charset="-122"/>
                <a:sym typeface="+mn-ea"/>
              </a:rPr>
              <a:t>（</a:t>
            </a:r>
            <a:r>
              <a:rPr lang="en-US" altLang="zh-CN" sz="1400" dirty="0">
                <a:latin typeface="Times New Roman" panose="02020603050405020304" charset="0"/>
                <a:ea typeface="微软雅黑" panose="020B0503020204020204" pitchFamily="34" charset="-122"/>
                <a:sym typeface="+mn-ea"/>
              </a:rPr>
              <a:t>1968</a:t>
            </a:r>
            <a:r>
              <a:rPr lang="zh-CN" altLang="en-US" sz="1400" dirty="0">
                <a:latin typeface="Times New Roman" panose="02020603050405020304" charset="0"/>
                <a:ea typeface="微软雅黑" panose="020B0503020204020204" pitchFamily="34" charset="-122"/>
                <a:sym typeface="+mn-ea"/>
              </a:rPr>
              <a:t>）提出Z-Score模型，整合多维财务指标，建立了企业财务的量化判别标准。</a:t>
            </a:r>
            <a:endParaRPr lang="zh-CN" altLang="en-US" sz="1400" dirty="0">
              <a:latin typeface="Times New Roman" panose="02020603050405020304" charset="0"/>
              <a:ea typeface="微软雅黑" panose="020B0503020204020204" pitchFamily="34" charset="-122"/>
            </a:endParaRPr>
          </a:p>
          <a:p>
            <a:pPr marL="285750" indent="-285750" algn="just">
              <a:lnSpc>
                <a:spcPct val="125000"/>
              </a:lnSpc>
              <a:buClrTx/>
              <a:buSzTx/>
              <a:buFont typeface="Wingdings" panose="05000000000000000000" pitchFamily="2" charset="2"/>
              <a:buChar char="Ø"/>
            </a:pPr>
            <a:r>
              <a:rPr lang="zh-CN" altLang="en-US" sz="1400" dirty="0">
                <a:latin typeface="Times New Roman" panose="02020603050405020304" charset="0"/>
                <a:ea typeface="微软雅黑" panose="020B0503020204020204" pitchFamily="34" charset="-122"/>
                <a:sym typeface="+mn-ea"/>
              </a:rPr>
              <a:t>风险评估从主观经验判断向客观计量分析的跨越，为后续复杂算法的应用提供了方法论基础</a:t>
            </a:r>
            <a:endParaRPr lang="zh-CN" altLang="en-US" sz="1400" b="0" i="0" u="none" strike="noStrike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Noto Sans SC" panose="020B0200000000000000" charset="-122"/>
            </a:endParaRPr>
          </a:p>
        </p:txBody>
      </p:sp>
      <p:sp>
        <p:nvSpPr>
          <p:cNvPr id="73" name="AutoShape 10"/>
          <p:cNvSpPr/>
          <p:nvPr>
            <p:custDataLst>
              <p:tags r:id="rId10"/>
            </p:custDataLst>
          </p:nvPr>
        </p:nvSpPr>
        <p:spPr>
          <a:xfrm>
            <a:off x="6709410" y="3933190"/>
            <a:ext cx="4849495" cy="152717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latinLnBrk="0">
              <a:lnSpc>
                <a:spcPct val="100000"/>
              </a:lnSpc>
              <a:spcAft>
                <a:spcPts val="600"/>
              </a:spcAft>
              <a:defRPr/>
            </a:pPr>
            <a:r>
              <a:rPr lang="zh-CN" altLang="en-US" sz="1600" b="1" i="0" u="none" strike="noStrike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技术革新</a:t>
            </a:r>
            <a:endParaRPr lang="en-US" sz="16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 algn="just" fontAlgn="auto">
              <a:lnSpc>
                <a:spcPct val="125000"/>
              </a:lnSpc>
              <a:buFont typeface="Wingdings" panose="05000000000000000000" pitchFamily="2" charset="2"/>
              <a:buChar char="Ø"/>
            </a:pPr>
            <a:r>
              <a:rPr lang="zh-CN" altLang="en-US" sz="1400" b="1" dirty="0">
                <a:latin typeface="Times New Roman" panose="02020603050405020304" charset="0"/>
                <a:ea typeface="微软雅黑" panose="020B0503020204020204" pitchFamily="34" charset="-122"/>
                <a:sym typeface="+mn-ea"/>
              </a:rPr>
              <a:t>智能模型迭代升级：</a:t>
            </a:r>
            <a:r>
              <a:rPr lang="zh-CN" altLang="en-US" sz="1400" dirty="0">
                <a:latin typeface="Times New Roman" panose="02020603050405020304" charset="0"/>
                <a:ea typeface="微软雅黑" panose="020B0503020204020204" pitchFamily="34" charset="-122"/>
                <a:sym typeface="+mn-ea"/>
              </a:rPr>
              <a:t>将</a:t>
            </a:r>
            <a:r>
              <a:rPr lang="en-US" altLang="zh-CN" sz="1400" dirty="0">
                <a:latin typeface="Times New Roman" panose="02020603050405020304" charset="0"/>
                <a:ea typeface="微软雅黑" panose="020B0503020204020204" pitchFamily="34" charset="-122"/>
                <a:sym typeface="+mn-ea"/>
              </a:rPr>
              <a:t>XGBoost</a:t>
            </a:r>
            <a:r>
              <a:rPr lang="zh-CN" altLang="en-US" sz="1400" dirty="0">
                <a:latin typeface="Times New Roman" panose="02020603050405020304" charset="0"/>
                <a:ea typeface="微软雅黑" panose="020B0503020204020204" pitchFamily="34" charset="-122"/>
                <a:sym typeface="+mn-ea"/>
              </a:rPr>
              <a:t>、</a:t>
            </a:r>
            <a:r>
              <a:rPr lang="en-US" altLang="zh-CN" sz="1400" dirty="0">
                <a:latin typeface="Times New Roman" panose="02020603050405020304" charset="0"/>
                <a:ea typeface="微软雅黑" panose="020B0503020204020204" pitchFamily="34" charset="-122"/>
                <a:sym typeface="+mn-ea"/>
              </a:rPr>
              <a:t>LightGBM </a:t>
            </a:r>
            <a:r>
              <a:rPr lang="zh-CN" altLang="en-US" sz="1400" dirty="0">
                <a:latin typeface="Times New Roman" panose="02020603050405020304" charset="0"/>
                <a:ea typeface="微软雅黑" panose="020B0503020204020204" pitchFamily="34" charset="-122"/>
                <a:sym typeface="+mn-ea"/>
              </a:rPr>
              <a:t>等机器学习模型及特征筛选、智能调参优化算法引入信用风险评估</a:t>
            </a:r>
            <a:endParaRPr lang="zh-CN" altLang="en-US" sz="1400" dirty="0">
              <a:latin typeface="Times New Roman" panose="02020603050405020304" charset="0"/>
              <a:ea typeface="微软雅黑" panose="020B0503020204020204" pitchFamily="34" charset="-122"/>
              <a:sym typeface="+mn-ea"/>
            </a:endParaRPr>
          </a:p>
          <a:p>
            <a:pPr marL="285750" indent="-285750" algn="just" fontAlgn="auto">
              <a:lnSpc>
                <a:spcPct val="125000"/>
              </a:lnSpc>
              <a:buFont typeface="Wingdings" panose="05000000000000000000" pitchFamily="2" charset="2"/>
              <a:buChar char="Ø"/>
            </a:pPr>
            <a:r>
              <a:rPr lang="zh-CN" altLang="en-US" sz="1400" b="1" dirty="0">
                <a:latin typeface="Times New Roman" panose="02020603050405020304" charset="0"/>
                <a:ea typeface="微软雅黑" panose="020B0503020204020204" pitchFamily="34" charset="-122"/>
                <a:sym typeface="+mn-ea"/>
              </a:rPr>
              <a:t>集成学习建模：</a:t>
            </a:r>
            <a:r>
              <a:rPr lang="zh-CN" altLang="en-US" sz="1400" b="0" i="0" u="none" strike="noStrike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Noto Sans SC" panose="020B0200000000000000" charset="-122"/>
              </a:rPr>
              <a:t>通过融合多类差异化基模型优势，弥补单一模型的缺陷，提升预测精度</a:t>
            </a:r>
            <a:endParaRPr lang="zh-CN" altLang="en-US" sz="1400" b="0" i="0" u="none" strike="noStrike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Noto Sans SC" panose="020B0200000000000000" charset="-122"/>
            </a:endParaRPr>
          </a:p>
        </p:txBody>
      </p:sp>
    </p:spTree>
  </p:cSld>
  <p:clrMapOvr>
    <a:masterClrMapping/>
  </p:clrMapOvr>
  <p:transition spd="slow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438" name="组合 4"/>
          <p:cNvGrpSpPr/>
          <p:nvPr/>
        </p:nvGrpSpPr>
        <p:grpSpPr bwMode="auto">
          <a:xfrm>
            <a:off x="550863" y="984250"/>
            <a:ext cx="2668270" cy="469900"/>
            <a:chOff x="992516" y="4392689"/>
            <a:chExt cx="2574484" cy="358868"/>
          </a:xfrm>
        </p:grpSpPr>
        <p:sp>
          <p:nvSpPr>
            <p:cNvPr id="54" name="矩形 53"/>
            <p:cNvSpPr/>
            <p:nvPr/>
          </p:nvSpPr>
          <p:spPr>
            <a:xfrm>
              <a:off x="1820860" y="4392689"/>
              <a:ext cx="1746140" cy="358868"/>
            </a:xfrm>
            <a:prstGeom prst="rect">
              <a:avLst/>
            </a:prstGeom>
            <a:solidFill>
              <a:srgbClr val="7C2326">
                <a:alpha val="9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2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研究方法</a:t>
              </a:r>
              <a:endPara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6" name="TextBox 47"/>
            <p:cNvSpPr txBox="1"/>
            <p:nvPr/>
          </p:nvSpPr>
          <p:spPr>
            <a:xfrm>
              <a:off x="992516" y="4397539"/>
              <a:ext cx="759724" cy="351594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</p:spPr>
          <p:txBody>
            <a:bodyPr anchor="ctr">
              <a:spAutoFit/>
            </a:bodyPr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2400" b="1" dirty="0">
                  <a:solidFill>
                    <a:schemeClr val="l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二</a:t>
              </a:r>
              <a:endParaRPr lang="zh-CN" altLang="en-US" sz="2400" b="1" dirty="0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75248"/>
            <a:ext cx="127000" cy="30670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30153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6" name="AutoShape 12"/>
          <p:cNvSpPr/>
          <p:nvPr/>
        </p:nvSpPr>
        <p:spPr>
          <a:xfrm>
            <a:off x="551180" y="1701165"/>
            <a:ext cx="5207000" cy="4893945"/>
          </a:xfrm>
          <a:prstGeom prst="roundRect">
            <a:avLst>
              <a:gd name="adj" fmla="val 3529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7" name="AutoShape 14"/>
          <p:cNvSpPr/>
          <p:nvPr/>
        </p:nvSpPr>
        <p:spPr>
          <a:xfrm>
            <a:off x="871855" y="1772920"/>
            <a:ext cx="4505325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2200" b="1">
                <a:solidFill>
                  <a:srgbClr val="811E2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Noto Sans SC" panose="020B0200000000000000" charset="-122"/>
              </a:rPr>
              <a:t>数据生成</a:t>
            </a:r>
            <a:r>
              <a:rPr lang="en-US" sz="2200" b="1">
                <a:solidFill>
                  <a:srgbClr val="811E2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Noto Sans SC" panose="020B0200000000000000" charset="-122"/>
              </a:rPr>
              <a:t>算法：BA-cWGAN-GP</a:t>
            </a:r>
            <a:endParaRPr lang="zh-CN" altLang="en-US" sz="2200" b="1" i="0" u="none" strike="noStrike">
              <a:solidFill>
                <a:srgbClr val="811E2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Noto Sans SC" panose="020B0200000000000000" charset="-122"/>
            </a:endParaRPr>
          </a:p>
        </p:txBody>
      </p:sp>
      <p:sp>
        <p:nvSpPr>
          <p:cNvPr id="68" name="AutoShape 15"/>
          <p:cNvSpPr/>
          <p:nvPr/>
        </p:nvSpPr>
        <p:spPr>
          <a:xfrm>
            <a:off x="911225" y="2277110"/>
            <a:ext cx="4524375" cy="45339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just" latinLnBrk="0">
              <a:lnSpc>
                <a:spcPct val="125000"/>
              </a:lnSpc>
              <a:defRPr/>
            </a:pPr>
            <a:r>
              <a:rPr lang="zh-CN" altLang="en-US" sz="1300" b="0" i="0" u="none" strike="noStrike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Noto Sans SC" panose="020B0200000000000000" charset="-122"/>
              </a:rPr>
              <a:t>生成器不再</a:t>
            </a:r>
            <a:r>
              <a:rPr lang="en-US" altLang="zh-CN" sz="1300" b="0" i="0" u="none" strike="noStrike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Noto Sans SC" panose="020B0200000000000000" charset="-122"/>
              </a:rPr>
              <a:t>"</a:t>
            </a:r>
            <a:r>
              <a:rPr lang="zh-CN" altLang="en-US" sz="1300" b="0" i="0" u="none" strike="noStrike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Noto Sans SC" panose="020B0200000000000000" charset="-122"/>
              </a:rPr>
              <a:t>盲生成</a:t>
            </a:r>
            <a:r>
              <a:rPr lang="en-US" altLang="zh-CN" sz="1300" b="0" i="0" u="none" strike="noStrike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Noto Sans SC" panose="020B0200000000000000" charset="-122"/>
              </a:rPr>
              <a:t>"</a:t>
            </a:r>
            <a:r>
              <a:rPr lang="zh-CN" altLang="en-US" sz="1300" b="0" i="0" u="none" strike="noStrike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Noto Sans SC" panose="020B0200000000000000" charset="-122"/>
              </a:rPr>
              <a:t>，而是被边界损失引导至决策边界附近，生成对下游分类器最有训练价值的合成违约样本。</a:t>
            </a:r>
            <a:endParaRPr lang="zh-CN" altLang="en-US" sz="1300" b="0" i="0" u="none" strike="noStrike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Noto Sans SC" panose="020B0200000000000000" charset="-122"/>
            </a:endParaRPr>
          </a:p>
        </p:txBody>
      </p:sp>
      <p:sp>
        <p:nvSpPr>
          <p:cNvPr id="69" name="AutoShape 16"/>
          <p:cNvSpPr/>
          <p:nvPr/>
        </p:nvSpPr>
        <p:spPr>
          <a:xfrm>
            <a:off x="855980" y="2852420"/>
            <a:ext cx="4597400" cy="1242695"/>
          </a:xfrm>
          <a:prstGeom prst="roundRect">
            <a:avLst>
              <a:gd name="adj" fmla="val 8888"/>
            </a:avLst>
          </a:prstGeom>
          <a:solidFill>
            <a:srgbClr val="FFFB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1" name="AutoShape 18"/>
          <p:cNvSpPr/>
          <p:nvPr/>
        </p:nvSpPr>
        <p:spPr>
          <a:xfrm>
            <a:off x="838835" y="4166870"/>
            <a:ext cx="4597400" cy="1027430"/>
          </a:xfrm>
          <a:prstGeom prst="roundRect">
            <a:avLst>
              <a:gd name="adj" fmla="val 11428"/>
            </a:avLst>
          </a:prstGeom>
          <a:solidFill>
            <a:schemeClr val="accent6">
              <a:lumMod val="20000"/>
              <a:lumOff val="80000"/>
            </a:scheme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5" name="AutoShape 12"/>
          <p:cNvSpPr/>
          <p:nvPr/>
        </p:nvSpPr>
        <p:spPr>
          <a:xfrm>
            <a:off x="6424295" y="1700530"/>
            <a:ext cx="5207000" cy="4895215"/>
          </a:xfrm>
          <a:prstGeom prst="roundRect">
            <a:avLst>
              <a:gd name="adj" fmla="val 3529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6" name="AutoShape 14"/>
          <p:cNvSpPr/>
          <p:nvPr/>
        </p:nvSpPr>
        <p:spPr>
          <a:xfrm>
            <a:off x="6748145" y="1772920"/>
            <a:ext cx="4505325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2200" b="1">
                <a:solidFill>
                  <a:srgbClr val="811E2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Noto Sans SC" panose="020B0200000000000000" charset="-122"/>
              </a:rPr>
              <a:t>跨周期预测</a:t>
            </a:r>
            <a:r>
              <a:rPr lang="en-US" sz="2200" b="1">
                <a:solidFill>
                  <a:srgbClr val="811E2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Noto Sans SC" panose="020B0200000000000000" charset="-122"/>
              </a:rPr>
              <a:t>：OOS</a:t>
            </a:r>
            <a:r>
              <a:rPr lang="zh-CN" altLang="en-US" sz="2200" b="1">
                <a:solidFill>
                  <a:srgbClr val="811E2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Noto Sans SC" panose="020B0200000000000000" charset="-122"/>
              </a:rPr>
              <a:t>、</a:t>
            </a:r>
            <a:r>
              <a:rPr lang="en-US" altLang="zh-CN" sz="2200" b="1">
                <a:solidFill>
                  <a:srgbClr val="811E2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Noto Sans SC" panose="020B0200000000000000" charset="-122"/>
              </a:rPr>
              <a:t>OOT</a:t>
            </a:r>
            <a:r>
              <a:rPr lang="zh-CN" altLang="en-US" sz="2200" b="1">
                <a:solidFill>
                  <a:srgbClr val="811E2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Noto Sans SC" panose="020B0200000000000000" charset="-122"/>
              </a:rPr>
              <a:t>样本划分</a:t>
            </a:r>
            <a:endParaRPr lang="zh-CN" altLang="en-US" sz="2200" b="1" i="0" u="none" strike="noStrike">
              <a:solidFill>
                <a:srgbClr val="811E2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Noto Sans SC" panose="020B0200000000000000" charset="-122"/>
            </a:endParaRPr>
          </a:p>
        </p:txBody>
      </p:sp>
      <p:sp>
        <p:nvSpPr>
          <p:cNvPr id="77" name="AutoShape 15"/>
          <p:cNvSpPr/>
          <p:nvPr/>
        </p:nvSpPr>
        <p:spPr>
          <a:xfrm>
            <a:off x="6748145" y="2191385"/>
            <a:ext cx="4597400" cy="67056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zh-CN" altLang="en-US" sz="1300" b="0" i="0" u="none" strike="noStrike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Noto Sans SC" panose="020B0200000000000000" charset="-122"/>
              </a:rPr>
              <a:t>采用</a:t>
            </a:r>
            <a:r>
              <a:rPr lang="en-US" altLang="zh-CN" sz="1300" b="0" i="0" u="none" strike="noStrike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Noto Sans SC" panose="020B0200000000000000" charset="-122"/>
              </a:rPr>
              <a:t> OOS + OOT </a:t>
            </a:r>
            <a:r>
              <a:rPr lang="zh-CN" altLang="en-US" sz="1300" b="0" i="0" u="none" strike="noStrike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Noto Sans SC" panose="020B0200000000000000" charset="-122"/>
              </a:rPr>
              <a:t>双测试集验证，</a:t>
            </a:r>
            <a:r>
              <a:rPr lang="en-US" altLang="zh-CN" sz="1300" b="0" i="0" u="none" strike="noStrike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Noto Sans SC" panose="020B0200000000000000" charset="-122"/>
              </a:rPr>
              <a:t>OOT</a:t>
            </a:r>
            <a:r>
              <a:rPr lang="zh-CN" altLang="en-US" sz="1300" b="0" i="0" u="none" strike="noStrike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Noto Sans SC" panose="020B0200000000000000" charset="-122"/>
              </a:rPr>
              <a:t>可以验证</a:t>
            </a:r>
            <a:r>
              <a:rPr lang="en-US" altLang="zh-CN" sz="1300" b="0" i="0" u="none" strike="noStrike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Noto Sans SC" panose="020B0200000000000000" charset="-122"/>
              </a:rPr>
              <a:t>2023</a:t>
            </a:r>
            <a:r>
              <a:rPr lang="zh-CN" altLang="en-US" sz="1300" b="0" i="0" u="none" strike="noStrike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Noto Sans SC" panose="020B0200000000000000" charset="-122"/>
              </a:rPr>
              <a:t>年加息高峰的宏观环境剧变下，模型是否有效</a:t>
            </a:r>
            <a:endParaRPr lang="zh-CN" altLang="en-US" sz="1300" b="0" i="0" u="none" strike="noStrike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Noto Sans SC" panose="020B0200000000000000" charset="-122"/>
            </a:endParaRPr>
          </a:p>
        </p:txBody>
      </p:sp>
      <p:sp>
        <p:nvSpPr>
          <p:cNvPr id="84" name="文本框 83"/>
          <p:cNvSpPr txBox="1"/>
          <p:nvPr/>
        </p:nvSpPr>
        <p:spPr>
          <a:xfrm>
            <a:off x="914400" y="2852420"/>
            <a:ext cx="4420235" cy="12299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 b="1">
                <a:solidFill>
                  <a:srgbClr val="B4530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Phase 1 </a:t>
            </a:r>
            <a:r>
              <a:rPr lang="zh-CN" altLang="en-US" sz="1400" b="1">
                <a:solidFill>
                  <a:srgbClr val="B4530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：违约倾向得分提取</a:t>
            </a:r>
            <a:endParaRPr lang="zh-CN" altLang="en-US" sz="1400" b="1">
              <a:solidFill>
                <a:srgbClr val="B4530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从月度</a:t>
            </a:r>
            <a:r>
              <a:rPr lang="en-US" altLang="zh-CN" sz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Performance </a:t>
            </a:r>
            <a:r>
              <a:rPr lang="zh-CN" altLang="en-US" sz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数据回溯首次违约月份，标注</a:t>
            </a:r>
            <a:r>
              <a:rPr lang="en-US" altLang="zh-CN" sz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Early / Late Default</a:t>
            </a:r>
            <a:endParaRPr lang="en-US" altLang="zh-CN" sz="12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训练</a:t>
            </a:r>
            <a:r>
              <a:rPr lang="en-US" altLang="zh-CN" sz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XGBoost </a:t>
            </a:r>
            <a:r>
              <a:rPr lang="zh-CN" altLang="en-US" sz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违约速度分类器（</a:t>
            </a:r>
            <a:r>
              <a:rPr lang="en-US" altLang="zh-CN" sz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speed_clf</a:t>
            </a:r>
            <a:r>
              <a:rPr lang="zh-CN" altLang="en-US" sz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），对右删失样本推断</a:t>
            </a:r>
            <a:r>
              <a:rPr lang="en-US" altLang="zh-CN" sz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r </a:t>
            </a:r>
            <a:r>
              <a:rPr lang="zh-CN" altLang="en-US" sz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值</a:t>
            </a:r>
            <a:endParaRPr lang="zh-CN" altLang="en-US" sz="12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输出：每笔违约贷款的</a:t>
            </a:r>
            <a:r>
              <a:rPr lang="zh-CN" altLang="en-US" sz="12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违约倾向得分</a:t>
            </a:r>
            <a:r>
              <a:rPr lang="en-US" altLang="zh-CN" sz="12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r ∈ [0,1</a:t>
            </a:r>
            <a:r>
              <a:rPr lang="en-US" altLang="zh-CN" sz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]</a:t>
            </a:r>
            <a:endParaRPr lang="en-US" altLang="zh-CN" sz="12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85" name="文本框 84"/>
          <p:cNvSpPr txBox="1"/>
          <p:nvPr/>
        </p:nvSpPr>
        <p:spPr>
          <a:xfrm>
            <a:off x="913765" y="4220845"/>
            <a:ext cx="4468495" cy="8604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 b="1">
                <a:solidFill>
                  <a:srgbClr val="E46C0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Phase 2 </a:t>
            </a:r>
            <a:r>
              <a:rPr lang="zh-CN" altLang="en-US" sz="1400" b="1">
                <a:solidFill>
                  <a:srgbClr val="E46C0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：决策边界识别</a:t>
            </a:r>
            <a:endParaRPr lang="zh-CN" altLang="en-US" sz="1400" b="1">
              <a:solidFill>
                <a:srgbClr val="E46C0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训练</a:t>
            </a:r>
            <a:r>
              <a:rPr lang="en-US" altLang="zh-CN" sz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XGBoost </a:t>
            </a:r>
            <a:r>
              <a:rPr lang="zh-CN" altLang="en-US" sz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基分类器</a:t>
            </a:r>
            <a:r>
              <a:rPr lang="en-US" altLang="zh-CN" sz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en-US" altLang="en-US" sz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→</a:t>
            </a:r>
            <a:r>
              <a:rPr lang="en-US" altLang="zh-CN" sz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sz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计算边界距离</a:t>
            </a:r>
            <a:r>
              <a:rPr lang="en-US" altLang="zh-CN" sz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d = |p − 0.5|</a:t>
            </a:r>
            <a:endParaRPr lang="en-US" altLang="zh-CN" sz="12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知识蒸馏：</a:t>
            </a:r>
            <a:r>
              <a:rPr lang="en-US" altLang="zh-CN" sz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NN </a:t>
            </a:r>
            <a:r>
              <a:rPr lang="zh-CN" altLang="en-US" sz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代理模型复刻</a:t>
            </a:r>
            <a:r>
              <a:rPr lang="en-US" altLang="zh-CN" sz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XGBoost </a:t>
            </a:r>
            <a:r>
              <a:rPr lang="zh-CN" altLang="en-US" sz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边界逻辑</a:t>
            </a:r>
            <a:r>
              <a:rPr lang="en-US" altLang="zh-CN" sz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(r = 0.983)</a:t>
            </a:r>
            <a:endParaRPr lang="zh-CN" altLang="en-US" sz="12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输出：边界采样权重</a:t>
            </a:r>
            <a:r>
              <a:rPr lang="en-US" altLang="zh-CN" sz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w = 1/(d+ε)</a:t>
            </a:r>
            <a:r>
              <a:rPr lang="en-US" altLang="en-US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→</a:t>
            </a:r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找到</a:t>
            </a:r>
            <a:r>
              <a: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最有价值的违约样本</a:t>
            </a:r>
            <a:endParaRPr lang="zh-CN" altLang="en-US" sz="1200" b="1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86" name="AutoShape 18"/>
          <p:cNvSpPr/>
          <p:nvPr/>
        </p:nvSpPr>
        <p:spPr>
          <a:xfrm>
            <a:off x="838835" y="5259070"/>
            <a:ext cx="4597400" cy="1270000"/>
          </a:xfrm>
          <a:prstGeom prst="roundRect">
            <a:avLst>
              <a:gd name="adj" fmla="val 11428"/>
            </a:avLst>
          </a:prstGeom>
          <a:solidFill>
            <a:srgbClr val="EEE4E2">
              <a:alpha val="6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7" name="文本框 86"/>
              <p:cNvSpPr txBox="1"/>
              <p:nvPr/>
            </p:nvSpPr>
            <p:spPr>
              <a:xfrm>
                <a:off x="911225" y="5278755"/>
                <a:ext cx="4420235" cy="12376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just"/>
                <a:r>
                  <a:rPr lang="en-US" altLang="zh-CN" sz="1400" b="1">
                    <a:solidFill>
                      <a:schemeClr val="accent4">
                        <a:lumMod val="5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Phase 3</a:t>
                </a:r>
                <a:r>
                  <a:rPr lang="zh-CN" altLang="en-US" sz="1400" b="1">
                    <a:solidFill>
                      <a:schemeClr val="accent4">
                        <a:lumMod val="5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：</a:t>
                </a:r>
                <a:r>
                  <a:rPr lang="en-US" altLang="zh-CN" sz="1400" b="1">
                    <a:solidFill>
                      <a:schemeClr val="accent4">
                        <a:lumMod val="5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BA-cWGAN-GP </a:t>
                </a:r>
                <a:r>
                  <a:rPr lang="zh-CN" altLang="en-US" sz="1400" b="1">
                    <a:solidFill>
                      <a:schemeClr val="accent4">
                        <a:lumMod val="5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定向生成</a:t>
                </a:r>
                <a:endParaRPr lang="zh-CN" altLang="en-US" sz="1400" b="1">
                  <a:solidFill>
                    <a:schemeClr val="accent4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endParaRPr>
              </a:p>
              <a:p>
                <a:pPr marL="171450" indent="-171450" algn="just">
                  <a:buFont typeface="Arial" panose="020B0604020202020204" pitchFamily="34" charset="0"/>
                  <a:buChar char="•"/>
                </a:pPr>
                <a:r>
                  <a:rPr lang="zh-CN" altLang="en-US" sz="12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条件输入：</a:t>
                </a:r>
                <a:r>
                  <a:rPr lang="en-US" altLang="zh-CN" sz="12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z</a:t>
                </a:r>
                <a:r>
                  <a:rPr lang="zh-CN" altLang="en-US" sz="12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（噪声</a:t>
                </a:r>
                <a:r>
                  <a:rPr lang="en-US" altLang="zh-CN" sz="12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, 100</a:t>
                </a:r>
                <a:r>
                  <a:rPr lang="zh-CN" altLang="en-US" sz="12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维）</a:t>
                </a:r>
                <a:r>
                  <a:rPr lang="en-US" altLang="zh-CN" sz="12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+ r</a:t>
                </a:r>
                <a:r>
                  <a:rPr lang="zh-CN" altLang="en-US" sz="12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（违约倾向</a:t>
                </a:r>
                <a:r>
                  <a:rPr lang="en-US" altLang="zh-CN" sz="12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, 1</a:t>
                </a:r>
                <a:r>
                  <a:rPr lang="zh-CN" altLang="en-US" sz="12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维）</a:t>
                </a:r>
                <a:endParaRPr lang="zh-CN" altLang="en-US" sz="12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endParaRPr>
              </a:p>
              <a:p>
                <a:pPr marL="171450" indent="-171450" algn="just">
                  <a:buFont typeface="Arial" panose="020B0604020202020204" pitchFamily="34" charset="0"/>
                  <a:buChar char="•"/>
                </a:pPr>
                <a:r>
                  <a:rPr lang="zh-CN" altLang="en-US" sz="12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三项联合损失：</a:t>
                </a:r>
                <a:endParaRPr lang="zh-CN" altLang="en-US" sz="12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endParaRPr>
              </a:p>
              <a:p>
                <a:pPr marL="172720" indent="0" algn="just" latinLnBrk="0">
                  <a:buFont typeface="Arial" panose="020B0604020202020204" pitchFamily="34" charset="0"/>
                  <a:buNone/>
                </a:pPr>
                <a:r>
                  <a:rPr lang="en-US" altLang="zh-CN" sz="12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(1)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200" i="1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微软雅黑" panose="020B0503020204020204" pitchFamily="34" charset="-122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sz="1200" i="1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微软雅黑" panose="020B0503020204020204" pitchFamily="34" charset="-122"/>
                            <a:cs typeface="Cambria Math" panose="02040503050406030204" charset="0"/>
                          </a:rPr>
                          <m:t>𝐿</m:t>
                        </m:r>
                      </m:e>
                      <m:sub>
                        <m:r>
                          <a:rPr lang="en-US" altLang="zh-CN" sz="1200" i="1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微软雅黑" panose="020B0503020204020204" pitchFamily="34" charset="-122"/>
                            <a:cs typeface="Cambria Math" panose="02040503050406030204" charset="0"/>
                          </a:rPr>
                          <m:t>𝑎𝑑𝑣</m:t>
                        </m:r>
                      </m:sub>
                    </m:sSub>
                  </m:oMath>
                </a14:m>
                <a:r>
                  <a:rPr lang="zh-CN" altLang="en-US" sz="12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：对抗损失</a:t>
                </a:r>
                <a:r>
                  <a:rPr lang="en-US" altLang="zh-CN" sz="12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;(2)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200" i="1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微软雅黑" panose="020B0503020204020204" pitchFamily="34" charset="-122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sz="1200" i="1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微软雅黑" panose="020B0503020204020204" pitchFamily="34" charset="-122"/>
                            <a:cs typeface="Cambria Math" panose="02040503050406030204" charset="0"/>
                          </a:rPr>
                          <m:t>𝐿</m:t>
                        </m:r>
                      </m:e>
                      <m:sub>
                        <m:r>
                          <a:rPr lang="en-US" altLang="zh-CN" sz="1200"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微软雅黑" panose="020B0503020204020204" pitchFamily="34" charset="-122"/>
                            <a:sym typeface="+mn-ea"/>
                          </a:rPr>
                          <m:t>boundary</m:t>
                        </m:r>
                      </m:sub>
                    </m:sSub>
                  </m:oMath>
                </a14:m>
                <a:r>
                  <a:rPr lang="zh-CN" altLang="en-US" sz="12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：边界感知损失</a:t>
                </a:r>
                <a:r>
                  <a:rPr lang="en-US" altLang="zh-CN" sz="12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 ;(3)</a:t>
                </a:r>
                <a:r>
                  <a:rPr lang="en-US" altLang="zh-CN" sz="1200"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+mn-ea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200" i="1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微软雅黑" panose="020B0503020204020204" pitchFamily="34" charset="-122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sz="1200" i="1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微软雅黑" panose="020B0503020204020204" pitchFamily="34" charset="-122"/>
                            <a:cs typeface="Cambria Math" panose="02040503050406030204" charset="0"/>
                          </a:rPr>
                          <m:t>𝐿</m:t>
                        </m:r>
                      </m:e>
                      <m:sub>
                        <m:r>
                          <a:rPr lang="en-US" altLang="zh-CN" sz="1200" i="1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微软雅黑" panose="020B0503020204020204" pitchFamily="34" charset="-122"/>
                            <a:cs typeface="Cambria Math" panose="02040503050406030204" charset="0"/>
                          </a:rPr>
                          <m:t>𝑟</m:t>
                        </m:r>
                      </m:sub>
                    </m:sSub>
                  </m:oMath>
                </a14:m>
                <a:r>
                  <a:rPr lang="zh-CN" altLang="en-US" sz="12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：违约倾向一致性</a:t>
                </a:r>
                <a:endParaRPr lang="zh-CN" altLang="en-US" sz="12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endParaRPr>
              </a:p>
              <a:p>
                <a:pPr marL="171450" indent="-171450" algn="just" latinLnBrk="0">
                  <a:buFont typeface="Arial" panose="020B0604020202020204" pitchFamily="34" charset="0"/>
                  <a:buChar char="•"/>
                </a:pPr>
                <a:r>
                  <a:rPr lang="zh-CN" altLang="en-US" sz="12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输出：</a:t>
                </a:r>
                <a:r>
                  <a:rPr lang="zh-CN" altLang="en-US" sz="1200" b="1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高质量合成违约样本</a:t>
                </a:r>
                <a:r>
                  <a:rPr lang="zh-CN" altLang="en-US" sz="12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，集中于决策边界附近</a:t>
                </a:r>
                <a:endParaRPr lang="zh-CN" altLang="en-US" sz="12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endParaRPr>
              </a:p>
            </p:txBody>
          </p:sp>
        </mc:Choice>
        <mc:Fallback>
          <p:sp>
            <p:nvSpPr>
              <p:cNvPr id="87" name="文本框 8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1225" y="5278755"/>
                <a:ext cx="4420235" cy="1237615"/>
              </a:xfrm>
              <a:prstGeom prst="rect">
                <a:avLst/>
              </a:prstGeom>
              <a:blipFill rotWithShape="1">
                <a:blip r:embed="rId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8" name="AutoShape 16"/>
          <p:cNvSpPr/>
          <p:nvPr/>
        </p:nvSpPr>
        <p:spPr>
          <a:xfrm>
            <a:off x="6689725" y="2852420"/>
            <a:ext cx="4597400" cy="1123950"/>
          </a:xfrm>
          <a:prstGeom prst="roundRect">
            <a:avLst>
              <a:gd name="adj" fmla="val 8888"/>
            </a:avLst>
          </a:prstGeom>
          <a:solidFill>
            <a:srgbClr val="FFFB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9" name="AutoShape 18"/>
          <p:cNvSpPr/>
          <p:nvPr/>
        </p:nvSpPr>
        <p:spPr>
          <a:xfrm>
            <a:off x="6656070" y="4187825"/>
            <a:ext cx="4597400" cy="1450340"/>
          </a:xfrm>
          <a:prstGeom prst="roundRect">
            <a:avLst>
              <a:gd name="adj" fmla="val 11428"/>
            </a:avLst>
          </a:prstGeom>
          <a:solidFill>
            <a:schemeClr val="accent6">
              <a:lumMod val="20000"/>
              <a:lumOff val="80000"/>
            </a:scheme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0" name="文本框 89"/>
          <p:cNvSpPr txBox="1"/>
          <p:nvPr/>
        </p:nvSpPr>
        <p:spPr>
          <a:xfrm>
            <a:off x="6748145" y="2852420"/>
            <a:ext cx="4420235" cy="1029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 b="1">
                <a:solidFill>
                  <a:srgbClr val="B4530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均衡训练集</a:t>
            </a:r>
            <a:endParaRPr lang="zh-CN" altLang="en-US" sz="1600" b="1">
              <a:solidFill>
                <a:srgbClr val="B4530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171450" indent="-171450" latinLnBrk="0">
              <a:lnSpc>
                <a:spcPct val="125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1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以</a:t>
            </a:r>
            <a:r>
              <a:rPr lang="en-US" altLang="zh-CN" sz="1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8:2</a:t>
            </a:r>
            <a:r>
              <a:rPr lang="zh-CN" altLang="en-US" sz="1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的比例划分训练集和</a:t>
            </a:r>
            <a:r>
              <a:rPr lang="en-US" altLang="zh-CN" sz="1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OOS</a:t>
            </a:r>
            <a:r>
              <a:rPr lang="zh-CN" altLang="en-US" sz="1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测试集</a:t>
            </a:r>
            <a:endParaRPr lang="zh-CN" altLang="en-US" sz="14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171450" indent="-171450" latinLnBrk="0">
              <a:lnSpc>
                <a:spcPct val="125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1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目的：测试模型拟合是否充分</a:t>
            </a:r>
            <a:endParaRPr lang="zh-CN" altLang="en-US" sz="14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91" name="文本框 90"/>
          <p:cNvSpPr txBox="1"/>
          <p:nvPr/>
        </p:nvSpPr>
        <p:spPr>
          <a:xfrm>
            <a:off x="6731000" y="4241800"/>
            <a:ext cx="4638675" cy="12992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 b="1">
                <a:solidFill>
                  <a:srgbClr val="E46C0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OOT</a:t>
            </a:r>
            <a:r>
              <a:rPr lang="zh-CN" altLang="en-US" sz="1600" b="1">
                <a:solidFill>
                  <a:srgbClr val="E46C0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跨周期测试集</a:t>
            </a:r>
            <a:endParaRPr lang="zh-CN" altLang="en-US" sz="1600" b="1">
              <a:solidFill>
                <a:srgbClr val="E46C0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171450" indent="-171450" latinLnBrk="0">
              <a:lnSpc>
                <a:spcPct val="125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1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独立时间段：</a:t>
            </a:r>
            <a:r>
              <a:rPr lang="en-US" altLang="zh-CN" sz="1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2023Q1–Q3 </a:t>
            </a:r>
            <a:r>
              <a:rPr lang="zh-CN" altLang="en-US" sz="1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全部完整观测</a:t>
            </a:r>
            <a:endParaRPr lang="zh-CN" altLang="en-US" sz="14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171450" indent="-171450" latinLnBrk="0">
              <a:lnSpc>
                <a:spcPct val="125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1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目的：验证低利率期训出的模型，在加息期是否有效，即验证不同经济周期下模型是否具有稳健性</a:t>
            </a:r>
            <a:endParaRPr lang="zh-CN" altLang="en-US" sz="14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6" name="AutoShape 17"/>
          <p:cNvSpPr/>
          <p:nvPr/>
        </p:nvSpPr>
        <p:spPr>
          <a:xfrm>
            <a:off x="5221605" y="692150"/>
            <a:ext cx="6409690" cy="888365"/>
          </a:xfrm>
          <a:prstGeom prst="roundRect">
            <a:avLst>
              <a:gd name="adj" fmla="val 9230"/>
            </a:avLst>
          </a:prstGeom>
          <a:solidFill>
            <a:srgbClr val="EBEBEB"/>
          </a:solidFill>
          <a:ln w="12700" cap="flat" cmpd="sng">
            <a:solidFill>
              <a:schemeClr val="tx1">
                <a:lumMod val="50000"/>
                <a:lumOff val="50000"/>
                <a:alpha val="100000"/>
              </a:scheme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n>
                <a:solidFill>
                  <a:srgbClr val="811E23"/>
                </a:solidFill>
              </a:ln>
              <a:solidFill>
                <a:srgbClr val="811E2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7" name="AutoShape 18"/>
          <p:cNvSpPr/>
          <p:nvPr/>
        </p:nvSpPr>
        <p:spPr>
          <a:xfrm>
            <a:off x="5424805" y="675005"/>
            <a:ext cx="6440805" cy="93599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EBEBEB"/>
                </a:solidFill>
              </a14:hiddenFill>
            </a:ext>
          </a:extLst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500" b="1" i="0" u="none" strike="noStrike">
                <a:solidFill>
                  <a:srgbClr val="15803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Noto Sans SC" panose="020B0200000000000000" charset="-122"/>
              </a:rPr>
              <a:t>🎯  </a:t>
            </a:r>
            <a:r>
              <a:rPr lang="zh-CN" altLang="en-US" sz="1500" b="1" i="0" u="none" strike="noStrike">
                <a:solidFill>
                  <a:srgbClr val="893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Noto Sans SC" panose="020B0200000000000000" charset="-122"/>
              </a:rPr>
              <a:t>研究思路</a:t>
            </a:r>
            <a:r>
              <a:rPr lang="en-US" sz="1500" b="1" i="0" u="none" strike="noStrike">
                <a:solidFill>
                  <a:srgbClr val="15803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Noto Sans SC" panose="020B0200000000000000" charset="-122"/>
              </a:rPr>
              <a:t>：</a:t>
            </a:r>
            <a:endParaRPr lang="en-US" sz="11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 algn="l" latinLnBrk="0">
              <a:lnSpc>
                <a:spcPct val="125000"/>
              </a:lnSpc>
              <a:spcBef>
                <a:spcPts val="400"/>
              </a:spcBef>
            </a:pPr>
            <a:r>
              <a:rPr lang="zh-CN" altLang="en-US" sz="1300" b="0" i="0" u="none" strike="noStrike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Noto Sans SC" panose="020B0200000000000000" charset="-122"/>
              </a:rPr>
              <a:t>依托删失违约样本构建</a:t>
            </a:r>
            <a:r>
              <a:rPr lang="en-US" altLang="zh-CN" sz="1300" b="0" i="0" u="none" strike="noStrike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Noto Sans SC" panose="020B0200000000000000" charset="-122"/>
              </a:rPr>
              <a:t> BA-cWGAN-GP </a:t>
            </a:r>
            <a:r>
              <a:rPr lang="zh-CN" altLang="en-US" sz="1300" b="0" i="0" u="none" strike="noStrike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Noto Sans SC" panose="020B0200000000000000" charset="-122"/>
              </a:rPr>
              <a:t>平衡样本，搭建</a:t>
            </a:r>
            <a:r>
              <a:rPr lang="en-US" altLang="zh-CN" sz="1300" b="0" i="0" u="none" strike="noStrike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Noto Sans SC" panose="020B0200000000000000" charset="-122"/>
              </a:rPr>
              <a:t> Stacking </a:t>
            </a:r>
            <a:r>
              <a:rPr lang="zh-CN" altLang="en-US" sz="1300" b="0" i="0" u="none" strike="noStrike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Noto Sans SC" panose="020B0200000000000000" charset="-122"/>
              </a:rPr>
              <a:t>集成模型并通过</a:t>
            </a:r>
            <a:r>
              <a:rPr lang="en-US" altLang="zh-CN" sz="1300" b="0" i="0" u="none" strike="noStrike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Noto Sans SC" panose="020B0200000000000000" charset="-122"/>
              </a:rPr>
              <a:t> OOS</a:t>
            </a:r>
            <a:r>
              <a:rPr lang="zh-CN" altLang="en-US" sz="1300" b="0" i="0" u="none" strike="noStrike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Noto Sans SC" panose="020B0200000000000000" charset="-122"/>
              </a:rPr>
              <a:t>、</a:t>
            </a:r>
            <a:r>
              <a:rPr lang="en-US" altLang="zh-CN" sz="1300" b="0" i="0" u="none" strike="noStrike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Noto Sans SC" panose="020B0200000000000000" charset="-122"/>
              </a:rPr>
              <a:t>OOT</a:t>
            </a:r>
            <a:r>
              <a:rPr lang="zh-CN" altLang="en-US" sz="1300" b="0" i="0" u="none" strike="noStrike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Noto Sans SC" panose="020B0200000000000000" charset="-122"/>
              </a:rPr>
              <a:t>测试集进行跨周期检验，最后结合</a:t>
            </a:r>
            <a:r>
              <a:rPr lang="en-US" altLang="zh-CN" sz="1300" b="0" i="0" u="none" strike="noStrike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Noto Sans SC" panose="020B0200000000000000" charset="-122"/>
              </a:rPr>
              <a:t> SHAP </a:t>
            </a:r>
            <a:r>
              <a:rPr lang="zh-CN" altLang="en-US" sz="1300" b="0" i="0" u="none" strike="noStrike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Noto Sans SC" panose="020B0200000000000000" charset="-122"/>
              </a:rPr>
              <a:t>分周期解析风险特征作用机理。</a:t>
            </a:r>
            <a:endParaRPr lang="zh-CN" altLang="en-US" sz="1300" b="0" i="0" u="none" strike="noStrike">
              <a:solidFill>
                <a:srgbClr val="1F2937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Noto Sans SC" panose="020B0200000000000000" charset="-122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438" name="组合 4"/>
          <p:cNvGrpSpPr/>
          <p:nvPr/>
        </p:nvGrpSpPr>
        <p:grpSpPr bwMode="auto">
          <a:xfrm>
            <a:off x="551180" y="984250"/>
            <a:ext cx="3044825" cy="469900"/>
            <a:chOff x="992516" y="4392689"/>
            <a:chExt cx="2957266" cy="358868"/>
          </a:xfrm>
        </p:grpSpPr>
        <p:sp>
          <p:nvSpPr>
            <p:cNvPr id="54" name="矩形 53"/>
            <p:cNvSpPr/>
            <p:nvPr/>
          </p:nvSpPr>
          <p:spPr>
            <a:xfrm>
              <a:off x="1820797" y="4392689"/>
              <a:ext cx="2128985" cy="358868"/>
            </a:xfrm>
            <a:prstGeom prst="rect">
              <a:avLst/>
            </a:prstGeom>
            <a:solidFill>
              <a:srgbClr val="7C2326">
                <a:alpha val="9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2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创新点与难点</a:t>
              </a:r>
              <a:endPara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6" name="TextBox 47"/>
            <p:cNvSpPr txBox="1"/>
            <p:nvPr/>
          </p:nvSpPr>
          <p:spPr>
            <a:xfrm>
              <a:off x="992516" y="4397539"/>
              <a:ext cx="759724" cy="351594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</p:spPr>
          <p:txBody>
            <a:bodyPr anchor="ctr">
              <a:spAutoFit/>
            </a:bodyPr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2400" b="1" dirty="0">
                  <a:solidFill>
                    <a:schemeClr val="l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三</a:t>
              </a:r>
              <a:endParaRPr lang="en-US" altLang="zh-CN" sz="2400" b="1" dirty="0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75248"/>
            <a:ext cx="127000" cy="30670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30153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AutoShape 11"/>
          <p:cNvSpPr/>
          <p:nvPr/>
        </p:nvSpPr>
        <p:spPr>
          <a:xfrm>
            <a:off x="6223000" y="1778000"/>
            <a:ext cx="5207000" cy="4366260"/>
          </a:xfrm>
          <a:prstGeom prst="roundRect">
            <a:avLst>
              <a:gd name="adj" fmla="val 3529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2"/>
          <p:cNvSpPr/>
          <p:nvPr/>
        </p:nvSpPr>
        <p:spPr>
          <a:xfrm>
            <a:off x="6223000" y="1778000"/>
            <a:ext cx="5207000" cy="76200"/>
          </a:xfrm>
          <a:prstGeom prst="roundRect">
            <a:avLst>
              <a:gd name="adj" fmla="val 0"/>
            </a:avLst>
          </a:prstGeom>
          <a:solidFill>
            <a:srgbClr val="811E23"/>
          </a:solidFill>
          <a:ln w="25400" cap="flat" cmpd="sng">
            <a:solidFill>
              <a:srgbClr val="811E23"/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3"/>
          <p:cNvSpPr/>
          <p:nvPr/>
        </p:nvSpPr>
        <p:spPr>
          <a:xfrm>
            <a:off x="6477000" y="2095500"/>
            <a:ext cx="469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2400" b="1" i="0" u="none" strike="noStrike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研究难点</a:t>
            </a:r>
            <a:endParaRPr lang="zh-CN" altLang="en-US" sz="2400" b="1" i="0" u="none" strike="noStrike">
              <a:solidFill>
                <a:srgbClr val="1F2937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" name="AutoShape 11"/>
          <p:cNvSpPr/>
          <p:nvPr/>
        </p:nvSpPr>
        <p:spPr>
          <a:xfrm>
            <a:off x="623570" y="1778000"/>
            <a:ext cx="5207000" cy="4366260"/>
          </a:xfrm>
          <a:prstGeom prst="roundRect">
            <a:avLst>
              <a:gd name="adj" fmla="val 3529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12"/>
          <p:cNvSpPr/>
          <p:nvPr/>
        </p:nvSpPr>
        <p:spPr>
          <a:xfrm>
            <a:off x="623570" y="1778000"/>
            <a:ext cx="5207000" cy="76200"/>
          </a:xfrm>
          <a:prstGeom prst="roundRect">
            <a:avLst>
              <a:gd name="adj" fmla="val 0"/>
            </a:avLst>
          </a:prstGeom>
          <a:solidFill>
            <a:srgbClr val="811E23"/>
          </a:solidFill>
          <a:ln w="25400" cap="flat" cmpd="sng">
            <a:solidFill>
              <a:srgbClr val="811E23"/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13"/>
          <p:cNvSpPr/>
          <p:nvPr/>
        </p:nvSpPr>
        <p:spPr>
          <a:xfrm>
            <a:off x="877570" y="2095500"/>
            <a:ext cx="469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2400" b="1" i="0" u="none" strike="noStrike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研究创新点</a:t>
            </a:r>
            <a:endParaRPr lang="zh-CN" altLang="en-US" sz="2400" b="1" i="0" u="none" strike="noStrike">
              <a:solidFill>
                <a:srgbClr val="1F2937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7" name="AutoShape 14"/>
          <p:cNvSpPr/>
          <p:nvPr/>
        </p:nvSpPr>
        <p:spPr>
          <a:xfrm>
            <a:off x="877570" y="2921000"/>
            <a:ext cx="2349500" cy="1459865"/>
          </a:xfrm>
          <a:prstGeom prst="roundRect">
            <a:avLst>
              <a:gd name="adj" fmla="val 7272"/>
            </a:avLst>
          </a:prstGeom>
          <a:solidFill>
            <a:srgbClr val="EBEBEB"/>
          </a:solidFill>
          <a:ln w="12700" cap="flat" cmpd="sng">
            <a:solidFill>
              <a:schemeClr val="tx1">
                <a:lumMod val="50000"/>
                <a:lumOff val="50000"/>
                <a:alpha val="100000"/>
              </a:scheme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16"/>
          <p:cNvSpPr/>
          <p:nvPr/>
        </p:nvSpPr>
        <p:spPr>
          <a:xfrm>
            <a:off x="1377315" y="3211195"/>
            <a:ext cx="1736725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latinLnBrk="0">
              <a:lnSpc>
                <a:spcPct val="125000"/>
              </a:lnSpc>
              <a:spcBef>
                <a:spcPts val="0"/>
              </a:spcBef>
            </a:pPr>
            <a:r>
              <a:rPr lang="zh-CN" altLang="en-US" sz="1200" b="0" i="0" u="none" strike="noStrike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选取</a:t>
            </a:r>
            <a:r>
              <a:rPr lang="en-US" altLang="zh-CN" sz="1200" b="0" i="0" u="none" strike="noStrike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2023Q4-2025Q3</a:t>
            </a:r>
            <a:r>
              <a:rPr lang="zh-CN" altLang="en-US" sz="1200" b="0" i="0" u="none" strike="noStrike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短期快速违约的高风险删失样本为先验，约束生成器拟合真实违约分布</a:t>
            </a:r>
            <a:endParaRPr lang="zh-CN" altLang="en-US" sz="1200" b="0" i="0" u="none" strike="noStrike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1" name="AutoShape 17"/>
          <p:cNvSpPr/>
          <p:nvPr/>
        </p:nvSpPr>
        <p:spPr>
          <a:xfrm>
            <a:off x="3354070" y="2921000"/>
            <a:ext cx="2349500" cy="1460500"/>
          </a:xfrm>
          <a:prstGeom prst="roundRect">
            <a:avLst>
              <a:gd name="adj" fmla="val 7272"/>
            </a:avLst>
          </a:prstGeom>
          <a:solidFill>
            <a:srgbClr val="EBEBEB"/>
          </a:solidFill>
          <a:ln w="12700" cap="flat" cmpd="sng">
            <a:solidFill>
              <a:schemeClr val="tx1">
                <a:lumMod val="50000"/>
                <a:lumOff val="50000"/>
                <a:alpha val="100000"/>
              </a:scheme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3" name="AutoShape 19"/>
          <p:cNvSpPr/>
          <p:nvPr/>
        </p:nvSpPr>
        <p:spPr>
          <a:xfrm>
            <a:off x="3853815" y="3282950"/>
            <a:ext cx="170434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just" latinLnBrk="0">
              <a:lnSpc>
                <a:spcPct val="100000"/>
              </a:lnSpc>
              <a:spcBef>
                <a:spcPts val="0"/>
              </a:spcBef>
            </a:pPr>
            <a:r>
              <a:rPr lang="zh-CN" altLang="en-US" sz="1200" b="0" i="0" u="none" strike="noStrike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构建</a:t>
            </a:r>
            <a:r>
              <a:rPr lang="en-US" altLang="zh-CN" sz="1200" b="0" i="0" u="none" strike="noStrike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BA-cWGAN-GP</a:t>
            </a:r>
            <a:r>
              <a:rPr lang="zh-CN" altLang="en-US" sz="1200" b="0" i="0" u="none" strike="noStrike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生成模型，依托预训练分类器锁定违约决策边界，引导生成器在高不确定边界采样</a:t>
            </a:r>
            <a:endParaRPr lang="zh-CN" altLang="en-US" sz="1200" b="0" i="0" u="none" strike="noStrike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4" name="AutoShape 20"/>
          <p:cNvSpPr/>
          <p:nvPr/>
        </p:nvSpPr>
        <p:spPr>
          <a:xfrm>
            <a:off x="877570" y="4572000"/>
            <a:ext cx="4805045" cy="1457960"/>
          </a:xfrm>
          <a:prstGeom prst="roundRect">
            <a:avLst>
              <a:gd name="adj" fmla="val 7272"/>
            </a:avLst>
          </a:prstGeom>
          <a:solidFill>
            <a:srgbClr val="EBEBEB"/>
          </a:solidFill>
          <a:ln w="12700" cap="flat" cmpd="sng">
            <a:solidFill>
              <a:schemeClr val="tx1">
                <a:lumMod val="50000"/>
                <a:lumOff val="50000"/>
                <a:alpha val="100000"/>
              </a:scheme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5" name="AutoShape 22"/>
          <p:cNvSpPr/>
          <p:nvPr/>
        </p:nvSpPr>
        <p:spPr>
          <a:xfrm>
            <a:off x="1449070" y="5215255"/>
            <a:ext cx="4109085" cy="56324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just" latinLnBrk="0">
              <a:lnSpc>
                <a:spcPct val="125000"/>
              </a:lnSpc>
              <a:spcBef>
                <a:spcPts val="0"/>
              </a:spcBef>
            </a:pPr>
            <a:r>
              <a:rPr lang="zh-CN" altLang="en-US" sz="1200" b="0" i="0" u="none" strike="noStrike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Noto Sans SC" panose="020B0200000000000000" charset="-122"/>
              </a:rPr>
              <a:t>本文针对传统信贷研究局限于单周期静态建模的不足，构建</a:t>
            </a:r>
            <a:r>
              <a:rPr lang="en-US" altLang="zh-CN" sz="1200" b="0" i="0" u="none" strike="noStrike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Noto Sans SC" panose="020B0200000000000000" charset="-122"/>
              </a:rPr>
              <a:t>OOS</a:t>
            </a:r>
            <a:r>
              <a:rPr lang="zh-CN" altLang="en-US" sz="1200" b="0" i="0" u="none" strike="noStrike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Noto Sans SC" panose="020B0200000000000000" charset="-122"/>
              </a:rPr>
              <a:t>与</a:t>
            </a:r>
            <a:r>
              <a:rPr lang="en-US" altLang="zh-CN" sz="1200" b="0" i="0" u="none" strike="noStrike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Noto Sans SC" panose="020B0200000000000000" charset="-122"/>
              </a:rPr>
              <a:t>OOT</a:t>
            </a:r>
            <a:r>
              <a:rPr lang="zh-CN" altLang="en-US" sz="1200" b="0" i="0" u="none" strike="noStrike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Noto Sans SC" panose="020B0200000000000000" charset="-122"/>
              </a:rPr>
              <a:t>跨周期双验证框架，并结合分周期</a:t>
            </a:r>
            <a:r>
              <a:rPr lang="en-US" altLang="zh-CN" sz="1200" b="0" i="0" u="none" strike="noStrike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Noto Sans SC" panose="020B0200000000000000" charset="-122"/>
              </a:rPr>
              <a:t>SHAP</a:t>
            </a:r>
            <a:r>
              <a:rPr lang="zh-CN" altLang="en-US" sz="1200" b="0" i="0" u="none" strike="noStrike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Noto Sans SC" panose="020B0200000000000000" charset="-122"/>
              </a:rPr>
              <a:t>量化因子异动，从模型检验与机理解析两方面实现跨周期动态风控研究优化。</a:t>
            </a:r>
            <a:endParaRPr lang="zh-CN" altLang="en-US" sz="1200" b="0" i="0" u="none" strike="noStrike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Noto Sans SC" panose="020B0200000000000000" charset="-122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876300" y="2997200"/>
            <a:ext cx="457835" cy="51308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altLang="en-US" sz="2400" b="1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①</a:t>
            </a:r>
            <a:endParaRPr lang="zh-CN" altLang="en-US" sz="2400" b="1">
              <a:solidFill>
                <a:srgbClr val="1F293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876300" y="4635500"/>
            <a:ext cx="457835" cy="51308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altLang="en-US" sz="2400" b="1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③</a:t>
            </a:r>
            <a:endParaRPr lang="zh-CN" altLang="en-US" sz="2400" b="1">
              <a:solidFill>
                <a:srgbClr val="1F293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3376930" y="2997200"/>
            <a:ext cx="457835" cy="51308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altLang="en-US" sz="2400" b="1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②</a:t>
            </a:r>
            <a:endParaRPr lang="zh-CN" altLang="en-US" sz="2400" b="1">
              <a:solidFill>
                <a:srgbClr val="1F293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1261745" y="4653280"/>
            <a:ext cx="1442085" cy="5194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algn="l">
              <a:lnSpc>
                <a:spcPct val="125000"/>
              </a:lnSpc>
              <a:defRPr/>
            </a:pPr>
            <a:r>
              <a: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模型验证层面</a:t>
            </a:r>
            <a:endParaRPr lang="en-US" altLang="en-US" sz="16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1261745" y="2988310"/>
            <a:ext cx="1442085" cy="5194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algn="l">
              <a:lnSpc>
                <a:spcPct val="125000"/>
              </a:lnSpc>
              <a:defRPr/>
            </a:pPr>
            <a:r>
              <a: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数据层面</a:t>
            </a:r>
            <a:endParaRPr lang="en-US" altLang="en-US" sz="16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3719830" y="2988310"/>
            <a:ext cx="1442085" cy="5194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algn="l">
              <a:lnSpc>
                <a:spcPct val="125000"/>
              </a:lnSpc>
              <a:defRPr/>
            </a:pPr>
            <a:r>
              <a: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样本生成层面</a:t>
            </a:r>
            <a:endParaRPr lang="en-US" altLang="en-US" sz="16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" name="AutoShape 14"/>
          <p:cNvSpPr/>
          <p:nvPr/>
        </p:nvSpPr>
        <p:spPr>
          <a:xfrm>
            <a:off x="6423660" y="2921000"/>
            <a:ext cx="2349500" cy="1459865"/>
          </a:xfrm>
          <a:prstGeom prst="roundRect">
            <a:avLst>
              <a:gd name="adj" fmla="val 7272"/>
            </a:avLst>
          </a:prstGeom>
          <a:solidFill>
            <a:srgbClr val="EBEBEB"/>
          </a:solidFill>
          <a:ln w="12700" cap="flat" cmpd="sng">
            <a:solidFill>
              <a:schemeClr val="tx1">
                <a:lumMod val="50000"/>
                <a:lumOff val="50000"/>
                <a:alpha val="100000"/>
              </a:scheme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8" name="AutoShape 16"/>
          <p:cNvSpPr/>
          <p:nvPr/>
        </p:nvSpPr>
        <p:spPr>
          <a:xfrm>
            <a:off x="6923405" y="3211195"/>
            <a:ext cx="1736725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latinLnBrk="0">
              <a:lnSpc>
                <a:spcPct val="125000"/>
              </a:lnSpc>
              <a:spcBef>
                <a:spcPts val="0"/>
              </a:spcBef>
            </a:pPr>
            <a:r>
              <a:rPr lang="zh-CN" altLang="en-US" sz="1200" b="0" i="0" u="none" strike="noStrike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将快速违约的删失样本分布作为先验约束融入生成模型，解决删失信息适配失真问题</a:t>
            </a:r>
            <a:endParaRPr lang="zh-CN" altLang="en-US" sz="1200" b="0" i="0" u="none" strike="noStrike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9" name="AutoShape 17"/>
          <p:cNvSpPr/>
          <p:nvPr/>
        </p:nvSpPr>
        <p:spPr>
          <a:xfrm>
            <a:off x="8900160" y="2921000"/>
            <a:ext cx="2349500" cy="1459865"/>
          </a:xfrm>
          <a:prstGeom prst="roundRect">
            <a:avLst>
              <a:gd name="adj" fmla="val 7272"/>
            </a:avLst>
          </a:prstGeom>
          <a:solidFill>
            <a:srgbClr val="EBEBEB"/>
          </a:solidFill>
          <a:ln w="12700" cap="flat" cmpd="sng">
            <a:solidFill>
              <a:schemeClr val="tx1">
                <a:lumMod val="50000"/>
                <a:lumOff val="50000"/>
                <a:alpha val="100000"/>
              </a:scheme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0" name="AutoShape 19"/>
          <p:cNvSpPr/>
          <p:nvPr/>
        </p:nvSpPr>
        <p:spPr>
          <a:xfrm>
            <a:off x="9339580" y="3213100"/>
            <a:ext cx="1764665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just" latinLnBrk="0">
              <a:lnSpc>
                <a:spcPct val="100000"/>
              </a:lnSpc>
              <a:spcBef>
                <a:spcPts val="0"/>
              </a:spcBef>
            </a:pPr>
            <a:r>
              <a:rPr lang="zh-CN" altLang="en-US" sz="1200" b="0" i="0" u="none" strike="noStrike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边界感知机制设计与调参过程中，需权衡边界区间与生成多样性，依托对照试验迭代参数</a:t>
            </a:r>
            <a:endParaRPr lang="zh-CN" altLang="en-US" sz="1200" b="0" i="0" u="none" strike="noStrike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41" name="AutoShape 20"/>
          <p:cNvSpPr/>
          <p:nvPr/>
        </p:nvSpPr>
        <p:spPr>
          <a:xfrm>
            <a:off x="6423660" y="4572000"/>
            <a:ext cx="4805045" cy="1457960"/>
          </a:xfrm>
          <a:prstGeom prst="roundRect">
            <a:avLst>
              <a:gd name="adj" fmla="val 7272"/>
            </a:avLst>
          </a:prstGeom>
          <a:solidFill>
            <a:srgbClr val="EBEBEB"/>
          </a:solidFill>
          <a:ln w="12700" cap="flat" cmpd="sng">
            <a:solidFill>
              <a:schemeClr val="tx1">
                <a:lumMod val="50000"/>
                <a:lumOff val="50000"/>
                <a:alpha val="100000"/>
              </a:scheme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3" name="AutoShape 22"/>
          <p:cNvSpPr/>
          <p:nvPr/>
        </p:nvSpPr>
        <p:spPr>
          <a:xfrm>
            <a:off x="6923405" y="5085080"/>
            <a:ext cx="4109085" cy="56324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just" latinLnBrk="0">
              <a:lnSpc>
                <a:spcPct val="125000"/>
              </a:lnSpc>
              <a:spcBef>
                <a:spcPts val="0"/>
              </a:spcBef>
            </a:pPr>
            <a:r>
              <a:rPr lang="zh-CN" altLang="en-US" sz="1200" b="0" i="0" u="none" strike="noStrike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Noto Sans SC" panose="020B0200000000000000" charset="-122"/>
              </a:rPr>
              <a:t>如何有效剥离宏观经济波动的干扰因素，精准捕捉不同经济周期下各特征的权重波动规律与差异化影响逻辑，剔除宏观扰动，挖掘周期间特征影响差异，提炼实用风控规则</a:t>
            </a:r>
            <a:endParaRPr lang="zh-CN" altLang="en-US" sz="1200" b="0" i="0" u="none" strike="noStrike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Noto Sans SC" panose="020B0200000000000000" charset="-122"/>
            </a:endParaRPr>
          </a:p>
        </p:txBody>
      </p:sp>
      <p:sp>
        <p:nvSpPr>
          <p:cNvPr id="51" name="文本框 50"/>
          <p:cNvSpPr txBox="1"/>
          <p:nvPr/>
        </p:nvSpPr>
        <p:spPr>
          <a:xfrm>
            <a:off x="6422390" y="2997200"/>
            <a:ext cx="457835" cy="51308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altLang="en-US" sz="2400" b="1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①</a:t>
            </a:r>
            <a:endParaRPr lang="zh-CN" altLang="en-US" sz="2400" b="1">
              <a:solidFill>
                <a:srgbClr val="1F293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52" name="文本框 51"/>
          <p:cNvSpPr txBox="1"/>
          <p:nvPr/>
        </p:nvSpPr>
        <p:spPr>
          <a:xfrm>
            <a:off x="6422390" y="4635500"/>
            <a:ext cx="457835" cy="51308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altLang="en-US" sz="2400" b="1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③</a:t>
            </a:r>
            <a:endParaRPr lang="zh-CN" altLang="en-US" sz="2400" b="1">
              <a:solidFill>
                <a:srgbClr val="1F293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53" name="文本框 52"/>
          <p:cNvSpPr txBox="1"/>
          <p:nvPr/>
        </p:nvSpPr>
        <p:spPr>
          <a:xfrm>
            <a:off x="8923020" y="2997200"/>
            <a:ext cx="457835" cy="51308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altLang="en-US" sz="2400" b="1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②</a:t>
            </a:r>
            <a:endParaRPr lang="zh-CN" altLang="en-US" sz="2400" b="1">
              <a:solidFill>
                <a:srgbClr val="1F293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55" name="文本框 54"/>
          <p:cNvSpPr txBox="1"/>
          <p:nvPr/>
        </p:nvSpPr>
        <p:spPr>
          <a:xfrm>
            <a:off x="6807835" y="4653280"/>
            <a:ext cx="2355850" cy="5194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algn="l">
              <a:lnSpc>
                <a:spcPct val="125000"/>
              </a:lnSpc>
              <a:defRPr/>
            </a:pPr>
            <a:r>
              <a:rPr lang="zh-CN" altLang="en-US" sz="16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</a:rPr>
              <a:t>跨周期风险机理挖掘</a:t>
            </a:r>
            <a:endParaRPr lang="zh-CN" altLang="en-US" sz="1600" b="1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Noto Sans SC" panose="020B0200000000000000" charset="-122"/>
            </a:endParaRPr>
          </a:p>
        </p:txBody>
      </p:sp>
      <p:sp>
        <p:nvSpPr>
          <p:cNvPr id="57" name="文本框 56"/>
          <p:cNvSpPr txBox="1"/>
          <p:nvPr/>
        </p:nvSpPr>
        <p:spPr>
          <a:xfrm>
            <a:off x="6807835" y="2985135"/>
            <a:ext cx="1442085" cy="5194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algn="l">
              <a:lnSpc>
                <a:spcPct val="125000"/>
              </a:lnSpc>
              <a:defRPr/>
            </a:pPr>
            <a:r>
              <a: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删失先验</a:t>
            </a:r>
            <a:endParaRPr lang="en-US" altLang="en-US" sz="16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8" name="文本框 57"/>
          <p:cNvSpPr txBox="1"/>
          <p:nvPr/>
        </p:nvSpPr>
        <p:spPr>
          <a:xfrm>
            <a:off x="9298940" y="2985135"/>
            <a:ext cx="1838325" cy="5194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algn="l">
              <a:lnSpc>
                <a:spcPct val="125000"/>
              </a:lnSpc>
              <a:defRPr/>
            </a:pPr>
            <a:r>
              <a: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边界机制优化设计</a:t>
            </a:r>
            <a:endParaRPr lang="en-US" altLang="en-US" sz="16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438" name="组合 4"/>
          <p:cNvGrpSpPr/>
          <p:nvPr/>
        </p:nvGrpSpPr>
        <p:grpSpPr bwMode="auto">
          <a:xfrm>
            <a:off x="551180" y="984250"/>
            <a:ext cx="2858135" cy="469900"/>
            <a:chOff x="992516" y="4392689"/>
            <a:chExt cx="2775945" cy="358868"/>
          </a:xfrm>
        </p:grpSpPr>
        <p:sp>
          <p:nvSpPr>
            <p:cNvPr id="54" name="矩形 53"/>
            <p:cNvSpPr/>
            <p:nvPr/>
          </p:nvSpPr>
          <p:spPr>
            <a:xfrm>
              <a:off x="1820797" y="4392689"/>
              <a:ext cx="1947664" cy="358868"/>
            </a:xfrm>
            <a:prstGeom prst="rect">
              <a:avLst/>
            </a:prstGeom>
            <a:solidFill>
              <a:srgbClr val="7C2326">
                <a:alpha val="9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2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章节安排</a:t>
              </a:r>
              <a:endPara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6" name="TextBox 47"/>
            <p:cNvSpPr txBox="1"/>
            <p:nvPr/>
          </p:nvSpPr>
          <p:spPr>
            <a:xfrm>
              <a:off x="992516" y="4397539"/>
              <a:ext cx="759724" cy="351594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</p:spPr>
          <p:txBody>
            <a:bodyPr anchor="ctr">
              <a:spAutoFit/>
            </a:bodyPr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2400" b="1" dirty="0">
                  <a:solidFill>
                    <a:schemeClr val="l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四</a:t>
              </a:r>
              <a:endParaRPr lang="zh-CN" altLang="en-US" sz="2400" b="1" dirty="0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75248"/>
            <a:ext cx="127000" cy="30670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30153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AutoShape 3"/>
          <p:cNvSpPr/>
          <p:nvPr>
            <p:custDataLst>
              <p:tags r:id="rId1"/>
            </p:custDataLst>
          </p:nvPr>
        </p:nvSpPr>
        <p:spPr>
          <a:xfrm>
            <a:off x="623570" y="1917065"/>
            <a:ext cx="2032000" cy="4191000"/>
          </a:xfrm>
          <a:prstGeom prst="roundRect">
            <a:avLst>
              <a:gd name="adj" fmla="val 7500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" name="Picture 4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34770" y="2171065"/>
            <a:ext cx="609600" cy="609600"/>
          </a:xfrm>
          <a:prstGeom prst="rect">
            <a:avLst/>
          </a:prstGeom>
        </p:spPr>
      </p:pic>
      <p:sp>
        <p:nvSpPr>
          <p:cNvPr id="5" name="AutoShape 5"/>
          <p:cNvSpPr/>
          <p:nvPr>
            <p:custDataLst>
              <p:tags r:id="rId5"/>
            </p:custDataLst>
          </p:nvPr>
        </p:nvSpPr>
        <p:spPr>
          <a:xfrm>
            <a:off x="726440" y="2364740"/>
            <a:ext cx="1846580" cy="353250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zh-CN" altLang="en-US" sz="2000" b="1" i="0" u="none" strike="noStrike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Noto Sans SC" panose="020B0200000000000000" charset="-122"/>
              </a:rPr>
              <a:t>绪论</a:t>
            </a:r>
            <a:endParaRPr lang="en-US" sz="12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 algn="l" latinLnBrk="0">
              <a:lnSpc>
                <a:spcPct val="1250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400" b="0" i="0" u="none" strike="noStrike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Noto Sans SC" panose="020B0200000000000000" charset="-122"/>
              </a:rPr>
              <a:t>•</a:t>
            </a:r>
            <a:r>
              <a:rPr lang="zh-CN" altLang="en-US" sz="1400" b="0" i="0" u="none" strike="noStrike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Noto Sans SC" panose="020B0200000000000000" charset="-122"/>
              </a:rPr>
              <a:t>搭建整体的研究框架</a:t>
            </a:r>
            <a:endParaRPr lang="zh-CN" altLang="en-US" sz="1400" b="0" i="0" u="none" strike="noStrike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Noto Sans SC" panose="020B0200000000000000" charset="-122"/>
            </a:endParaRPr>
          </a:p>
          <a:p>
            <a:pPr marL="0" indent="0" algn="l" latinLnBrk="0">
              <a:lnSpc>
                <a:spcPct val="1250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400" b="0" i="0" u="none" strike="noStrike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Noto Sans SC" panose="020B0200000000000000" charset="-122"/>
              </a:rPr>
              <a:t>• </a:t>
            </a:r>
            <a:r>
              <a:rPr lang="zh-CN" sz="1400" b="0" i="0" u="none" strike="noStrike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Noto Sans SC" panose="020B0200000000000000" charset="-122"/>
              </a:rPr>
              <a:t>包括</a:t>
            </a:r>
            <a:r>
              <a:rPr lang="zh-CN" altLang="en-US" sz="1400" i="0" u="none" strike="noStrike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Noto Sans SC" panose="020B0200000000000000" charset="-122"/>
              </a:rPr>
              <a:t>研究背景、研究意义、核心研究问题、国内外研究综述与研究内容</a:t>
            </a:r>
            <a:endParaRPr lang="zh-CN" altLang="en-US" sz="1400" i="0" u="none" strike="noStrike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Noto Sans SC" panose="020B0200000000000000" charset="-122"/>
            </a:endParaRPr>
          </a:p>
        </p:txBody>
      </p:sp>
      <p:sp>
        <p:nvSpPr>
          <p:cNvPr id="6" name="AutoShape 6"/>
          <p:cNvSpPr/>
          <p:nvPr>
            <p:custDataLst>
              <p:tags r:id="rId6"/>
            </p:custDataLst>
          </p:nvPr>
        </p:nvSpPr>
        <p:spPr>
          <a:xfrm>
            <a:off x="2861310" y="1929130"/>
            <a:ext cx="2032000" cy="4191000"/>
          </a:xfrm>
          <a:prstGeom prst="roundRect">
            <a:avLst>
              <a:gd name="adj" fmla="val 7500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" name="Picture 7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572510" y="2183130"/>
            <a:ext cx="609600" cy="609600"/>
          </a:xfrm>
          <a:prstGeom prst="rect">
            <a:avLst/>
          </a:prstGeom>
        </p:spPr>
      </p:pic>
      <p:sp>
        <p:nvSpPr>
          <p:cNvPr id="8" name="AutoShape 8"/>
          <p:cNvSpPr/>
          <p:nvPr>
            <p:custDataLst>
              <p:tags r:id="rId10"/>
            </p:custDataLst>
          </p:nvPr>
        </p:nvSpPr>
        <p:spPr>
          <a:xfrm>
            <a:off x="2964815" y="2493010"/>
            <a:ext cx="1859915" cy="353250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zh-CN" altLang="en-US" sz="2000" b="1" i="0" u="none" strike="noStrike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Noto Sans SC" panose="020B0200000000000000" charset="-122"/>
              </a:rPr>
              <a:t>研究方法</a:t>
            </a:r>
            <a:endParaRPr lang="en-US" sz="12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 algn="just" latinLnBrk="0">
              <a:lnSpc>
                <a:spcPct val="1250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400" b="0" i="0" u="none" strike="noStrike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Noto Sans SC" panose="020B0200000000000000" charset="-122"/>
              </a:rPr>
              <a:t>• </a:t>
            </a:r>
            <a:r>
              <a:rPr lang="zh-CN" altLang="en-US" sz="1400" b="0" i="0" u="none" strike="noStrike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Noto Sans SC" panose="020B0200000000000000" charset="-122"/>
              </a:rPr>
              <a:t>研究方法的理论基础</a:t>
            </a:r>
            <a:endParaRPr lang="zh-CN" altLang="en-US" sz="1400" b="0" i="0" u="none" strike="noStrike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Noto Sans SC" panose="020B0200000000000000" charset="-122"/>
            </a:endParaRPr>
          </a:p>
          <a:p>
            <a:pPr marL="0" indent="0" algn="just" latinLnBrk="0">
              <a:lnSpc>
                <a:spcPct val="1250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400" b="0" i="0" u="none" strike="noStrike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Noto Sans SC" panose="020B0200000000000000" charset="-122"/>
              </a:rPr>
              <a:t>• </a:t>
            </a:r>
            <a:r>
              <a:rPr lang="zh-CN" altLang="en-US" sz="1400" b="0" i="0" u="none" strike="noStrike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Noto Sans SC" panose="020B0200000000000000" charset="-122"/>
              </a:rPr>
              <a:t>系统介绍</a:t>
            </a:r>
            <a:r>
              <a:rPr lang="en-US" altLang="zh-CN" sz="1400" b="0" i="0" u="none" strike="noStrike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Noto Sans SC" panose="020B0200000000000000" charset="-122"/>
              </a:rPr>
              <a:t>GAN</a:t>
            </a:r>
            <a:r>
              <a:rPr lang="zh-CN" altLang="en-US" sz="1400" b="0" i="0" u="none" strike="noStrike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Noto Sans SC" panose="020B0200000000000000" charset="-122"/>
              </a:rPr>
              <a:t>、边界感知机制、</a:t>
            </a:r>
            <a:r>
              <a:rPr lang="en-US" altLang="zh-CN" sz="1400" b="0" i="0" u="none" strike="noStrike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Noto Sans SC" panose="020B0200000000000000" charset="-122"/>
              </a:rPr>
              <a:t>Stacking</a:t>
            </a:r>
            <a:r>
              <a:rPr lang="zh-CN" altLang="en-US" sz="1400" b="0" i="0" u="none" strike="noStrike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Noto Sans SC" panose="020B0200000000000000" charset="-122"/>
              </a:rPr>
              <a:t>集成学习、</a:t>
            </a:r>
            <a:r>
              <a:rPr lang="en-US" altLang="zh-CN" sz="1400" b="0" i="0" u="none" strike="noStrike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Noto Sans SC" panose="020B0200000000000000" charset="-122"/>
              </a:rPr>
              <a:t>SHAP</a:t>
            </a:r>
            <a:r>
              <a:rPr lang="zh-CN" altLang="en-US" sz="1400" b="0" i="0" u="none" strike="noStrike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Noto Sans SC" panose="020B0200000000000000" charset="-122"/>
              </a:rPr>
              <a:t>可解释性算法的核心理论与技术原理</a:t>
            </a:r>
            <a:endParaRPr lang="zh-CN" altLang="en-US" sz="1400" b="0" i="0" u="none" strike="noStrike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/>
          <p:nvPr>
            <p:custDataLst>
              <p:tags r:id="rId11"/>
            </p:custDataLst>
          </p:nvPr>
        </p:nvSpPr>
        <p:spPr>
          <a:xfrm>
            <a:off x="5088890" y="1917065"/>
            <a:ext cx="2032000" cy="4191000"/>
          </a:xfrm>
          <a:prstGeom prst="roundRect">
            <a:avLst>
              <a:gd name="adj" fmla="val 7500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0" name="Picture 10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5800090" y="2171065"/>
            <a:ext cx="609600" cy="609600"/>
          </a:xfrm>
          <a:prstGeom prst="rect">
            <a:avLst/>
          </a:prstGeom>
        </p:spPr>
      </p:pic>
      <p:sp>
        <p:nvSpPr>
          <p:cNvPr id="11" name="AutoShape 11"/>
          <p:cNvSpPr/>
          <p:nvPr>
            <p:custDataLst>
              <p:tags r:id="rId15"/>
            </p:custDataLst>
          </p:nvPr>
        </p:nvSpPr>
        <p:spPr>
          <a:xfrm>
            <a:off x="5215890" y="2780665"/>
            <a:ext cx="1778000" cy="339217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zh-CN" altLang="en-US" sz="1800" b="1" i="0" u="none" strike="noStrike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Noto Sans SC" panose="020B0200000000000000" charset="-122"/>
              </a:rPr>
              <a:t>数据预处理与数据生成</a:t>
            </a:r>
            <a:endParaRPr lang="en-US" sz="18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 algn="l" latinLnBrk="0">
              <a:lnSpc>
                <a:spcPct val="1250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400" b="0" i="0" u="none" strike="noStrike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Noto Sans SC" panose="020B0200000000000000" charset="-122"/>
              </a:rPr>
              <a:t>• </a:t>
            </a:r>
            <a:r>
              <a:rPr lang="zh-CN" altLang="en-US" sz="1400" b="0" i="0" u="none" strike="noStrike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Noto Sans SC" panose="020B0200000000000000" charset="-122"/>
              </a:rPr>
              <a:t>介绍数据集，并进行包括样本筛选、违约标签定义、特征编码方式等步骤的数据预处理</a:t>
            </a:r>
            <a:endParaRPr lang="zh-CN" altLang="en-US" sz="1400" b="0" i="0" u="none" strike="noStrike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Noto Sans SC" panose="020B0200000000000000" charset="-122"/>
            </a:endParaRPr>
          </a:p>
          <a:p>
            <a:pPr marL="0" indent="0" algn="l" latinLnBrk="0">
              <a:lnSpc>
                <a:spcPct val="1250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400" b="0" i="0" u="none" strike="noStrike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Noto Sans SC" panose="020B0200000000000000" charset="-122"/>
              </a:rPr>
              <a:t>•</a:t>
            </a:r>
            <a:r>
              <a:rPr lang="en-US" sz="1600" b="0" i="0" u="none" strike="noStrike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Noto Sans SC" panose="020B0200000000000000" charset="-122"/>
              </a:rPr>
              <a:t> 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Noto Sans SC" panose="020B0200000000000000" charset="-122"/>
              </a:rPr>
              <a:t>基于</a:t>
            </a: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Noto Sans SC" panose="020B0200000000000000" charset="-122"/>
              </a:rPr>
              <a:t>BA-cWGAN-GP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Noto Sans SC" panose="020B0200000000000000" charset="-122"/>
              </a:rPr>
              <a:t>处理不平衡数据，进行数据生成</a:t>
            </a:r>
            <a:endParaRPr lang="zh-CN" altLang="en-US" sz="1400" b="0" i="0" u="none" strike="noStrike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Noto Sans SC" panose="020B0200000000000000" charset="-122"/>
            </a:endParaRPr>
          </a:p>
        </p:txBody>
      </p:sp>
      <p:sp>
        <p:nvSpPr>
          <p:cNvPr id="12" name="AutoShape 12"/>
          <p:cNvSpPr/>
          <p:nvPr>
            <p:custDataLst>
              <p:tags r:id="rId16"/>
            </p:custDataLst>
          </p:nvPr>
        </p:nvSpPr>
        <p:spPr>
          <a:xfrm>
            <a:off x="7340600" y="1917065"/>
            <a:ext cx="2145665" cy="4191000"/>
          </a:xfrm>
          <a:prstGeom prst="roundRect">
            <a:avLst>
              <a:gd name="adj" fmla="val 7500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3" name="Picture 13"/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8121015" y="2171065"/>
            <a:ext cx="609600" cy="609600"/>
          </a:xfrm>
          <a:prstGeom prst="rect">
            <a:avLst/>
          </a:prstGeom>
        </p:spPr>
      </p:pic>
      <p:sp>
        <p:nvSpPr>
          <p:cNvPr id="14" name="AutoShape 14"/>
          <p:cNvSpPr/>
          <p:nvPr>
            <p:custDataLst>
              <p:tags r:id="rId20"/>
            </p:custDataLst>
          </p:nvPr>
        </p:nvSpPr>
        <p:spPr>
          <a:xfrm>
            <a:off x="7536815" y="2859405"/>
            <a:ext cx="1778000" cy="326072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zh-CN" altLang="en-US" sz="1800" b="1" i="0" u="none" strike="noStrike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Noto Sans SC" panose="020B0200000000000000" charset="-122"/>
              </a:rPr>
              <a:t>模型预测与</a:t>
            </a:r>
            <a:endParaRPr lang="zh-CN" altLang="en-US" sz="1800" b="1" i="0" u="none" strike="noStrike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Noto Sans SC" panose="020B0200000000000000" charset="-122"/>
            </a:endParaRPr>
          </a:p>
          <a:p>
            <a:pPr indent="0" algn="ctr">
              <a:lnSpc>
                <a:spcPct val="100000"/>
              </a:lnSpc>
              <a:defRPr/>
            </a:pPr>
            <a:r>
              <a:rPr lang="zh-CN" altLang="en-US" sz="1800" b="1" i="0" u="none" strike="noStrike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Noto Sans SC" panose="020B0200000000000000" charset="-122"/>
              </a:rPr>
              <a:t>结果分析</a:t>
            </a:r>
            <a:endParaRPr lang="en-US" sz="18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 algn="just" latinLnBrk="0">
              <a:lnSpc>
                <a:spcPct val="1250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400" b="0" i="0" u="none" strike="noStrike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Noto Sans SC" panose="020B0200000000000000" charset="-122"/>
              </a:rPr>
              <a:t>• </a:t>
            </a:r>
            <a:r>
              <a:rPr lang="zh-CN" altLang="en-US" sz="1400" b="0" i="0" u="none" strike="noStrike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Noto Sans SC" panose="020B0200000000000000" charset="-122"/>
              </a:rPr>
              <a:t>基于</a:t>
            </a:r>
            <a:r>
              <a:rPr lang="en-US" altLang="zh-CN" sz="1400" b="0" i="0" u="none" strike="noStrike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Noto Sans SC" panose="020B0200000000000000" charset="-122"/>
              </a:rPr>
              <a:t>Stacking</a:t>
            </a:r>
            <a:r>
              <a:rPr lang="zh-CN" altLang="en-US" sz="1400" b="0" i="0" u="none" strike="noStrike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Noto Sans SC" panose="020B0200000000000000" charset="-122"/>
              </a:rPr>
              <a:t>的集成学习模型构建</a:t>
            </a:r>
            <a:endParaRPr lang="zh-CN" altLang="en-US" sz="1400" b="0" i="0" u="none" strike="noStrike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Noto Sans SC" panose="020B0200000000000000" charset="-122"/>
            </a:endParaRPr>
          </a:p>
          <a:p>
            <a:pPr marL="0" indent="0" algn="just" latinLnBrk="0">
              <a:lnSpc>
                <a:spcPct val="1250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400" b="0" i="0" u="none" strike="noStrike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Noto Sans SC" panose="020B0200000000000000" charset="-122"/>
              </a:rPr>
              <a:t>• </a:t>
            </a:r>
            <a:r>
              <a:rPr lang="zh-CN" altLang="en-US" sz="1400" b="0" i="0" u="none" strike="noStrike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Noto Sans SC" panose="020B0200000000000000" charset="-122"/>
              </a:rPr>
              <a:t>搭建多基学习器</a:t>
            </a:r>
            <a:r>
              <a:rPr lang="en-US" altLang="zh-CN" sz="1400" b="0" i="0" u="none" strike="noStrike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Noto Sans SC" panose="020B0200000000000000" charset="-122"/>
              </a:rPr>
              <a:t>Stacking</a:t>
            </a:r>
            <a:r>
              <a:rPr lang="zh-CN" altLang="en-US" sz="1400" b="0" i="0" u="none" strike="noStrike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Noto Sans SC" panose="020B0200000000000000" charset="-122"/>
              </a:rPr>
              <a:t>集成框架，对比不同基模型组合的预测性能，确定最优模型结构</a:t>
            </a:r>
            <a:endParaRPr lang="zh-CN" altLang="en-US" sz="1400" b="0" i="0" u="none" strike="noStrike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Noto Sans SC" panose="020B0200000000000000" charset="-122"/>
            </a:endParaRPr>
          </a:p>
        </p:txBody>
      </p:sp>
      <p:sp>
        <p:nvSpPr>
          <p:cNvPr id="15" name="AutoShape 15"/>
          <p:cNvSpPr/>
          <p:nvPr>
            <p:custDataLst>
              <p:tags r:id="rId21"/>
            </p:custDataLst>
          </p:nvPr>
        </p:nvSpPr>
        <p:spPr>
          <a:xfrm>
            <a:off x="9712325" y="1917065"/>
            <a:ext cx="2032000" cy="4191000"/>
          </a:xfrm>
          <a:prstGeom prst="roundRect">
            <a:avLst>
              <a:gd name="adj" fmla="val 7500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6" name="Picture 16"/>
          <p:cNvPicPr>
            <a:picLocks noChangeAspect="1"/>
          </p:cNvPicPr>
          <p:nvPr>
            <p:custDataLst>
              <p:tags r:id="rId22"/>
            </p:custDataLst>
          </p:nvPr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10280015" y="2171065"/>
            <a:ext cx="609600" cy="609600"/>
          </a:xfrm>
          <a:prstGeom prst="rect">
            <a:avLst/>
          </a:prstGeom>
        </p:spPr>
      </p:pic>
      <p:sp>
        <p:nvSpPr>
          <p:cNvPr id="17" name="AutoShape 17"/>
          <p:cNvSpPr/>
          <p:nvPr>
            <p:custDataLst>
              <p:tags r:id="rId25"/>
            </p:custDataLst>
          </p:nvPr>
        </p:nvSpPr>
        <p:spPr>
          <a:xfrm>
            <a:off x="9832975" y="2493010"/>
            <a:ext cx="1778000" cy="353250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2000" b="1" i="0" u="none" strike="noStrike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Noto Sans SC" panose="020B0200000000000000" charset="-122"/>
              </a:rPr>
              <a:t>模型</a:t>
            </a:r>
            <a:r>
              <a:rPr lang="zh-CN" altLang="en-US" sz="2000" b="1" i="0" u="none" strike="noStrike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Noto Sans SC" panose="020B0200000000000000" charset="-122"/>
              </a:rPr>
              <a:t>可解释分析</a:t>
            </a:r>
            <a:endParaRPr lang="en-US" sz="12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 algn="l" latinLnBrk="0">
              <a:lnSpc>
                <a:spcPct val="1250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400" b="0" i="0" u="none" strike="noStrike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Noto Sans SC" panose="020B0200000000000000" charset="-122"/>
              </a:rPr>
              <a:t>• </a:t>
            </a:r>
            <a:r>
              <a:rPr lang="zh-CN" altLang="en-US" sz="1400" b="0" i="0" u="none" strike="noStrike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Noto Sans SC" panose="020B0200000000000000" charset="-122"/>
              </a:rPr>
              <a:t>基于</a:t>
            </a:r>
            <a:r>
              <a:rPr lang="en-US" altLang="zh-CN" sz="1400" b="0" i="0" u="none" strike="noStrike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Noto Sans SC" panose="020B0200000000000000" charset="-122"/>
              </a:rPr>
              <a:t>SHAP</a:t>
            </a:r>
            <a:r>
              <a:rPr lang="zh-CN" altLang="en-US" sz="1400" b="0" i="0" u="none" strike="noStrike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Noto Sans SC" panose="020B0200000000000000" charset="-122"/>
              </a:rPr>
              <a:t>的模型可解释性分析</a:t>
            </a:r>
            <a:endParaRPr lang="zh-CN" altLang="en-US" sz="1400" b="0" i="0" u="none" strike="noStrike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Noto Sans SC" panose="020B0200000000000000" charset="-122"/>
            </a:endParaRPr>
          </a:p>
          <a:p>
            <a:pPr marL="0" indent="0" algn="l" latinLnBrk="0">
              <a:lnSpc>
                <a:spcPct val="1250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400" b="0" i="0" u="none" strike="noStrike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Noto Sans SC" panose="020B0200000000000000" charset="-122"/>
              </a:rPr>
              <a:t>• </a:t>
            </a:r>
            <a:r>
              <a:rPr lang="zh-CN" altLang="en-US" sz="1400" b="0" i="0" u="none" strike="noStrike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Noto Sans SC" panose="020B0200000000000000" charset="-122"/>
              </a:rPr>
              <a:t>开展全局特征贡献与局部样本解释，对比不同经济周期的风险特征差异，提炼风控规则</a:t>
            </a:r>
            <a:endParaRPr lang="zh-CN" altLang="en-US" sz="1400" b="0" i="0" u="none" strike="noStrike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Noto Sans SC" panose="020B0200000000000000" charset="-122"/>
            </a:endParaRPr>
          </a:p>
        </p:txBody>
      </p:sp>
    </p:spTree>
  </p:cSld>
  <p:clrMapOvr>
    <a:masterClrMapping/>
  </p:clrMapOvr>
  <p:transition spd="slow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438" name="组合 4"/>
          <p:cNvGrpSpPr/>
          <p:nvPr/>
        </p:nvGrpSpPr>
        <p:grpSpPr bwMode="auto">
          <a:xfrm>
            <a:off x="551180" y="984250"/>
            <a:ext cx="3223895" cy="469900"/>
            <a:chOff x="992516" y="4392689"/>
            <a:chExt cx="3131187" cy="358868"/>
          </a:xfrm>
        </p:grpSpPr>
        <p:sp>
          <p:nvSpPr>
            <p:cNvPr id="54" name="矩形 53"/>
            <p:cNvSpPr/>
            <p:nvPr/>
          </p:nvSpPr>
          <p:spPr>
            <a:xfrm>
              <a:off x="1820797" y="4392689"/>
              <a:ext cx="2302906" cy="358868"/>
            </a:xfrm>
            <a:prstGeom prst="rect">
              <a:avLst/>
            </a:prstGeom>
            <a:solidFill>
              <a:srgbClr val="7C2326">
                <a:alpha val="9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2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目前研究进展</a:t>
              </a:r>
              <a:endPara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6" name="TextBox 47"/>
            <p:cNvSpPr txBox="1"/>
            <p:nvPr/>
          </p:nvSpPr>
          <p:spPr>
            <a:xfrm>
              <a:off x="992516" y="4397539"/>
              <a:ext cx="759724" cy="351594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</p:spPr>
          <p:txBody>
            <a:bodyPr anchor="ctr">
              <a:spAutoFit/>
            </a:bodyPr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2400" b="1" dirty="0">
                  <a:solidFill>
                    <a:schemeClr val="l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四</a:t>
              </a:r>
              <a:endParaRPr lang="zh-CN" altLang="en-US" sz="2400" b="1" dirty="0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75248"/>
            <a:ext cx="127000" cy="30670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30153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6545580" y="1706245"/>
            <a:ext cx="5219700" cy="4912995"/>
          </a:xfrm>
          <a:prstGeom prst="rect">
            <a:avLst/>
          </a:prstGeom>
          <a:solidFill>
            <a:schemeClr val="bg1">
              <a:alpha val="80000"/>
            </a:schemeClr>
          </a:solidFill>
          <a:ln w="127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/>
        </p:txBody>
      </p:sp>
      <p:sp>
        <p:nvSpPr>
          <p:cNvPr id="17" name="圆角矩形 32"/>
          <p:cNvSpPr/>
          <p:nvPr/>
        </p:nvSpPr>
        <p:spPr>
          <a:xfrm>
            <a:off x="7161503" y="1419448"/>
            <a:ext cx="4037282" cy="474385"/>
          </a:xfrm>
          <a:prstGeom prst="roundRect">
            <a:avLst/>
          </a:prstGeom>
          <a:solidFill>
            <a:srgbClr val="89393B"/>
          </a:solidFill>
          <a:ln>
            <a:solidFill>
              <a:srgbClr val="89393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自变量：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贷款发放时的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Origination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</a:t>
            </a:r>
            <a:endPara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43" name="组合 42"/>
          <p:cNvGrpSpPr/>
          <p:nvPr/>
        </p:nvGrpSpPr>
        <p:grpSpPr>
          <a:xfrm>
            <a:off x="483870" y="1647190"/>
            <a:ext cx="5427345" cy="1445260"/>
            <a:chOff x="290939" y="1051227"/>
            <a:chExt cx="5347385" cy="1255590"/>
          </a:xfrm>
          <a:noFill/>
        </p:grpSpPr>
        <p:sp>
          <p:nvSpPr>
            <p:cNvPr id="44" name="矩形 43"/>
            <p:cNvSpPr/>
            <p:nvPr/>
          </p:nvSpPr>
          <p:spPr>
            <a:xfrm>
              <a:off x="290939" y="1085430"/>
              <a:ext cx="5347385" cy="122138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5" name="文本框 44"/>
            <p:cNvSpPr txBox="1"/>
            <p:nvPr/>
          </p:nvSpPr>
          <p:spPr>
            <a:xfrm>
              <a:off x="394797" y="1051227"/>
              <a:ext cx="5070887" cy="124897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grpFill/>
                </a14:hiddenFill>
              </a:ext>
            </a:extLst>
          </p:spPr>
          <p:txBody>
            <a:bodyPr wrap="square">
              <a:spAutoFit/>
            </a:bodyPr>
            <a:p>
              <a:pPr marL="342900" lvl="0" indent="-342900" algn="just" fontAlgn="auto">
                <a:lnSpc>
                  <a:spcPct val="125000"/>
                </a:lnSpc>
                <a:buFont typeface="Wingdings" panose="05000000000000000000" charset="0"/>
                <a:buChar char="ü"/>
              </a:pPr>
              <a:r>
                <a:rPr lang="zh-CN" altLang="en-US" sz="14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charset="0"/>
                </a:rPr>
                <a:t>数据集取自</a:t>
              </a:r>
              <a:r>
                <a:rPr lang="zh-CN" altLang="en-US" sz="1400" b="1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charset="0"/>
                </a:rPr>
                <a:t>房地美（</a:t>
              </a:r>
              <a:r>
                <a:rPr lang="en-US" altLang="zh-CN" sz="1400" b="1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charset="0"/>
                </a:rPr>
                <a:t>Freddie Mac</a:t>
              </a:r>
              <a:r>
                <a:rPr lang="zh-CN" altLang="en-US" sz="1400" b="1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charset="0"/>
                </a:rPr>
                <a:t>）</a:t>
              </a:r>
              <a:r>
                <a:rPr lang="zh-CN" altLang="en-US" sz="14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charset="0"/>
                </a:rPr>
                <a:t>公开数据库。房地美作为</a:t>
              </a:r>
              <a:r>
                <a:rPr lang="en-US" altLang="zh-CN" sz="14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charset="0"/>
                </a:rPr>
                <a:t>1970</a:t>
              </a:r>
              <a:r>
                <a:rPr lang="zh-CN" altLang="en-US" sz="14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charset="0"/>
                </a:rPr>
                <a:t>年由美国国会设立的政府支持机构，其指责是维护住房信贷市场平稳运行。本研究采用其发布的</a:t>
              </a:r>
              <a:r>
                <a:rPr lang="zh-CN" altLang="en-US" sz="1400" b="1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charset="0"/>
                </a:rPr>
                <a:t>单户住宅贷款层级数据集</a:t>
              </a:r>
              <a:r>
                <a:rPr lang="en-US" altLang="zh-CN" sz="1400" b="1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charset="0"/>
                </a:rPr>
                <a:t>SFLLD</a:t>
              </a:r>
              <a:r>
                <a:rPr lang="zh-CN" altLang="en-US" sz="14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charset="0"/>
                </a:rPr>
                <a:t>，样本包含贷款初始核发的基础静态指标，以及贷款存续期间每月的还款状态动态数据</a:t>
              </a:r>
              <a:endParaRPr lang="zh-CN" altLang="en-US" sz="14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endParaRPr>
            </a:p>
          </p:txBody>
        </p:sp>
      </p:grpSp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6677660" y="1989455"/>
          <a:ext cx="4988560" cy="4518660"/>
        </p:xfrm>
        <a:graphic>
          <a:graphicData uri="http://schemas.openxmlformats.org/drawingml/2006/table">
            <a:tbl>
              <a:tblPr/>
              <a:tblGrid>
                <a:gridCol w="913130"/>
                <a:gridCol w="1556385"/>
                <a:gridCol w="2519045"/>
              </a:tblGrid>
              <a:tr h="292735">
                <a:tc>
                  <a:txBody>
                    <a:bodyPr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000">
                          <a:latin typeface="Times New Roman" panose="02020603050405020304"/>
                          <a:ea typeface="宋体" panose="02010600030101010101" pitchFamily="2" charset="-122"/>
                        </a:rPr>
                        <a:t>一级指标</a:t>
                      </a:r>
                      <a:endParaRPr lang="zh-CN" sz="1000"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 w="190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000">
                          <a:latin typeface="Times New Roman" panose="02020603050405020304"/>
                          <a:ea typeface="宋体" panose="02010600030101010101" pitchFamily="2" charset="-122"/>
                        </a:rPr>
                        <a:t>二级指标</a:t>
                      </a:r>
                      <a:endParaRPr lang="zh-CN" sz="1000"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 w="190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000">
                          <a:latin typeface="Times New Roman" panose="02020603050405020304"/>
                          <a:ea typeface="宋体" panose="02010600030101010101" pitchFamily="2" charset="-122"/>
                        </a:rPr>
                        <a:t>对应变量名称</a:t>
                      </a:r>
                      <a:endParaRPr lang="zh-CN" sz="1000"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 w="190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92735">
                <a:tc rowSpan="3">
                  <a:txBody>
                    <a:bodyPr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000">
                          <a:latin typeface="Times New Roman" panose="02020603050405020304"/>
                          <a:ea typeface="宋体" panose="02010600030101010101" pitchFamily="2" charset="-122"/>
                        </a:rPr>
                        <a:t>借贷人信息</a:t>
                      </a:r>
                      <a:endParaRPr lang="zh-CN" sz="1000"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000">
                          <a:latin typeface="Times New Roman" panose="02020603050405020304"/>
                          <a:ea typeface="宋体" panose="02010600030101010101" pitchFamily="2" charset="-122"/>
                        </a:rPr>
                        <a:t>信用评分</a:t>
                      </a:r>
                      <a:endParaRPr lang="zh-CN" sz="1000"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000">
                          <a:latin typeface="Times New Roman" panose="02020603050405020304"/>
                          <a:ea typeface="宋体" panose="02010600030101010101" pitchFamily="2" charset="-122"/>
                        </a:rPr>
                        <a:t>Credit_Score</a:t>
                      </a:r>
                      <a:endParaRPr lang="en-US" altLang="zh-CN" sz="1000"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</a:tr>
              <a:tr h="292735">
                <a:tc vMerge="1">
                  <a:tcPr>
                    <a:lnL>
                      <a:noFill/>
                    </a:lnL>
                    <a:lnR>
                      <a:noFill/>
                    </a:lnR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000">
                          <a:latin typeface="Times New Roman" panose="02020603050405020304"/>
                          <a:ea typeface="宋体" panose="02010600030101010101" pitchFamily="2" charset="-122"/>
                        </a:rPr>
                        <a:t>债务收入比</a:t>
                      </a:r>
                      <a:endParaRPr lang="zh-CN" sz="1000"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000">
                          <a:latin typeface="Times New Roman" panose="02020603050405020304"/>
                          <a:ea typeface="Times New Roman" panose="02020603050405020304"/>
                        </a:rPr>
                        <a:t>Original_Debt_To_Income_DTI_Ratio</a:t>
                      </a:r>
                      <a:endParaRPr lang="en-US" altLang="zh-CN" sz="1000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92735">
                <a:tc vMerge="1">
                  <a:tcPr>
                    <a:lnL>
                      <a:noFill/>
                    </a:lnL>
                    <a:lnR>
                      <a:noFill/>
                    </a:lnR>
                    <a:lnB>
                      <a:noFill/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000">
                          <a:latin typeface="Times New Roman" panose="02020603050405020304"/>
                          <a:ea typeface="宋体" panose="02010600030101010101" pitchFamily="2" charset="-122"/>
                        </a:rPr>
                        <a:t>借款人人数</a:t>
                      </a:r>
                      <a:endParaRPr lang="zh-CN" sz="1000"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000">
                          <a:latin typeface="Times New Roman" panose="02020603050405020304"/>
                          <a:ea typeface="Times New Roman" panose="02020603050405020304"/>
                        </a:rPr>
                        <a:t>Number_of_Borrowers</a:t>
                      </a:r>
                      <a:endParaRPr lang="en-US" altLang="zh-CN" sz="1000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92735">
                <a:tc rowSpan="5">
                  <a:txBody>
                    <a:bodyPr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000">
                          <a:latin typeface="Times New Roman" panose="02020603050405020304"/>
                          <a:ea typeface="宋体" panose="02010600030101010101" pitchFamily="2" charset="-122"/>
                        </a:rPr>
                        <a:t>贷款合约信息</a:t>
                      </a:r>
                      <a:endParaRPr lang="zh-CN" sz="1000"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000">
                          <a:latin typeface="Times New Roman" panose="02020603050405020304"/>
                          <a:ea typeface="宋体" panose="02010600030101010101" pitchFamily="2" charset="-122"/>
                        </a:rPr>
                        <a:t>按揭保险比例</a:t>
                      </a:r>
                      <a:endParaRPr lang="zh-CN" sz="1000"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000">
                          <a:latin typeface="Times New Roman" panose="02020603050405020304"/>
                          <a:ea typeface="Times New Roman" panose="02020603050405020304"/>
                        </a:rPr>
                        <a:t>Mortgage_Insurance_Percentage</a:t>
                      </a:r>
                      <a:endParaRPr lang="en-US" altLang="zh-CN" sz="1000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02920">
                <a:tc vMerge="1">
                  <a:tcPr>
                    <a:lnL>
                      <a:noFill/>
                    </a:lnL>
                    <a:lnR>
                      <a:noFill/>
                    </a:lnR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000">
                          <a:latin typeface="Times New Roman" panose="02020603050405020304"/>
                          <a:ea typeface="宋体" panose="02010600030101010101" pitchFamily="2" charset="-122"/>
                        </a:rPr>
                        <a:t>合并贷款价值比</a:t>
                      </a:r>
                      <a:endParaRPr lang="zh-CN" sz="1000"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000">
                          <a:latin typeface="Times New Roman" panose="02020603050405020304"/>
                          <a:ea typeface="Times New Roman" panose="02020603050405020304"/>
                        </a:rPr>
                        <a:t>Original_Combined_Loan_To_Value_CLTV</a:t>
                      </a:r>
                      <a:endParaRPr lang="en-US" altLang="zh-CN" sz="1000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92735">
                <a:tc vMerge="1">
                  <a:tcPr>
                    <a:lnL>
                      <a:noFill/>
                    </a:lnL>
                    <a:lnR>
                      <a:noFill/>
                    </a:lnR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000">
                          <a:latin typeface="Times New Roman" panose="02020603050405020304"/>
                          <a:ea typeface="宋体" panose="02010600030101010101" pitchFamily="2" charset="-122"/>
                        </a:rPr>
                        <a:t>首贷贷款价值比</a:t>
                      </a:r>
                      <a:endParaRPr lang="zh-CN" sz="1000"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000">
                          <a:latin typeface="Times New Roman" panose="02020603050405020304"/>
                          <a:ea typeface="Times New Roman" panose="02020603050405020304"/>
                        </a:rPr>
                        <a:t>Original_Loan_To_Value_LTV</a:t>
                      </a:r>
                      <a:endParaRPr lang="en-US" altLang="zh-CN" sz="1000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92735">
                <a:tc vMerge="1">
                  <a:tcPr>
                    <a:lnL>
                      <a:noFill/>
                    </a:lnL>
                    <a:lnR>
                      <a:noFill/>
                    </a:lnR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000">
                          <a:latin typeface="Times New Roman" panose="02020603050405020304"/>
                          <a:ea typeface="宋体" panose="02010600030101010101" pitchFamily="2" charset="-122"/>
                        </a:rPr>
                        <a:t>贷款目的</a:t>
                      </a:r>
                      <a:endParaRPr lang="zh-CN" sz="1000"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000">
                          <a:latin typeface="Times New Roman" panose="02020603050405020304"/>
                          <a:ea typeface="Times New Roman" panose="02020603050405020304"/>
                        </a:rPr>
                        <a:t>Loan_Purpose</a:t>
                      </a:r>
                      <a:endParaRPr lang="en-US" altLang="zh-CN" sz="1000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92735">
                <a:tc vMerge="1">
                  <a:tcPr>
                    <a:lnL>
                      <a:noFill/>
                    </a:lnL>
                    <a:lnR>
                      <a:noFill/>
                    </a:lnR>
                    <a:lnB>
                      <a:noFill/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000">
                          <a:latin typeface="Times New Roman" panose="02020603050405020304"/>
                          <a:ea typeface="宋体" panose="02010600030101010101" pitchFamily="2" charset="-122"/>
                        </a:rPr>
                        <a:t>首次购房者标识</a:t>
                      </a:r>
                      <a:endParaRPr lang="zh-CN" sz="1000"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000">
                          <a:latin typeface="Times New Roman" panose="02020603050405020304"/>
                          <a:ea typeface="Times New Roman" panose="02020603050405020304"/>
                        </a:rPr>
                        <a:t>First_Time_Homebuyer_Flag</a:t>
                      </a:r>
                      <a:endParaRPr lang="en-US" altLang="zh-CN" sz="1000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92735">
                <a:tc rowSpan="3">
                  <a:txBody>
                    <a:bodyPr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000">
                          <a:latin typeface="Times New Roman" panose="02020603050405020304"/>
                          <a:ea typeface="宋体" panose="02010600030101010101" pitchFamily="2" charset="-122"/>
                        </a:rPr>
                        <a:t>房产属性</a:t>
                      </a:r>
                      <a:endParaRPr lang="zh-CN" sz="1000"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000">
                          <a:latin typeface="Times New Roman" panose="02020603050405020304"/>
                          <a:ea typeface="宋体" panose="02010600030101010101" pitchFamily="2" charset="-122"/>
                        </a:rPr>
                        <a:t>房屋单元数</a:t>
                      </a:r>
                      <a:endParaRPr lang="zh-CN" sz="1000"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000">
                          <a:latin typeface="Times New Roman" panose="02020603050405020304"/>
                          <a:ea typeface="Times New Roman" panose="02020603050405020304"/>
                        </a:rPr>
                        <a:t>Number_of_Units</a:t>
                      </a:r>
                      <a:endParaRPr lang="en-US" altLang="zh-CN" sz="1000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92735">
                <a:tc vMerge="1">
                  <a:tcPr>
                    <a:lnL>
                      <a:noFill/>
                    </a:lnL>
                    <a:lnR>
                      <a:noFill/>
                    </a:lnR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000">
                          <a:latin typeface="Times New Roman" panose="02020603050405020304"/>
                          <a:ea typeface="宋体" panose="02010600030101010101" pitchFamily="2" charset="-122"/>
                        </a:rPr>
                        <a:t>入住状态</a:t>
                      </a:r>
                      <a:endParaRPr lang="zh-CN" sz="1000"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000">
                          <a:latin typeface="Times New Roman" panose="02020603050405020304"/>
                          <a:ea typeface="Times New Roman" panose="02020603050405020304"/>
                        </a:rPr>
                        <a:t>Occupancy_Status</a:t>
                      </a:r>
                      <a:endParaRPr lang="en-US" altLang="zh-CN" sz="1000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92735">
                <a:tc vMerge="1">
                  <a:tcPr>
                    <a:lnL>
                      <a:noFill/>
                    </a:lnL>
                    <a:lnR>
                      <a:noFill/>
                    </a:lnR>
                    <a:lnB>
                      <a:noFill/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000">
                          <a:latin typeface="Times New Roman" panose="02020603050405020304"/>
                          <a:ea typeface="宋体" panose="02010600030101010101" pitchFamily="2" charset="-122"/>
                        </a:rPr>
                        <a:t>房产类型</a:t>
                      </a:r>
                      <a:endParaRPr lang="zh-CN" sz="1000"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000">
                          <a:latin typeface="Times New Roman" panose="02020603050405020304"/>
                          <a:ea typeface="Times New Roman" panose="02020603050405020304"/>
                        </a:rPr>
                        <a:t>Property_Type</a:t>
                      </a:r>
                      <a:endParaRPr lang="en-US" altLang="zh-CN" sz="1000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02920">
                <a:tc>
                  <a:txBody>
                    <a:bodyPr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000">
                          <a:latin typeface="Times New Roman" panose="02020603050405020304"/>
                          <a:ea typeface="宋体" panose="02010600030101010101" pitchFamily="2" charset="-122"/>
                        </a:rPr>
                        <a:t>贷款渠道</a:t>
                      </a:r>
                      <a:endParaRPr lang="zh-CN" sz="1000"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000">
                          <a:latin typeface="Times New Roman" panose="02020603050405020304"/>
                          <a:ea typeface="宋体" panose="02010600030101010101" pitchFamily="2" charset="-122"/>
                        </a:rPr>
                        <a:t>贷款申办的业务来源路径</a:t>
                      </a:r>
                      <a:endParaRPr lang="zh-CN" sz="1000"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000">
                          <a:latin typeface="Times New Roman" panose="02020603050405020304"/>
                          <a:ea typeface="Times New Roman" panose="02020603050405020304"/>
                        </a:rPr>
                        <a:t>Channel</a:t>
                      </a:r>
                      <a:endParaRPr lang="en-US" altLang="zh-CN" sz="1000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92735">
                <a:tc>
                  <a:txBody>
                    <a:bodyPr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000">
                          <a:latin typeface="Times New Roman" panose="02020603050405020304"/>
                          <a:ea typeface="宋体" panose="02010600030101010101" pitchFamily="2" charset="-122"/>
                        </a:rPr>
                        <a:t>地理位置</a:t>
                      </a:r>
                      <a:endParaRPr lang="zh-CN" sz="1000"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000">
                          <a:latin typeface="Times New Roman" panose="02020603050405020304"/>
                          <a:ea typeface="宋体" panose="02010600030101010101" pitchFamily="2" charset="-122"/>
                        </a:rPr>
                        <a:t>房产所在州</a:t>
                      </a:r>
                      <a:endParaRPr lang="zh-CN" sz="1000"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000">
                          <a:latin typeface="Times New Roman" panose="02020603050405020304"/>
                          <a:ea typeface="Times New Roman" panose="02020603050405020304"/>
                        </a:rPr>
                        <a:t>Property_State</a:t>
                      </a:r>
                      <a:endParaRPr lang="en-US" altLang="zh-CN" sz="1000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2" name="矩形 21"/>
          <p:cNvSpPr/>
          <p:nvPr/>
        </p:nvSpPr>
        <p:spPr>
          <a:xfrm>
            <a:off x="589280" y="3430270"/>
            <a:ext cx="5219700" cy="3188335"/>
          </a:xfrm>
          <a:prstGeom prst="rect">
            <a:avLst/>
          </a:prstGeom>
          <a:solidFill>
            <a:schemeClr val="bg1">
              <a:alpha val="80000"/>
            </a:schemeClr>
          </a:solidFill>
          <a:ln w="127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/>
        </p:txBody>
      </p:sp>
      <p:sp>
        <p:nvSpPr>
          <p:cNvPr id="23" name="圆角矩形 32"/>
          <p:cNvSpPr/>
          <p:nvPr/>
        </p:nvSpPr>
        <p:spPr>
          <a:xfrm>
            <a:off x="1205203" y="3143473"/>
            <a:ext cx="4037282" cy="474385"/>
          </a:xfrm>
          <a:prstGeom prst="roundRect">
            <a:avLst/>
          </a:prstGeom>
          <a:solidFill>
            <a:srgbClr val="89393B"/>
          </a:solidFill>
          <a:ln>
            <a:solidFill>
              <a:srgbClr val="89393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目标变量：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贷款的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违约情况（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DFlag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531495" y="3789680"/>
            <a:ext cx="5238750" cy="25152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grpFill/>
              </a14:hiddenFill>
            </a:ext>
          </a:extLst>
        </p:spPr>
        <p:txBody>
          <a:bodyPr wrap="square">
            <a:spAutoFit/>
          </a:bodyPr>
          <a:p>
            <a:pPr marL="342900" lvl="0" indent="-342900" algn="just" fontAlgn="auto" latinLnBrk="0">
              <a:lnSpc>
                <a:spcPct val="125000"/>
              </a:lnSpc>
              <a:buFont typeface="Wingdings" panose="05000000000000000000" pitchFamily="2" charset="2"/>
              <a:buChar char="Ø"/>
            </a:pPr>
            <a:r>
              <a:rPr lang="zh-CN" altLang="en-US" sz="14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违约情况的观测窗口设定为</a:t>
            </a:r>
            <a:r>
              <a:rPr lang="zh-CN" altLang="en-US" sz="1400" b="1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贷款发放后</a:t>
            </a:r>
            <a:r>
              <a:rPr lang="en-US" altLang="zh-CN" sz="1400" b="1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24</a:t>
            </a:r>
            <a:r>
              <a:rPr lang="zh-CN" altLang="en-US" sz="1400" b="1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个月</a:t>
            </a:r>
            <a:r>
              <a:rPr lang="zh-CN" altLang="en-US" sz="14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，取</a:t>
            </a:r>
            <a:r>
              <a:rPr lang="en-US" altLang="zh-CN" sz="14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5</a:t>
            </a:r>
            <a:r>
              <a:rPr lang="zh-CN" altLang="en-US" sz="14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种不同的变量值，分别为：还款正常、逾期</a:t>
            </a:r>
            <a:r>
              <a:rPr lang="en-US" altLang="zh-CN" sz="14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30</a:t>
            </a:r>
            <a:r>
              <a:rPr lang="zh-CN" altLang="en-US" sz="14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天结清、逾期</a:t>
            </a:r>
            <a:r>
              <a:rPr lang="en-US" altLang="zh-CN" sz="14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60</a:t>
            </a:r>
            <a:r>
              <a:rPr lang="zh-CN" altLang="en-US" sz="14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天结清、逾期超过</a:t>
            </a:r>
            <a:r>
              <a:rPr lang="en-US" altLang="zh-CN" sz="14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90</a:t>
            </a:r>
            <a:r>
              <a:rPr lang="zh-CN" altLang="en-US" sz="14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天未还款、有过止赎</a:t>
            </a:r>
            <a:r>
              <a:rPr lang="en-US" altLang="zh-CN" sz="14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/</a:t>
            </a:r>
            <a:r>
              <a:rPr lang="zh-CN" altLang="en-US" sz="14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处置处理的贷款。</a:t>
            </a:r>
            <a:endParaRPr lang="zh-CN" altLang="en-US" sz="1400" kern="1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charset="0"/>
            </a:endParaRPr>
          </a:p>
          <a:p>
            <a:pPr marL="342900" lvl="0" indent="-342900" algn="just" fontAlgn="auto" latinLnBrk="0">
              <a:lnSpc>
                <a:spcPct val="125000"/>
              </a:lnSpc>
              <a:buFont typeface="Wingdings" panose="05000000000000000000" pitchFamily="2" charset="2"/>
              <a:buChar char="Ø"/>
            </a:pPr>
            <a:r>
              <a:rPr lang="zh-CN" altLang="en-US" sz="14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本文将前三种还款状态的用户合并形成正常用户，将</a:t>
            </a:r>
            <a:r>
              <a:rPr lang="zh-CN" altLang="en-US" sz="1400" b="1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逾期超过</a:t>
            </a:r>
            <a:r>
              <a:rPr lang="en-US" altLang="zh-CN" sz="1400" b="1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90</a:t>
            </a:r>
            <a:r>
              <a:rPr lang="zh-CN" altLang="en-US" sz="1400" b="1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天未还款或有过止赎</a:t>
            </a:r>
            <a:r>
              <a:rPr lang="en-US" altLang="zh-CN" sz="1400" b="1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/</a:t>
            </a:r>
            <a:r>
              <a:rPr lang="zh-CN" altLang="en-US" sz="1400" b="1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处置处理</a:t>
            </a:r>
            <a:r>
              <a:rPr lang="zh-CN" altLang="en-US" sz="14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的贷款作为违约样本。</a:t>
            </a:r>
            <a:endParaRPr lang="zh-CN" altLang="en-US" sz="1400" kern="1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charset="0"/>
            </a:endParaRPr>
          </a:p>
          <a:p>
            <a:pPr marL="342900" lvl="0" indent="-342900" algn="just" fontAlgn="auto" latinLnBrk="0">
              <a:lnSpc>
                <a:spcPct val="125000"/>
              </a:lnSpc>
              <a:buFont typeface="Wingdings" panose="05000000000000000000" pitchFamily="2" charset="2"/>
              <a:buChar char="Ø"/>
            </a:pPr>
            <a:r>
              <a:rPr lang="zh-CN" altLang="en-US" sz="14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数据集包含</a:t>
            </a:r>
            <a:r>
              <a:rPr lang="zh-CN" altLang="en-US" sz="1400" b="1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违约样本</a:t>
            </a:r>
            <a:r>
              <a:rPr lang="en-US" altLang="zh-CN" sz="1400" b="1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42227</a:t>
            </a:r>
            <a:r>
              <a:rPr lang="zh-CN" altLang="en-US" sz="1400" b="1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条</a:t>
            </a:r>
            <a:r>
              <a:rPr lang="zh-CN" altLang="en-US" sz="14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、</a:t>
            </a:r>
            <a:r>
              <a:rPr lang="zh-CN" altLang="en-US" sz="1400" b="1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正常样本</a:t>
            </a:r>
            <a:r>
              <a:rPr lang="en-US" altLang="zh-CN" sz="1400" b="1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980474</a:t>
            </a:r>
            <a:r>
              <a:rPr lang="zh-CN" altLang="en-US" sz="1400" b="1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条</a:t>
            </a:r>
            <a:r>
              <a:rPr lang="zh-CN" altLang="en-US" sz="14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；其中</a:t>
            </a:r>
            <a:r>
              <a:rPr lang="en-US" altLang="zh-CN" sz="14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8150</a:t>
            </a:r>
            <a:r>
              <a:rPr lang="zh-CN" altLang="en-US" sz="14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笔违约贷款放款于</a:t>
            </a:r>
            <a:r>
              <a:rPr lang="en-US" altLang="zh-CN" sz="14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2023Q4—2025Q2</a:t>
            </a:r>
            <a:r>
              <a:rPr lang="zh-CN" altLang="en-US" sz="14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，观测期不足</a:t>
            </a:r>
            <a:r>
              <a:rPr lang="en-US" altLang="zh-CN" sz="14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24</a:t>
            </a:r>
            <a:r>
              <a:rPr lang="zh-CN" altLang="en-US" sz="14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个月但已违约，划为右删失纯违约样本，留存用于数据扩充与建模。</a:t>
            </a:r>
            <a:endParaRPr lang="zh-CN" altLang="en-US" sz="1400" kern="1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charset="0"/>
            </a:endParaRPr>
          </a:p>
        </p:txBody>
      </p:sp>
    </p:spTree>
  </p:cSld>
  <p:clrMapOvr>
    <a:masterClrMapping/>
  </p:clrMapOvr>
  <p:transition spd="slow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438" name="组合 4"/>
          <p:cNvGrpSpPr/>
          <p:nvPr/>
        </p:nvGrpSpPr>
        <p:grpSpPr bwMode="auto">
          <a:xfrm>
            <a:off x="551180" y="984250"/>
            <a:ext cx="3223895" cy="469900"/>
            <a:chOff x="992516" y="4392689"/>
            <a:chExt cx="3131187" cy="358868"/>
          </a:xfrm>
        </p:grpSpPr>
        <p:sp>
          <p:nvSpPr>
            <p:cNvPr id="54" name="矩形 53"/>
            <p:cNvSpPr/>
            <p:nvPr/>
          </p:nvSpPr>
          <p:spPr>
            <a:xfrm>
              <a:off x="1820797" y="4392689"/>
              <a:ext cx="2302906" cy="358868"/>
            </a:xfrm>
            <a:prstGeom prst="rect">
              <a:avLst/>
            </a:prstGeom>
            <a:solidFill>
              <a:srgbClr val="7C2326">
                <a:alpha val="9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2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目前研究进展</a:t>
              </a:r>
              <a:endPara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6" name="TextBox 47"/>
            <p:cNvSpPr txBox="1"/>
            <p:nvPr/>
          </p:nvSpPr>
          <p:spPr>
            <a:xfrm>
              <a:off x="992516" y="4397539"/>
              <a:ext cx="759724" cy="351594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</p:spPr>
          <p:txBody>
            <a:bodyPr anchor="ctr">
              <a:spAutoFit/>
            </a:bodyPr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2400" b="1" dirty="0">
                  <a:solidFill>
                    <a:schemeClr val="l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四</a:t>
              </a:r>
              <a:endParaRPr lang="zh-CN" altLang="en-US" sz="2400" b="1" dirty="0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75248"/>
            <a:ext cx="127000" cy="30670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30153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26" name="矩形 125"/>
          <p:cNvSpPr/>
          <p:nvPr/>
        </p:nvSpPr>
        <p:spPr>
          <a:xfrm>
            <a:off x="270510" y="1776095"/>
            <a:ext cx="5758180" cy="3418205"/>
          </a:xfrm>
          <a:prstGeom prst="rect">
            <a:avLst/>
          </a:prstGeom>
          <a:noFill/>
          <a:ln w="19050">
            <a:solidFill>
              <a:srgbClr val="8939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7" name="圆角矩形 6"/>
          <p:cNvSpPr/>
          <p:nvPr/>
        </p:nvSpPr>
        <p:spPr>
          <a:xfrm>
            <a:off x="434975" y="1594485"/>
            <a:ext cx="1806575" cy="476885"/>
          </a:xfrm>
          <a:prstGeom prst="roundRect">
            <a:avLst/>
          </a:prstGeom>
          <a:solidFill>
            <a:schemeClr val="bg1"/>
          </a:solidFill>
          <a:ln w="12700" cap="flat" cmpd="sng" algn="ctr">
            <a:solidFill>
              <a:srgbClr val="89393B"/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C2326"/>
              </a:buClr>
              <a:buSzTx/>
              <a:buNone/>
              <a:defRPr/>
            </a:pP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rgbClr val="89393B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WOE</a:t>
            </a: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89393B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编码结果</a:t>
            </a:r>
            <a:endParaRPr kumimoji="0" lang="zh-CN" altLang="en-US" sz="1800" b="1" i="0" u="none" strike="noStrike" kern="0" cap="none" spc="0" normalizeH="0" baseline="0" noProof="0" dirty="0">
              <a:ln>
                <a:noFill/>
              </a:ln>
              <a:solidFill>
                <a:srgbClr val="89393B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024" name="矩形 1023"/>
          <p:cNvSpPr/>
          <p:nvPr/>
        </p:nvSpPr>
        <p:spPr>
          <a:xfrm>
            <a:off x="6151245" y="1776095"/>
            <a:ext cx="5626100" cy="3418205"/>
          </a:xfrm>
          <a:prstGeom prst="rect">
            <a:avLst/>
          </a:prstGeom>
          <a:noFill/>
          <a:ln w="19050">
            <a:solidFill>
              <a:srgbClr val="8939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31" name="圆角矩形 6"/>
          <p:cNvSpPr/>
          <p:nvPr/>
        </p:nvSpPr>
        <p:spPr>
          <a:xfrm>
            <a:off x="6429375" y="1595120"/>
            <a:ext cx="3155950" cy="476885"/>
          </a:xfrm>
          <a:prstGeom prst="roundRect">
            <a:avLst/>
          </a:prstGeom>
          <a:solidFill>
            <a:schemeClr val="bg1"/>
          </a:solidFill>
          <a:ln w="12700" cap="flat" cmpd="sng" algn="ctr">
            <a:solidFill>
              <a:srgbClr val="89393B"/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C2326"/>
              </a:buClr>
              <a:buSzTx/>
              <a:buNone/>
              <a:defRPr/>
            </a:pPr>
            <a:r>
              <a:rPr lang="en-US" altLang="zh-CN" sz="2000" b="1" kern="0" noProof="0" dirty="0">
                <a:ln>
                  <a:noFill/>
                </a:ln>
                <a:solidFill>
                  <a:srgbClr val="89393B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WOE</a:t>
            </a:r>
            <a:r>
              <a:rPr lang="zh-CN" altLang="en-US" sz="2000" b="1" kern="0" noProof="0" dirty="0">
                <a:ln>
                  <a:noFill/>
                </a:ln>
                <a:solidFill>
                  <a:srgbClr val="89393B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编码压缩后模型结果</a:t>
            </a: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srgbClr val="89393B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034" name="文本框 1033"/>
          <p:cNvSpPr txBox="1"/>
          <p:nvPr/>
        </p:nvSpPr>
        <p:spPr>
          <a:xfrm>
            <a:off x="270510" y="5369560"/>
            <a:ext cx="11506835" cy="143764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marL="285750" indent="-285750" algn="just" fontAlgn="auto" latinLnBrk="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zh-CN" altLang="en-US" sz="14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数据集中入住状态、贷款目的等为文本分类特征，采用</a:t>
            </a:r>
            <a:r>
              <a:rPr lang="en-US" altLang="zh-CN" sz="1400" b="1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One-Hot</a:t>
            </a:r>
            <a:r>
              <a:rPr lang="zh-CN" altLang="en-US" sz="1400" b="1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编码</a:t>
            </a:r>
            <a:r>
              <a:rPr lang="zh-CN" altLang="en-US" sz="14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实现数值转化：各类别独立生成二进制字段，样本归属该类则赋值</a:t>
            </a:r>
            <a:r>
              <a:rPr lang="en-US" altLang="zh-CN" sz="14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1</a:t>
            </a:r>
            <a:r>
              <a:rPr lang="zh-CN" altLang="en-US" sz="14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，否则为</a:t>
            </a:r>
            <a:r>
              <a:rPr lang="en-US" altLang="zh-CN" sz="14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0</a:t>
            </a:r>
            <a:r>
              <a:rPr lang="zh-CN" altLang="en-US" sz="14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；编码后数据集共</a:t>
            </a:r>
            <a:r>
              <a:rPr lang="en-US" altLang="zh-CN" sz="14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78</a:t>
            </a:r>
            <a:r>
              <a:rPr lang="zh-CN" altLang="en-US" sz="14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个变量，其中</a:t>
            </a:r>
            <a:r>
              <a:rPr lang="en-US" altLang="zh-CN" sz="14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71</a:t>
            </a:r>
            <a:r>
              <a:rPr lang="zh-CN" altLang="en-US" sz="14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个源自分类特征独热拓展。</a:t>
            </a:r>
            <a:endParaRPr lang="en-US" altLang="zh-CN" sz="1400" kern="100" dirty="0">
              <a:latin typeface="微软雅黑" panose="020B0503020204020204" pitchFamily="34" charset="-122"/>
              <a:ea typeface="微软雅黑" panose="020B0503020204020204" pitchFamily="34" charset="-122"/>
              <a:cs typeface="Mongolian Baiti" panose="03000500000000000000" pitchFamily="66" charset="0"/>
            </a:endParaRPr>
          </a:p>
          <a:p>
            <a:pPr marL="285750" indent="-285750" algn="just" fontAlgn="auto" latinLnBrk="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US" altLang="zh-CN" sz="14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Mongolian Baiti" panose="03000500000000000000" pitchFamily="66" charset="0"/>
              </a:rPr>
              <a:t>71</a:t>
            </a:r>
            <a:r>
              <a:rPr lang="zh-CN" altLang="en-US" sz="14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Mongolian Baiti" panose="03000500000000000000" pitchFamily="66" charset="0"/>
              </a:rPr>
              <a:t>个的</a:t>
            </a:r>
            <a:r>
              <a:rPr lang="en-US" altLang="zh-CN" sz="14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Mongolian Baiti" panose="03000500000000000000" pitchFamily="66" charset="0"/>
              </a:rPr>
              <a:t>One-Hot</a:t>
            </a:r>
            <a:r>
              <a:rPr lang="zh-CN" altLang="en-US" sz="14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Mongolian Baiti" panose="03000500000000000000" pitchFamily="66" charset="0"/>
              </a:rPr>
              <a:t>列的高维结构，对于</a:t>
            </a:r>
            <a:r>
              <a:rPr lang="en-US" altLang="zh-CN" sz="14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Mongolian Baiti" panose="03000500000000000000" pitchFamily="66" charset="0"/>
              </a:rPr>
              <a:t>GAN</a:t>
            </a:r>
            <a:r>
              <a:rPr lang="zh-CN" altLang="en-US" sz="14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Mongolian Baiti" panose="03000500000000000000" pitchFamily="66" charset="0"/>
              </a:rPr>
              <a:t>生成器训练来说有较大的挑战，采用</a:t>
            </a:r>
            <a:r>
              <a:rPr lang="zh-CN" altLang="en-US" sz="1400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Mongolian Baiti" panose="03000500000000000000" pitchFamily="66" charset="0"/>
              </a:rPr>
              <a:t>证据权重编码</a:t>
            </a:r>
            <a:r>
              <a:rPr lang="en-US" altLang="zh-CN" sz="1400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Mongolian Baiti" panose="03000500000000000000" pitchFamily="66" charset="0"/>
              </a:rPr>
              <a:t>(WOE)</a:t>
            </a:r>
            <a:r>
              <a:rPr lang="zh-CN" altLang="en-US" sz="14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Mongolian Baiti" panose="03000500000000000000" pitchFamily="66" charset="0"/>
              </a:rPr>
              <a:t>，将高基数分类变量替换为单列连续值。</a:t>
            </a:r>
            <a:endParaRPr lang="zh-CN" altLang="en-US" sz="1400" kern="100" dirty="0">
              <a:latin typeface="微软雅黑" panose="020B0503020204020204" pitchFamily="34" charset="-122"/>
              <a:ea typeface="微软雅黑" panose="020B0503020204020204" pitchFamily="34" charset="-122"/>
              <a:cs typeface="Mongolian Baiti" panose="03000500000000000000" pitchFamily="66" charset="0"/>
            </a:endParaRPr>
          </a:p>
          <a:p>
            <a:pPr marL="285750" indent="-285750" algn="just" fontAlgn="auto" latinLnBrk="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zh-CN" altLang="en-US" sz="14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Mongolian Baiti" panose="03000500000000000000" pitchFamily="66" charset="0"/>
              </a:rPr>
              <a:t>在原</a:t>
            </a:r>
            <a:r>
              <a:rPr lang="en-US" altLang="zh-CN" sz="14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Mongolian Baiti" panose="03000500000000000000" pitchFamily="66" charset="0"/>
              </a:rPr>
              <a:t>78</a:t>
            </a:r>
            <a:r>
              <a:rPr lang="zh-CN" altLang="en-US" sz="14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Mongolian Baiti" panose="03000500000000000000" pitchFamily="66" charset="0"/>
              </a:rPr>
              <a:t>维和和压缩后</a:t>
            </a:r>
            <a:r>
              <a:rPr lang="en-US" altLang="zh-CN" sz="14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Mongolian Baiti" panose="03000500000000000000" pitchFamily="66" charset="0"/>
              </a:rPr>
              <a:t>13</a:t>
            </a:r>
            <a:r>
              <a:rPr lang="zh-CN" altLang="en-US" sz="14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Mongolian Baiti" panose="03000500000000000000" pitchFamily="66" charset="0"/>
              </a:rPr>
              <a:t>维特征上分别训练</a:t>
            </a:r>
            <a:r>
              <a:rPr lang="en-US" altLang="zh-CN" sz="14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Mongolian Baiti" panose="03000500000000000000" pitchFamily="66" charset="0"/>
              </a:rPr>
              <a:t>XGBoost</a:t>
            </a:r>
            <a:r>
              <a:rPr lang="zh-CN" altLang="en-US" sz="14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Mongolian Baiti" panose="03000500000000000000" pitchFamily="66" charset="0"/>
              </a:rPr>
              <a:t>，证明</a:t>
            </a:r>
            <a:r>
              <a:rPr lang="en-US" altLang="zh-CN" sz="14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Mongolian Baiti" panose="03000500000000000000" pitchFamily="66" charset="0"/>
              </a:rPr>
              <a:t>13</a:t>
            </a:r>
            <a:r>
              <a:rPr lang="zh-CN" altLang="en-US" sz="14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Mongolian Baiti" panose="03000500000000000000" pitchFamily="66" charset="0"/>
              </a:rPr>
              <a:t>维特征集在降维的前提下完整保留了</a:t>
            </a:r>
            <a:r>
              <a:rPr lang="en-US" altLang="zh-CN" sz="14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Mongolian Baiti" panose="03000500000000000000" pitchFamily="66" charset="0"/>
              </a:rPr>
              <a:t>78</a:t>
            </a:r>
            <a:r>
              <a:rPr lang="zh-CN" altLang="en-US" sz="14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Mongolian Baiti" panose="03000500000000000000" pitchFamily="66" charset="0"/>
              </a:rPr>
              <a:t>维原始特征的区分能力，可以用于后续的模型训练与预测。</a:t>
            </a:r>
            <a:endParaRPr lang="zh-CN" altLang="en-US" sz="1400" kern="100" dirty="0">
              <a:latin typeface="微软雅黑" panose="020B0503020204020204" pitchFamily="34" charset="-122"/>
              <a:ea typeface="微软雅黑" panose="020B0503020204020204" pitchFamily="34" charset="-122"/>
              <a:cs typeface="Mongolian Baiti" panose="03000500000000000000" pitchFamily="66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266700" y="5367020"/>
            <a:ext cx="11510010" cy="1417320"/>
          </a:xfrm>
          <a:prstGeom prst="rect">
            <a:avLst/>
          </a:prstGeom>
          <a:noFill/>
          <a:ln w="19050">
            <a:solidFill>
              <a:srgbClr val="8939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5" name="图片 2" descr="WOE编码结果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83615" y="1848485"/>
            <a:ext cx="4706620" cy="3332480"/>
          </a:xfrm>
          <a:prstGeom prst="rect">
            <a:avLst/>
          </a:prstGeom>
        </p:spPr>
      </p:pic>
      <p:pic>
        <p:nvPicPr>
          <p:cNvPr id="6" name="图片 3" descr="WOE验证_AUC对比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443980" y="2143125"/>
            <a:ext cx="5029835" cy="2994025"/>
          </a:xfrm>
          <a:prstGeom prst="rect">
            <a:avLst/>
          </a:prstGeom>
        </p:spPr>
      </p:pic>
    </p:spTree>
  </p:cSld>
  <p:clrMapOvr>
    <a:masterClrMapping/>
  </p:clrMapOvr>
  <p:transition spd="slow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438" name="组合 4"/>
          <p:cNvGrpSpPr/>
          <p:nvPr/>
        </p:nvGrpSpPr>
        <p:grpSpPr bwMode="auto">
          <a:xfrm>
            <a:off x="551180" y="984250"/>
            <a:ext cx="3223895" cy="469900"/>
            <a:chOff x="992516" y="4392689"/>
            <a:chExt cx="3131187" cy="358868"/>
          </a:xfrm>
        </p:grpSpPr>
        <p:sp>
          <p:nvSpPr>
            <p:cNvPr id="54" name="矩形 53"/>
            <p:cNvSpPr/>
            <p:nvPr/>
          </p:nvSpPr>
          <p:spPr>
            <a:xfrm>
              <a:off x="1820797" y="4392689"/>
              <a:ext cx="2302906" cy="358868"/>
            </a:xfrm>
            <a:prstGeom prst="rect">
              <a:avLst/>
            </a:prstGeom>
            <a:solidFill>
              <a:srgbClr val="7C2326">
                <a:alpha val="9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2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目前研究进展</a:t>
              </a:r>
              <a:endPara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6" name="TextBox 47"/>
            <p:cNvSpPr txBox="1"/>
            <p:nvPr/>
          </p:nvSpPr>
          <p:spPr>
            <a:xfrm>
              <a:off x="992516" y="4397539"/>
              <a:ext cx="759724" cy="351594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</p:spPr>
          <p:txBody>
            <a:bodyPr anchor="ctr">
              <a:spAutoFit/>
            </a:bodyPr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2400" b="1" dirty="0">
                  <a:solidFill>
                    <a:schemeClr val="l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四</a:t>
              </a:r>
              <a:endParaRPr lang="zh-CN" altLang="en-US" sz="2400" b="1" dirty="0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75248"/>
            <a:ext cx="127000" cy="30670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30153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26" name="矩形 125"/>
          <p:cNvSpPr/>
          <p:nvPr/>
        </p:nvSpPr>
        <p:spPr>
          <a:xfrm>
            <a:off x="270510" y="1776095"/>
            <a:ext cx="11506200" cy="3482975"/>
          </a:xfrm>
          <a:prstGeom prst="rect">
            <a:avLst/>
          </a:prstGeom>
          <a:noFill/>
          <a:ln w="19050">
            <a:solidFill>
              <a:srgbClr val="8939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7" name="圆角矩形 6"/>
          <p:cNvSpPr/>
          <p:nvPr/>
        </p:nvSpPr>
        <p:spPr>
          <a:xfrm>
            <a:off x="434975" y="1594485"/>
            <a:ext cx="4724400" cy="476885"/>
          </a:xfrm>
          <a:prstGeom prst="roundRect">
            <a:avLst/>
          </a:prstGeom>
          <a:solidFill>
            <a:schemeClr val="bg1"/>
          </a:solidFill>
          <a:ln w="12700" cap="flat" cmpd="sng" algn="ctr">
            <a:solidFill>
              <a:srgbClr val="89393B"/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C2326"/>
              </a:buClr>
              <a:buSzTx/>
              <a:buNone/>
              <a:defRPr/>
            </a:pPr>
            <a:r>
              <a: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89393B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第一阶段：违约速度分类器与</a:t>
            </a:r>
            <a:r>
              <a:rPr kumimoji="0" lang="en-US" altLang="zh-CN" sz="1600" b="1" i="0" u="none" strike="noStrike" kern="0" cap="none" spc="0" normalizeH="0" baseline="0" noProof="0" dirty="0">
                <a:ln>
                  <a:noFill/>
                </a:ln>
                <a:solidFill>
                  <a:srgbClr val="89393B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NN</a:t>
            </a:r>
            <a:r>
              <a: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89393B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代理模型验证</a:t>
            </a:r>
            <a:endParaRPr kumimoji="0" lang="zh-CN" altLang="en-US" sz="1600" b="1" i="0" u="none" strike="noStrike" kern="0" cap="none" spc="0" normalizeH="0" baseline="0" noProof="0" dirty="0">
              <a:ln>
                <a:noFill/>
              </a:ln>
              <a:solidFill>
                <a:srgbClr val="89393B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034" name="文本框 1033"/>
          <p:cNvSpPr txBox="1"/>
          <p:nvPr/>
        </p:nvSpPr>
        <p:spPr>
          <a:xfrm>
            <a:off x="270510" y="5441315"/>
            <a:ext cx="11506835" cy="1245235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marL="285750" indent="-285750" algn="just" fontAlgn="auto" latinLnBrk="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zh-CN" altLang="en-US" sz="15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Mongolian Baiti" panose="03000500000000000000" pitchFamily="66" charset="0"/>
              </a:rPr>
              <a:t>本阶段依托完整的观测违约样本训练违约速度分类器，区分快速违约与慢速违约特征模式，同时训练神经网络代理模型，实现条件变量</a:t>
            </a:r>
            <a:r>
              <a:rPr lang="en-US" altLang="zh-CN" sz="15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Mongolian Baiti" panose="03000500000000000000" pitchFamily="66" charset="0"/>
              </a:rPr>
              <a:t>r</a:t>
            </a:r>
            <a:r>
              <a:rPr lang="zh-CN" altLang="en-US" sz="15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Mongolian Baiti" panose="03000500000000000000" pitchFamily="66" charset="0"/>
              </a:rPr>
              <a:t>的可微分拟合，为生成器提供稳定的条件约束信号</a:t>
            </a:r>
            <a:endParaRPr lang="zh-CN" altLang="en-US" sz="1500" kern="100" dirty="0">
              <a:latin typeface="微软雅黑" panose="020B0503020204020204" pitchFamily="34" charset="-122"/>
              <a:ea typeface="微软雅黑" panose="020B0503020204020204" pitchFamily="34" charset="-122"/>
              <a:cs typeface="Mongolian Baiti" panose="03000500000000000000" pitchFamily="66" charset="0"/>
            </a:endParaRPr>
          </a:p>
          <a:p>
            <a:pPr marL="285750" indent="-285750" algn="just" fontAlgn="auto" latinLnBrk="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zh-CN" altLang="en-US" sz="15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Mongolian Baiti" panose="03000500000000000000" pitchFamily="66" charset="0"/>
              </a:rPr>
              <a:t>本阶段实验证实，违约速度分类器可精准挖掘信贷样本的违约快慢特征差异，</a:t>
            </a:r>
            <a:r>
              <a:rPr lang="en-US" altLang="zh-CN" sz="15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Mongolian Baiti" panose="03000500000000000000" pitchFamily="66" charset="0"/>
              </a:rPr>
              <a:t>NN</a:t>
            </a:r>
            <a:r>
              <a:rPr lang="zh-CN" altLang="en-US" sz="15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Mongolian Baiti" panose="03000500000000000000" pitchFamily="66" charset="0"/>
              </a:rPr>
              <a:t>代理模型拟合精度高、误差可控，能够稳定输出可微分的条件变量</a:t>
            </a:r>
            <a:r>
              <a:rPr lang="en-US" altLang="zh-CN" sz="15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Mongolian Baiti" panose="03000500000000000000" pitchFamily="66" charset="0"/>
              </a:rPr>
              <a:t>r</a:t>
            </a:r>
            <a:r>
              <a:rPr lang="zh-CN" altLang="en-US" sz="15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Mongolian Baiti" panose="03000500000000000000" pitchFamily="66" charset="0"/>
              </a:rPr>
              <a:t>，彻底解决了右删失样本隐性风险特征无法量化、无法嵌入生成模型训练的问题，第一阶段核心技术链路完全跑通</a:t>
            </a:r>
            <a:endParaRPr lang="zh-CN" altLang="en-US" sz="1500" kern="100" dirty="0">
              <a:latin typeface="微软雅黑" panose="020B0503020204020204" pitchFamily="34" charset="-122"/>
              <a:ea typeface="微软雅黑" panose="020B0503020204020204" pitchFamily="34" charset="-122"/>
              <a:cs typeface="Mongolian Baiti" panose="03000500000000000000" pitchFamily="66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266700" y="5367020"/>
            <a:ext cx="11510010" cy="1417320"/>
          </a:xfrm>
          <a:prstGeom prst="rect">
            <a:avLst/>
          </a:prstGeom>
          <a:noFill/>
          <a:ln w="19050">
            <a:solidFill>
              <a:srgbClr val="8939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53" name="图片 52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127125" y="1957070"/>
            <a:ext cx="9670415" cy="3330575"/>
          </a:xfrm>
          <a:prstGeom prst="rect">
            <a:avLst/>
          </a:prstGeom>
        </p:spPr>
      </p:pic>
    </p:spTree>
  </p:cSld>
  <p:clrMapOvr>
    <a:masterClrMapping/>
  </p:clrMapOvr>
  <p:transition spd="slow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438" name="组合 4"/>
          <p:cNvGrpSpPr/>
          <p:nvPr/>
        </p:nvGrpSpPr>
        <p:grpSpPr bwMode="auto">
          <a:xfrm>
            <a:off x="551180" y="984250"/>
            <a:ext cx="3223895" cy="469900"/>
            <a:chOff x="992516" y="4392689"/>
            <a:chExt cx="3131187" cy="358868"/>
          </a:xfrm>
        </p:grpSpPr>
        <p:sp>
          <p:nvSpPr>
            <p:cNvPr id="54" name="矩形 53"/>
            <p:cNvSpPr/>
            <p:nvPr/>
          </p:nvSpPr>
          <p:spPr>
            <a:xfrm>
              <a:off x="1820797" y="4392689"/>
              <a:ext cx="2302906" cy="358868"/>
            </a:xfrm>
            <a:prstGeom prst="rect">
              <a:avLst/>
            </a:prstGeom>
            <a:solidFill>
              <a:srgbClr val="7C2326">
                <a:alpha val="9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2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目前研究进展</a:t>
              </a:r>
              <a:endPara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6" name="TextBox 47"/>
            <p:cNvSpPr txBox="1"/>
            <p:nvPr/>
          </p:nvSpPr>
          <p:spPr>
            <a:xfrm>
              <a:off x="992516" y="4397539"/>
              <a:ext cx="759724" cy="351594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</p:spPr>
          <p:txBody>
            <a:bodyPr anchor="ctr">
              <a:spAutoFit/>
            </a:bodyPr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2400" b="1" dirty="0">
                  <a:solidFill>
                    <a:schemeClr val="l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四</a:t>
              </a:r>
              <a:endParaRPr lang="zh-CN" altLang="en-US" sz="2400" b="1" dirty="0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75248"/>
            <a:ext cx="127000" cy="30670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30153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26" name="矩形 125"/>
          <p:cNvSpPr/>
          <p:nvPr>
            <p:custDataLst>
              <p:tags r:id="rId1"/>
            </p:custDataLst>
          </p:nvPr>
        </p:nvSpPr>
        <p:spPr>
          <a:xfrm>
            <a:off x="270510" y="1704340"/>
            <a:ext cx="5455285" cy="3482975"/>
          </a:xfrm>
          <a:prstGeom prst="rect">
            <a:avLst/>
          </a:prstGeom>
          <a:noFill/>
          <a:ln w="19050">
            <a:solidFill>
              <a:srgbClr val="8939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7" name="圆角矩形 6"/>
          <p:cNvSpPr/>
          <p:nvPr>
            <p:custDataLst>
              <p:tags r:id="rId2"/>
            </p:custDataLst>
          </p:nvPr>
        </p:nvSpPr>
        <p:spPr>
          <a:xfrm>
            <a:off x="551180" y="1524000"/>
            <a:ext cx="4724400" cy="476885"/>
          </a:xfrm>
          <a:prstGeom prst="roundRect">
            <a:avLst/>
          </a:prstGeom>
          <a:solidFill>
            <a:schemeClr val="bg1"/>
          </a:solidFill>
          <a:ln w="12700" cap="flat" cmpd="sng" algn="ctr">
            <a:solidFill>
              <a:srgbClr val="89393B"/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C2326"/>
              </a:buClr>
              <a:buSzTx/>
              <a:buNone/>
              <a:defRPr/>
            </a:pPr>
            <a:r>
              <a: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89393B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第二阶段：</a:t>
            </a:r>
            <a:r>
              <a:rPr lang="en-US" altLang="zh-CN" sz="1600" b="1" kern="0" noProof="0" dirty="0">
                <a:ln>
                  <a:noFill/>
                </a:ln>
                <a:solidFill>
                  <a:srgbClr val="89393B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XGBoost</a:t>
            </a:r>
            <a:r>
              <a:rPr lang="zh-CN" altLang="en-US" sz="1600" b="1" kern="0" noProof="0" dirty="0">
                <a:ln>
                  <a:noFill/>
                </a:ln>
                <a:solidFill>
                  <a:srgbClr val="89393B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基分类器知识蒸馏验证</a:t>
            </a:r>
            <a:endParaRPr kumimoji="0" lang="zh-CN" altLang="en-US" sz="1600" b="1" i="0" u="none" strike="noStrike" kern="0" cap="none" spc="0" normalizeH="0" baseline="0" noProof="0" dirty="0">
              <a:ln>
                <a:noFill/>
              </a:ln>
              <a:solidFill>
                <a:srgbClr val="89393B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034" name="文本框 1033"/>
          <p:cNvSpPr txBox="1"/>
          <p:nvPr>
            <p:custDataLst>
              <p:tags r:id="rId3"/>
            </p:custDataLst>
          </p:nvPr>
        </p:nvSpPr>
        <p:spPr>
          <a:xfrm>
            <a:off x="6135370" y="5441315"/>
            <a:ext cx="5641975" cy="1245235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marL="285750" indent="-285750" algn="just" fontAlgn="auto" latinLnBrk="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zh-CN" altLang="en-US" sz="15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Mongolian Baiti" panose="03000500000000000000" pitchFamily="66" charset="0"/>
                <a:sym typeface="+mn-ea"/>
              </a:rPr>
              <a:t>本阶段分别对标准</a:t>
            </a:r>
            <a:r>
              <a:rPr lang="en-US" altLang="zh-CN" sz="15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Mongolian Baiti" panose="03000500000000000000" pitchFamily="66" charset="0"/>
                <a:sym typeface="+mn-ea"/>
              </a:rPr>
              <a:t>WGAN-GP</a:t>
            </a:r>
            <a:r>
              <a:rPr lang="zh-CN" altLang="en-US" sz="15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Mongolian Baiti" panose="03000500000000000000" pitchFamily="66" charset="0"/>
                <a:sym typeface="+mn-ea"/>
              </a:rPr>
              <a:t>与</a:t>
            </a:r>
            <a:r>
              <a:rPr lang="en-US" altLang="zh-CN" sz="15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Mongolian Baiti" panose="03000500000000000000" pitchFamily="66" charset="0"/>
                <a:sym typeface="+mn-ea"/>
              </a:rPr>
              <a:t>BA-cWGAN-GP</a:t>
            </a:r>
            <a:r>
              <a:rPr lang="zh-CN" altLang="en-US" sz="15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Mongolian Baiti" panose="03000500000000000000" pitchFamily="66" charset="0"/>
                <a:sym typeface="+mn-ea"/>
              </a:rPr>
              <a:t>模型开展训练，对比两类模型的收敛特性、训练效率与损失优化规律</a:t>
            </a:r>
            <a:endParaRPr lang="zh-CN" altLang="en-US" sz="1500" kern="100" dirty="0">
              <a:latin typeface="微软雅黑" panose="020B0503020204020204" pitchFamily="34" charset="-122"/>
              <a:ea typeface="微软雅黑" panose="020B0503020204020204" pitchFamily="34" charset="-122"/>
              <a:cs typeface="Mongolian Baiti" panose="03000500000000000000" pitchFamily="66" charset="0"/>
            </a:endParaRPr>
          </a:p>
          <a:p>
            <a:pPr marL="285750" indent="-285750" algn="just" fontAlgn="auto" latinLnBrk="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zh-CN" altLang="en-US" sz="15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Mongolian Baiti" panose="03000500000000000000" pitchFamily="66" charset="0"/>
                <a:sym typeface="+mn-ea"/>
              </a:rPr>
              <a:t>三项损失函数同步稳定收敛，无相互冲突、无梯度爆炸与模式坍塌问题，多损失联合优化机制适配性良好</a:t>
            </a:r>
            <a:endParaRPr lang="zh-CN" altLang="en-US" sz="1500" kern="100" dirty="0">
              <a:latin typeface="微软雅黑" panose="020B0503020204020204" pitchFamily="34" charset="-122"/>
              <a:ea typeface="微软雅黑" panose="020B0503020204020204" pitchFamily="34" charset="-122"/>
              <a:cs typeface="Mongolian Baiti" panose="03000500000000000000" pitchFamily="66" charset="0"/>
              <a:sym typeface="+mn-ea"/>
            </a:endParaRPr>
          </a:p>
        </p:txBody>
      </p:sp>
      <p:sp>
        <p:nvSpPr>
          <p:cNvPr id="2" name="矩形 1"/>
          <p:cNvSpPr/>
          <p:nvPr>
            <p:custDataLst>
              <p:tags r:id="rId4"/>
            </p:custDataLst>
          </p:nvPr>
        </p:nvSpPr>
        <p:spPr>
          <a:xfrm>
            <a:off x="6136005" y="5295265"/>
            <a:ext cx="5641340" cy="1460500"/>
          </a:xfrm>
          <a:prstGeom prst="rect">
            <a:avLst/>
          </a:prstGeom>
          <a:noFill/>
          <a:ln w="19050">
            <a:solidFill>
              <a:srgbClr val="8939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矩形 2"/>
          <p:cNvSpPr/>
          <p:nvPr>
            <p:custDataLst>
              <p:tags r:id="rId5"/>
            </p:custDataLst>
          </p:nvPr>
        </p:nvSpPr>
        <p:spPr>
          <a:xfrm>
            <a:off x="6136005" y="1700530"/>
            <a:ext cx="5641340" cy="3486150"/>
          </a:xfrm>
          <a:prstGeom prst="rect">
            <a:avLst/>
          </a:prstGeom>
          <a:noFill/>
          <a:ln w="19050">
            <a:solidFill>
              <a:srgbClr val="8939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圆角矩形 6"/>
          <p:cNvSpPr/>
          <p:nvPr>
            <p:custDataLst>
              <p:tags r:id="rId6"/>
            </p:custDataLst>
          </p:nvPr>
        </p:nvSpPr>
        <p:spPr>
          <a:xfrm>
            <a:off x="6383655" y="1524000"/>
            <a:ext cx="4255135" cy="476885"/>
          </a:xfrm>
          <a:prstGeom prst="roundRect">
            <a:avLst/>
          </a:prstGeom>
          <a:solidFill>
            <a:schemeClr val="bg1"/>
          </a:solidFill>
          <a:ln w="12700" cap="flat" cmpd="sng" algn="ctr">
            <a:solidFill>
              <a:srgbClr val="89393B"/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C2326"/>
              </a:buClr>
              <a:buSzTx/>
              <a:buNone/>
              <a:defRPr/>
            </a:pPr>
            <a:r>
              <a:rPr lang="zh-CN" altLang="en-US" sz="1600" b="1" kern="0" noProof="0" dirty="0">
                <a:ln>
                  <a:noFill/>
                </a:ln>
                <a:solidFill>
                  <a:srgbClr val="89393B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第三阶段：生成模型训练稳定性验证</a:t>
            </a:r>
            <a:endParaRPr kumimoji="0" lang="zh-CN" altLang="en-US" sz="1600" b="1" i="0" u="none" strike="noStrike" kern="0" cap="none" spc="0" normalizeH="0" baseline="0" noProof="0" dirty="0">
              <a:ln>
                <a:noFill/>
              </a:ln>
              <a:solidFill>
                <a:srgbClr val="89393B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pic>
        <p:nvPicPr>
          <p:cNvPr id="8" name="图片 4" descr="01_gan_training_loss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 l="49921" t="6649"/>
          <a:stretch>
            <a:fillRect/>
          </a:stretch>
        </p:blipFill>
        <p:spPr>
          <a:xfrm>
            <a:off x="6520815" y="1896745"/>
            <a:ext cx="4828540" cy="3332480"/>
          </a:xfrm>
          <a:prstGeom prst="rect">
            <a:avLst/>
          </a:prstGeom>
        </p:spPr>
      </p:pic>
      <p:sp>
        <p:nvSpPr>
          <p:cNvPr id="9" name="文本框 8"/>
          <p:cNvSpPr txBox="1"/>
          <p:nvPr>
            <p:custDataLst>
              <p:tags r:id="rId9"/>
            </p:custDataLst>
          </p:nvPr>
        </p:nvSpPr>
        <p:spPr>
          <a:xfrm>
            <a:off x="262890" y="5372735"/>
            <a:ext cx="5464175" cy="138303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marL="285750" indent="-285750" algn="just" fontAlgn="auto" latinLnBrk="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14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Mongolian Baiti" panose="03000500000000000000" pitchFamily="66" charset="0"/>
                <a:sym typeface="+mn-ea"/>
              </a:rPr>
              <a:t>本阶段以</a:t>
            </a:r>
            <a:r>
              <a:rPr lang="en-US" altLang="zh-CN" sz="14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Mongolian Baiti" panose="03000500000000000000" pitchFamily="66" charset="0"/>
                <a:sym typeface="+mn-ea"/>
              </a:rPr>
              <a:t>XGBoost</a:t>
            </a:r>
            <a:r>
              <a:rPr lang="zh-CN" altLang="en-US" sz="14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Mongolian Baiti" panose="03000500000000000000" pitchFamily="66" charset="0"/>
                <a:sym typeface="+mn-ea"/>
              </a:rPr>
              <a:t>为基分类器构建信贷风险决策边界，通过知识蒸馏将离散的树模型决策逻辑迁移至神经网络代理模型，实现决策边界的可微分处理，为边界感知损失提供计算支撑</a:t>
            </a:r>
            <a:endParaRPr lang="zh-CN" altLang="en-US" sz="1400" kern="100" dirty="0">
              <a:latin typeface="微软雅黑" panose="020B0503020204020204" pitchFamily="34" charset="-122"/>
              <a:ea typeface="微软雅黑" panose="020B0503020204020204" pitchFamily="34" charset="-122"/>
              <a:cs typeface="Mongolian Baiti" panose="03000500000000000000" pitchFamily="66" charset="0"/>
              <a:sym typeface="+mn-ea"/>
            </a:endParaRPr>
          </a:p>
          <a:p>
            <a:pPr marL="285750" indent="-285750" algn="just" fontAlgn="auto" latinLnBrk="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14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Mongolian Baiti" panose="03000500000000000000" pitchFamily="66" charset="0"/>
                <a:sym typeface="+mn-ea"/>
              </a:rPr>
              <a:t>蒸馏后</a:t>
            </a:r>
            <a:r>
              <a:rPr lang="en-US" altLang="zh-CN" sz="14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Mongolian Baiti" panose="03000500000000000000" pitchFamily="66" charset="0"/>
                <a:sym typeface="+mn-ea"/>
              </a:rPr>
              <a:t>NN</a:t>
            </a:r>
            <a:r>
              <a:rPr lang="zh-CN" altLang="en-US" sz="14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Mongolian Baiti" panose="03000500000000000000" pitchFamily="66" charset="0"/>
                <a:sym typeface="+mn-ea"/>
              </a:rPr>
              <a:t>代理模型几乎完美复刻了基分类器的风险决策逻辑与边界划分标准，解决了传统边界约束无法嵌入</a:t>
            </a:r>
            <a:r>
              <a:rPr lang="en-US" altLang="zh-CN" sz="14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Mongolian Baiti" panose="03000500000000000000" pitchFamily="66" charset="0"/>
                <a:sym typeface="+mn-ea"/>
              </a:rPr>
              <a:t>GAN</a:t>
            </a:r>
            <a:r>
              <a:rPr lang="zh-CN" altLang="en-US" sz="14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Mongolian Baiti" panose="03000500000000000000" pitchFamily="66" charset="0"/>
                <a:sym typeface="+mn-ea"/>
              </a:rPr>
              <a:t>训练的痛点</a:t>
            </a:r>
            <a:endParaRPr lang="zh-CN" altLang="en-US" sz="1400" kern="100" dirty="0">
              <a:latin typeface="微软雅黑" panose="020B0503020204020204" pitchFamily="34" charset="-122"/>
              <a:ea typeface="微软雅黑" panose="020B0503020204020204" pitchFamily="34" charset="-122"/>
              <a:cs typeface="Mongolian Baiti" panose="03000500000000000000" pitchFamily="66" charset="0"/>
              <a:sym typeface="+mn-ea"/>
            </a:endParaRPr>
          </a:p>
        </p:txBody>
      </p:sp>
      <p:sp>
        <p:nvSpPr>
          <p:cNvPr id="10" name="矩形 9"/>
          <p:cNvSpPr/>
          <p:nvPr>
            <p:custDataLst>
              <p:tags r:id="rId10"/>
            </p:custDataLst>
          </p:nvPr>
        </p:nvSpPr>
        <p:spPr>
          <a:xfrm>
            <a:off x="263525" y="5333365"/>
            <a:ext cx="5462905" cy="1441450"/>
          </a:xfrm>
          <a:prstGeom prst="rect">
            <a:avLst/>
          </a:prstGeom>
          <a:noFill/>
          <a:ln w="19050">
            <a:solidFill>
              <a:srgbClr val="8939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1" name="图片 7" descr="09_phase2_boundary_consistency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 l="53128" r="-4666" b="-8911"/>
          <a:stretch>
            <a:fillRect/>
          </a:stretch>
        </p:blipFill>
        <p:spPr>
          <a:xfrm>
            <a:off x="1055370" y="2060575"/>
            <a:ext cx="4213860" cy="3724910"/>
          </a:xfrm>
          <a:prstGeom prst="rect">
            <a:avLst/>
          </a:prstGeom>
        </p:spPr>
      </p:pic>
    </p:spTree>
  </p:cSld>
  <p:clrMapOvr>
    <a:masterClrMapping/>
  </p:clrMapOvr>
  <p:transition spd="slow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438" name="组合 4"/>
          <p:cNvGrpSpPr/>
          <p:nvPr/>
        </p:nvGrpSpPr>
        <p:grpSpPr bwMode="auto">
          <a:xfrm>
            <a:off x="551180" y="984250"/>
            <a:ext cx="3223895" cy="469900"/>
            <a:chOff x="992516" y="4392689"/>
            <a:chExt cx="3131187" cy="358868"/>
          </a:xfrm>
        </p:grpSpPr>
        <p:sp>
          <p:nvSpPr>
            <p:cNvPr id="54" name="矩形 53"/>
            <p:cNvSpPr/>
            <p:nvPr/>
          </p:nvSpPr>
          <p:spPr>
            <a:xfrm>
              <a:off x="1820797" y="4392689"/>
              <a:ext cx="2302906" cy="358868"/>
            </a:xfrm>
            <a:prstGeom prst="rect">
              <a:avLst/>
            </a:prstGeom>
            <a:solidFill>
              <a:srgbClr val="7C2326">
                <a:alpha val="9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2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目前研究进展</a:t>
              </a:r>
              <a:endPara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6" name="TextBox 47"/>
            <p:cNvSpPr txBox="1"/>
            <p:nvPr/>
          </p:nvSpPr>
          <p:spPr>
            <a:xfrm>
              <a:off x="992516" y="4397539"/>
              <a:ext cx="759724" cy="351594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</p:spPr>
          <p:txBody>
            <a:bodyPr anchor="ctr">
              <a:spAutoFit/>
            </a:bodyPr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2400" b="1" dirty="0">
                  <a:solidFill>
                    <a:schemeClr val="l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四</a:t>
              </a:r>
              <a:endParaRPr lang="zh-CN" altLang="en-US" sz="2400" b="1" dirty="0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75248"/>
            <a:ext cx="127000" cy="30670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30153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26" name="矩形 125"/>
          <p:cNvSpPr/>
          <p:nvPr/>
        </p:nvSpPr>
        <p:spPr>
          <a:xfrm>
            <a:off x="270510" y="1776095"/>
            <a:ext cx="5455285" cy="3482975"/>
          </a:xfrm>
          <a:prstGeom prst="rect">
            <a:avLst/>
          </a:prstGeom>
          <a:noFill/>
          <a:ln w="19050">
            <a:solidFill>
              <a:srgbClr val="8939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7" name="圆角矩形 6"/>
          <p:cNvSpPr/>
          <p:nvPr/>
        </p:nvSpPr>
        <p:spPr>
          <a:xfrm>
            <a:off x="551180" y="1595755"/>
            <a:ext cx="4724400" cy="476885"/>
          </a:xfrm>
          <a:prstGeom prst="roundRect">
            <a:avLst/>
          </a:prstGeom>
          <a:solidFill>
            <a:schemeClr val="bg1"/>
          </a:solidFill>
          <a:ln w="12700" cap="flat" cmpd="sng" algn="ctr">
            <a:solidFill>
              <a:srgbClr val="89393B"/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C2326"/>
              </a:buClr>
              <a:buSzTx/>
              <a:buNone/>
              <a:defRPr/>
            </a:pPr>
            <a:r>
              <a: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89393B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第四阶段：样本生成质量与模型性能评估</a:t>
            </a:r>
            <a:endParaRPr kumimoji="0" lang="zh-CN" altLang="en-US" sz="1600" b="1" i="0" u="none" strike="noStrike" kern="0" cap="none" spc="0" normalizeH="0" baseline="0" noProof="0" dirty="0">
              <a:ln>
                <a:noFill/>
              </a:ln>
              <a:solidFill>
                <a:srgbClr val="89393B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034" name="文本框 1033"/>
          <p:cNvSpPr txBox="1"/>
          <p:nvPr/>
        </p:nvSpPr>
        <p:spPr>
          <a:xfrm>
            <a:off x="270510" y="5441315"/>
            <a:ext cx="11506835" cy="1245235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marL="285750" indent="-285750" algn="just" fontAlgn="auto" latinLnBrk="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zh-CN" altLang="en-US" sz="15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Mongolian Baiti" panose="03000500000000000000" pitchFamily="66" charset="0"/>
              </a:rPr>
              <a:t>本阶段通过边界富集度与裁判模型双维度，量化评估合成样本质量与模型预测性能</a:t>
            </a:r>
            <a:endParaRPr lang="zh-CN" altLang="en-US" sz="1500" kern="100" dirty="0">
              <a:latin typeface="微软雅黑" panose="020B0503020204020204" pitchFamily="34" charset="-122"/>
              <a:ea typeface="微软雅黑" panose="020B0503020204020204" pitchFamily="34" charset="-122"/>
              <a:cs typeface="Mongolian Baiti" panose="03000500000000000000" pitchFamily="66" charset="0"/>
            </a:endParaRPr>
          </a:p>
          <a:p>
            <a:pPr marL="285750" indent="-285750" algn="just" fontAlgn="auto" latinLnBrk="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zh-CN" altLang="en-US" sz="15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Mongolian Baiti" panose="03000500000000000000" pitchFamily="66" charset="0"/>
              </a:rPr>
              <a:t>在样本边界富集度层面</a:t>
            </a:r>
            <a:r>
              <a:rPr lang="zh-CN" sz="15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Mongolian Baiti" panose="03000500000000000000" pitchFamily="66" charset="0"/>
              </a:rPr>
              <a:t>，</a:t>
            </a:r>
            <a:r>
              <a:rPr lang="en-US" altLang="zh-CN" sz="15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Mongolian Baiti" panose="03000500000000000000" pitchFamily="66" charset="0"/>
              </a:rPr>
              <a:t>BA-cWGAN-GP</a:t>
            </a:r>
            <a:r>
              <a:rPr lang="zh-CN" altLang="en-US" sz="15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Mongolian Baiti" panose="03000500000000000000" pitchFamily="66" charset="0"/>
              </a:rPr>
              <a:t>生成的合成样本边界富集度提升至</a:t>
            </a:r>
            <a:r>
              <a:rPr lang="en-US" altLang="zh-CN" sz="15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Mongolian Baiti" panose="03000500000000000000" pitchFamily="66" charset="0"/>
              </a:rPr>
              <a:t>59.2%</a:t>
            </a:r>
            <a:r>
              <a:rPr lang="zh-CN" altLang="en-US" sz="15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Mongolian Baiti" panose="03000500000000000000" pitchFamily="66" charset="0"/>
              </a:rPr>
              <a:t>（提升了</a:t>
            </a:r>
            <a:r>
              <a:rPr lang="en-US" altLang="zh-CN" sz="15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Mongolian Baiti" panose="03000500000000000000" pitchFamily="66" charset="0"/>
              </a:rPr>
              <a:t>1.8</a:t>
            </a:r>
            <a:r>
              <a:rPr lang="zh-CN" altLang="en-US" sz="15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Mongolian Baiti" panose="03000500000000000000" pitchFamily="66" charset="0"/>
              </a:rPr>
              <a:t>倍），充分验证了边界感知机制的核心优势，从根源上解决了传统生成模型盲目采样、无效生成的缺陷</a:t>
            </a:r>
            <a:endParaRPr lang="zh-CN" altLang="en-US" sz="1500" kern="100" dirty="0">
              <a:latin typeface="微软雅黑" panose="020B0503020204020204" pitchFamily="34" charset="-122"/>
              <a:ea typeface="微软雅黑" panose="020B0503020204020204" pitchFamily="34" charset="-122"/>
              <a:cs typeface="Mongolian Baiti" panose="03000500000000000000" pitchFamily="66" charset="0"/>
            </a:endParaRPr>
          </a:p>
          <a:p>
            <a:pPr marL="285750" indent="-285750" algn="just" fontAlgn="auto" latinLnBrk="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zh-CN" altLang="en-US" sz="15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Mongolian Baiti" panose="03000500000000000000" pitchFamily="66" charset="0"/>
              </a:rPr>
              <a:t>相较于原始无采样、</a:t>
            </a:r>
            <a:r>
              <a:rPr lang="en-US" altLang="zh-CN" sz="15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Mongolian Baiti" panose="03000500000000000000" pitchFamily="66" charset="0"/>
              </a:rPr>
              <a:t>SMOTE</a:t>
            </a:r>
            <a:r>
              <a:rPr lang="zh-CN" altLang="en-US" sz="15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Mongolian Baiti" panose="03000500000000000000" pitchFamily="66" charset="0"/>
              </a:rPr>
              <a:t>过采样、标准</a:t>
            </a:r>
            <a:r>
              <a:rPr lang="en-US" altLang="zh-CN" sz="15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Mongolian Baiti" panose="03000500000000000000" pitchFamily="66" charset="0"/>
              </a:rPr>
              <a:t>WGAN-GP</a:t>
            </a:r>
            <a:r>
              <a:rPr lang="zh-CN" altLang="en-US" sz="15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Mongolian Baiti" panose="03000500000000000000" pitchFamily="66" charset="0"/>
              </a:rPr>
              <a:t>模型，</a:t>
            </a:r>
            <a:r>
              <a:rPr lang="en-US" altLang="zh-CN" sz="15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Mongolian Baiti" panose="03000500000000000000" pitchFamily="66" charset="0"/>
              </a:rPr>
              <a:t>BA-cWGAN-GP</a:t>
            </a:r>
            <a:r>
              <a:rPr lang="zh-CN" altLang="en-US" sz="15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Mongolian Baiti" panose="03000500000000000000" pitchFamily="66" charset="0"/>
              </a:rPr>
              <a:t>模型的</a:t>
            </a:r>
            <a:r>
              <a:rPr lang="en-US" altLang="zh-CN" sz="15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Mongolian Baiti" panose="03000500000000000000" pitchFamily="66" charset="0"/>
              </a:rPr>
              <a:t>Brier</a:t>
            </a:r>
            <a:r>
              <a:rPr lang="zh-CN" altLang="en-US" sz="15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Mongolian Baiti" panose="03000500000000000000" pitchFamily="66" charset="0"/>
              </a:rPr>
              <a:t>分数降至</a:t>
            </a:r>
            <a:r>
              <a:rPr lang="en-US" altLang="zh-CN" sz="15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Mongolian Baiti" panose="03000500000000000000" pitchFamily="66" charset="0"/>
              </a:rPr>
              <a:t>0.0623</a:t>
            </a:r>
            <a:r>
              <a:rPr lang="zh-CN" altLang="en-US" sz="15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Mongolian Baiti" panose="03000500000000000000" pitchFamily="66" charset="0"/>
              </a:rPr>
              <a:t>，预测误差显著降低</a:t>
            </a:r>
            <a:endParaRPr lang="zh-CN" altLang="en-US" sz="1500" kern="100" dirty="0">
              <a:latin typeface="微软雅黑" panose="020B0503020204020204" pitchFamily="34" charset="-122"/>
              <a:ea typeface="微软雅黑" panose="020B0503020204020204" pitchFamily="34" charset="-122"/>
              <a:cs typeface="Mongolian Baiti" panose="03000500000000000000" pitchFamily="66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266700" y="5367020"/>
            <a:ext cx="11510010" cy="1417320"/>
          </a:xfrm>
          <a:prstGeom prst="rect">
            <a:avLst/>
          </a:prstGeom>
          <a:noFill/>
          <a:ln w="19050">
            <a:solidFill>
              <a:srgbClr val="8939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5" name="图片 5" descr="02_boundary_enrichment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79425" y="2143125"/>
            <a:ext cx="4909820" cy="3046095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6136005" y="1772285"/>
            <a:ext cx="5597525" cy="3486150"/>
          </a:xfrm>
          <a:prstGeom prst="rect">
            <a:avLst/>
          </a:prstGeom>
          <a:noFill/>
          <a:ln w="19050">
            <a:solidFill>
              <a:srgbClr val="8939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6" name="图片 1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204585" y="1914525"/>
            <a:ext cx="5323840" cy="326390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圆角矩形 6"/>
          <p:cNvSpPr/>
          <p:nvPr/>
        </p:nvSpPr>
        <p:spPr>
          <a:xfrm>
            <a:off x="6383655" y="1595755"/>
            <a:ext cx="1460500" cy="476885"/>
          </a:xfrm>
          <a:prstGeom prst="roundRect">
            <a:avLst/>
          </a:prstGeom>
          <a:solidFill>
            <a:schemeClr val="bg1"/>
          </a:solidFill>
          <a:ln w="12700" cap="flat" cmpd="sng" algn="ctr">
            <a:solidFill>
              <a:srgbClr val="89393B"/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C2326"/>
              </a:buClr>
              <a:buSzTx/>
              <a:buNone/>
              <a:defRPr/>
            </a:pPr>
            <a:r>
              <a:rPr kumimoji="0" lang="en-US" altLang="zh-CN" sz="1600" b="1" i="0" u="none" strike="noStrike" kern="0" cap="none" spc="0" normalizeH="0" baseline="0" noProof="0" dirty="0">
                <a:ln>
                  <a:noFill/>
                </a:ln>
                <a:solidFill>
                  <a:srgbClr val="89393B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Brier</a:t>
            </a:r>
            <a:r>
              <a: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89393B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对比图</a:t>
            </a:r>
            <a:endParaRPr kumimoji="0" lang="zh-CN" altLang="en-US" sz="1600" b="1" i="0" u="none" strike="noStrike" kern="0" cap="none" spc="0" normalizeH="0" baseline="0" noProof="0" dirty="0">
              <a:ln>
                <a:noFill/>
              </a:ln>
              <a:solidFill>
                <a:srgbClr val="89393B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  <p:transition spd="slow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438" name="组合 4"/>
          <p:cNvGrpSpPr/>
          <p:nvPr/>
        </p:nvGrpSpPr>
        <p:grpSpPr bwMode="auto">
          <a:xfrm>
            <a:off x="551180" y="984250"/>
            <a:ext cx="3138805" cy="469900"/>
            <a:chOff x="992516" y="4392689"/>
            <a:chExt cx="3048544" cy="358868"/>
          </a:xfrm>
        </p:grpSpPr>
        <p:sp>
          <p:nvSpPr>
            <p:cNvPr id="54" name="矩形 53"/>
            <p:cNvSpPr/>
            <p:nvPr/>
          </p:nvSpPr>
          <p:spPr>
            <a:xfrm>
              <a:off x="1820797" y="4392689"/>
              <a:ext cx="2220263" cy="358868"/>
            </a:xfrm>
            <a:prstGeom prst="rect">
              <a:avLst/>
            </a:prstGeom>
            <a:solidFill>
              <a:srgbClr val="7C2326">
                <a:alpha val="9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2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论文进度安排</a:t>
              </a:r>
              <a:endPara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6" name="TextBox 47"/>
            <p:cNvSpPr txBox="1"/>
            <p:nvPr/>
          </p:nvSpPr>
          <p:spPr>
            <a:xfrm>
              <a:off x="992516" y="4397539"/>
              <a:ext cx="759724" cy="351594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</p:spPr>
          <p:txBody>
            <a:bodyPr anchor="ctr">
              <a:spAutoFit/>
            </a:bodyPr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2400" b="1" dirty="0">
                  <a:solidFill>
                    <a:schemeClr val="l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五</a:t>
              </a:r>
              <a:endParaRPr lang="zh-CN" altLang="en-US" sz="2400" b="1" dirty="0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75248"/>
            <a:ext cx="127000" cy="30670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30153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2" name="组合 1"/>
          <p:cNvGrpSpPr/>
          <p:nvPr>
            <p:custDataLst>
              <p:tags r:id="rId1"/>
            </p:custDataLst>
          </p:nvPr>
        </p:nvGrpSpPr>
        <p:grpSpPr>
          <a:xfrm>
            <a:off x="3795322" y="1915314"/>
            <a:ext cx="2557424" cy="907751"/>
            <a:chOff x="3666731" y="1984470"/>
            <a:chExt cx="2636520" cy="1447800"/>
          </a:xfrm>
          <a:solidFill>
            <a:srgbClr val="404040"/>
          </a:solidFill>
        </p:grpSpPr>
        <p:sp>
          <p:nvSpPr>
            <p:cNvPr id="3" name="任意多边形 2"/>
            <p:cNvSpPr/>
            <p:nvPr>
              <p:custDataLst>
                <p:tags r:id="rId2"/>
              </p:custDataLst>
            </p:nvPr>
          </p:nvSpPr>
          <p:spPr>
            <a:xfrm>
              <a:off x="3666731" y="1984470"/>
              <a:ext cx="2636520" cy="1447800"/>
            </a:xfrm>
            <a:custGeom>
              <a:avLst/>
              <a:gdLst>
                <a:gd name="connsiteX0" fmla="*/ 0 w 2636520"/>
                <a:gd name="connsiteY0" fmla="*/ 0 h 1447800"/>
                <a:gd name="connsiteX1" fmla="*/ 2103122 w 2636520"/>
                <a:gd name="connsiteY1" fmla="*/ 0 h 1447800"/>
                <a:gd name="connsiteX2" fmla="*/ 2636520 w 2636520"/>
                <a:gd name="connsiteY2" fmla="*/ 723900 h 1447800"/>
                <a:gd name="connsiteX3" fmla="*/ 2103122 w 2636520"/>
                <a:gd name="connsiteY3" fmla="*/ 1447800 h 1447800"/>
                <a:gd name="connsiteX4" fmla="*/ 0 w 2636520"/>
                <a:gd name="connsiteY4" fmla="*/ 1447800 h 1447800"/>
                <a:gd name="connsiteX5" fmla="*/ 0 w 2636520"/>
                <a:gd name="connsiteY5" fmla="*/ 1442632 h 1447800"/>
                <a:gd name="connsiteX6" fmla="*/ 529590 w 2636520"/>
                <a:gd name="connsiteY6" fmla="*/ 723900 h 1447800"/>
                <a:gd name="connsiteX7" fmla="*/ 0 w 2636520"/>
                <a:gd name="connsiteY7" fmla="*/ 5168 h 1447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636520" h="1447800">
                  <a:moveTo>
                    <a:pt x="0" y="0"/>
                  </a:moveTo>
                  <a:lnTo>
                    <a:pt x="2103122" y="0"/>
                  </a:lnTo>
                  <a:lnTo>
                    <a:pt x="2636520" y="723900"/>
                  </a:lnTo>
                  <a:lnTo>
                    <a:pt x="2103122" y="1447800"/>
                  </a:lnTo>
                  <a:lnTo>
                    <a:pt x="0" y="1447800"/>
                  </a:lnTo>
                  <a:lnTo>
                    <a:pt x="0" y="1442632"/>
                  </a:lnTo>
                  <a:lnTo>
                    <a:pt x="529590" y="723900"/>
                  </a:lnTo>
                  <a:lnTo>
                    <a:pt x="0" y="5168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90" b="1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5" name="文本框 35"/>
            <p:cNvSpPr txBox="1"/>
            <p:nvPr>
              <p:custDataLst>
                <p:tags r:id="rId3"/>
              </p:custDataLst>
            </p:nvPr>
          </p:nvSpPr>
          <p:spPr>
            <a:xfrm>
              <a:off x="3971726" y="2311866"/>
              <a:ext cx="2230360" cy="95505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grpFill/>
                </a14:hiddenFill>
              </a:ext>
            </a:extLst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zh-CN" altLang="en-US" sz="2000" b="1" dirty="0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第二阶段</a:t>
              </a:r>
              <a:endParaRPr lang="zh-CN" altLang="en-US" sz="2000" b="1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endParaRPr>
            </a:p>
            <a:p>
              <a:pPr algn="ctr"/>
              <a:r>
                <a:rPr lang="zh-CN" altLang="en-US" sz="2000" b="1" baseline="-3000" dirty="0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（</a:t>
              </a:r>
              <a:r>
                <a:rPr lang="en-US" altLang="zh-CN" sz="2000" b="1" baseline="-3000" dirty="0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7-11</a:t>
              </a:r>
              <a:r>
                <a:rPr lang="zh-CN" altLang="en-US" sz="2000" b="1" baseline="-3000" dirty="0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月）</a:t>
              </a:r>
              <a:endParaRPr lang="zh-CN" altLang="en-US" sz="2000" b="1" baseline="-30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</p:grpSp>
      <p:grpSp>
        <p:nvGrpSpPr>
          <p:cNvPr id="6" name="组合 5"/>
          <p:cNvGrpSpPr/>
          <p:nvPr>
            <p:custDataLst>
              <p:tags r:id="rId4"/>
            </p:custDataLst>
          </p:nvPr>
        </p:nvGrpSpPr>
        <p:grpSpPr>
          <a:xfrm>
            <a:off x="1657801" y="1915314"/>
            <a:ext cx="2557424" cy="907751"/>
            <a:chOff x="1436370" y="1984470"/>
            <a:chExt cx="2636520" cy="1447800"/>
          </a:xfrm>
          <a:solidFill>
            <a:srgbClr val="89393B"/>
          </a:solidFill>
        </p:grpSpPr>
        <p:sp>
          <p:nvSpPr>
            <p:cNvPr id="7" name="任意多边形 6"/>
            <p:cNvSpPr/>
            <p:nvPr>
              <p:custDataLst>
                <p:tags r:id="rId5"/>
              </p:custDataLst>
            </p:nvPr>
          </p:nvSpPr>
          <p:spPr>
            <a:xfrm>
              <a:off x="1436370" y="1984470"/>
              <a:ext cx="2636520" cy="1447800"/>
            </a:xfrm>
            <a:custGeom>
              <a:avLst/>
              <a:gdLst>
                <a:gd name="connsiteX0" fmla="*/ 0 w 2636520"/>
                <a:gd name="connsiteY0" fmla="*/ 0 h 1447800"/>
                <a:gd name="connsiteX1" fmla="*/ 2103122 w 2636520"/>
                <a:gd name="connsiteY1" fmla="*/ 0 h 1447800"/>
                <a:gd name="connsiteX2" fmla="*/ 2636520 w 2636520"/>
                <a:gd name="connsiteY2" fmla="*/ 723900 h 1447800"/>
                <a:gd name="connsiteX3" fmla="*/ 2103122 w 2636520"/>
                <a:gd name="connsiteY3" fmla="*/ 1447800 h 1447800"/>
                <a:gd name="connsiteX4" fmla="*/ 0 w 2636520"/>
                <a:gd name="connsiteY4" fmla="*/ 1447800 h 1447800"/>
                <a:gd name="connsiteX5" fmla="*/ 0 w 2636520"/>
                <a:gd name="connsiteY5" fmla="*/ 1442632 h 1447800"/>
                <a:gd name="connsiteX6" fmla="*/ 529590 w 2636520"/>
                <a:gd name="connsiteY6" fmla="*/ 723900 h 1447800"/>
                <a:gd name="connsiteX7" fmla="*/ 0 w 2636520"/>
                <a:gd name="connsiteY7" fmla="*/ 5168 h 1447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636520" h="1447800">
                  <a:moveTo>
                    <a:pt x="0" y="0"/>
                  </a:moveTo>
                  <a:lnTo>
                    <a:pt x="2103122" y="0"/>
                  </a:lnTo>
                  <a:lnTo>
                    <a:pt x="2636520" y="723900"/>
                  </a:lnTo>
                  <a:lnTo>
                    <a:pt x="2103122" y="1447800"/>
                  </a:lnTo>
                  <a:lnTo>
                    <a:pt x="0" y="1447800"/>
                  </a:lnTo>
                  <a:lnTo>
                    <a:pt x="0" y="1442632"/>
                  </a:lnTo>
                  <a:lnTo>
                    <a:pt x="529590" y="723900"/>
                  </a:lnTo>
                  <a:lnTo>
                    <a:pt x="0" y="5168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90" b="1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8" name="文本框 43"/>
            <p:cNvSpPr txBox="1"/>
            <p:nvPr>
              <p:custDataLst>
                <p:tags r:id="rId6"/>
              </p:custDataLst>
            </p:nvPr>
          </p:nvSpPr>
          <p:spPr>
            <a:xfrm>
              <a:off x="1709209" y="2149820"/>
              <a:ext cx="2293960" cy="11170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grpFill/>
                </a14:hiddenFill>
              </a:ext>
            </a:extLst>
          </p:spPr>
          <p:txBody>
            <a:bodyPr wrap="square" rtlCol="0" anchor="ctr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zh-CN" altLang="en-US" sz="2000" b="1" dirty="0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第一阶段</a:t>
              </a:r>
              <a:endParaRPr lang="zh-CN" altLang="en-US" sz="2000" b="1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endParaRPr>
            </a:p>
            <a:p>
              <a:pPr algn="ctr">
                <a:lnSpc>
                  <a:spcPct val="120000"/>
                </a:lnSpc>
              </a:pPr>
              <a:r>
                <a:rPr lang="zh-CN" altLang="en-US" sz="2000" b="1" baseline="-3000" dirty="0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（</a:t>
              </a:r>
              <a:r>
                <a:rPr lang="en-US" altLang="zh-CN" sz="2000" b="1" baseline="-3000" dirty="0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5-6</a:t>
              </a:r>
              <a:r>
                <a:rPr lang="zh-CN" altLang="en-US" sz="2000" b="1" baseline="-3000" dirty="0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月）</a:t>
              </a:r>
              <a:endParaRPr lang="zh-CN" altLang="en-US" sz="2000" b="1" baseline="-30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</p:grpSp>
      <p:grpSp>
        <p:nvGrpSpPr>
          <p:cNvPr id="9" name="组合 8"/>
          <p:cNvGrpSpPr/>
          <p:nvPr>
            <p:custDataLst>
              <p:tags r:id="rId7"/>
            </p:custDataLst>
          </p:nvPr>
        </p:nvGrpSpPr>
        <p:grpSpPr>
          <a:xfrm>
            <a:off x="8070363" y="1915314"/>
            <a:ext cx="2557424" cy="907751"/>
            <a:chOff x="8127453" y="1984470"/>
            <a:chExt cx="2636520" cy="1447800"/>
          </a:xfrm>
          <a:solidFill>
            <a:srgbClr val="404040"/>
          </a:solidFill>
        </p:grpSpPr>
        <p:sp>
          <p:nvSpPr>
            <p:cNvPr id="10" name="任意多边形 9"/>
            <p:cNvSpPr/>
            <p:nvPr>
              <p:custDataLst>
                <p:tags r:id="rId8"/>
              </p:custDataLst>
            </p:nvPr>
          </p:nvSpPr>
          <p:spPr>
            <a:xfrm>
              <a:off x="8127453" y="1984470"/>
              <a:ext cx="2636520" cy="1447800"/>
            </a:xfrm>
            <a:custGeom>
              <a:avLst/>
              <a:gdLst>
                <a:gd name="connsiteX0" fmla="*/ 0 w 2636520"/>
                <a:gd name="connsiteY0" fmla="*/ 0 h 1447800"/>
                <a:gd name="connsiteX1" fmla="*/ 2103122 w 2636520"/>
                <a:gd name="connsiteY1" fmla="*/ 0 h 1447800"/>
                <a:gd name="connsiteX2" fmla="*/ 2636520 w 2636520"/>
                <a:gd name="connsiteY2" fmla="*/ 723900 h 1447800"/>
                <a:gd name="connsiteX3" fmla="*/ 2103122 w 2636520"/>
                <a:gd name="connsiteY3" fmla="*/ 1447800 h 1447800"/>
                <a:gd name="connsiteX4" fmla="*/ 0 w 2636520"/>
                <a:gd name="connsiteY4" fmla="*/ 1447800 h 1447800"/>
                <a:gd name="connsiteX5" fmla="*/ 0 w 2636520"/>
                <a:gd name="connsiteY5" fmla="*/ 1442632 h 1447800"/>
                <a:gd name="connsiteX6" fmla="*/ 529590 w 2636520"/>
                <a:gd name="connsiteY6" fmla="*/ 723900 h 1447800"/>
                <a:gd name="connsiteX7" fmla="*/ 0 w 2636520"/>
                <a:gd name="connsiteY7" fmla="*/ 5168 h 1447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636520" h="1447800">
                  <a:moveTo>
                    <a:pt x="0" y="0"/>
                  </a:moveTo>
                  <a:lnTo>
                    <a:pt x="2103122" y="0"/>
                  </a:lnTo>
                  <a:lnTo>
                    <a:pt x="2636520" y="723900"/>
                  </a:lnTo>
                  <a:lnTo>
                    <a:pt x="2103122" y="1447800"/>
                  </a:lnTo>
                  <a:lnTo>
                    <a:pt x="0" y="1447800"/>
                  </a:lnTo>
                  <a:lnTo>
                    <a:pt x="0" y="1442632"/>
                  </a:lnTo>
                  <a:lnTo>
                    <a:pt x="529590" y="723900"/>
                  </a:lnTo>
                  <a:lnTo>
                    <a:pt x="0" y="5168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90" b="1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11" name="文本框 46"/>
            <p:cNvSpPr txBox="1"/>
            <p:nvPr>
              <p:custDataLst>
                <p:tags r:id="rId9"/>
              </p:custDataLst>
            </p:nvPr>
          </p:nvSpPr>
          <p:spPr>
            <a:xfrm>
              <a:off x="8439016" y="2230844"/>
              <a:ext cx="2230360" cy="95505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grpFill/>
                </a14:hiddenFill>
              </a:ext>
            </a:extLst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zh-CN" altLang="en-US" sz="2000" b="1" dirty="0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第四阶段</a:t>
              </a:r>
              <a:endParaRPr lang="zh-CN" altLang="en-US" sz="2000" b="1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endParaRPr>
            </a:p>
            <a:p>
              <a:pPr algn="ctr"/>
              <a:r>
                <a:rPr lang="zh-CN" altLang="en-US" sz="2000" b="1" baseline="-3000" dirty="0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（</a:t>
              </a:r>
              <a:r>
                <a:rPr lang="en-US" altLang="zh-CN" sz="2000" b="1" baseline="-3000" dirty="0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12</a:t>
              </a:r>
              <a:r>
                <a:rPr lang="zh-CN" altLang="en-US" sz="2000" b="1" baseline="-3000" dirty="0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月</a:t>
              </a:r>
              <a:r>
                <a:rPr lang="en-US" altLang="zh-CN" sz="2000" b="1" baseline="-3000" dirty="0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-</a:t>
              </a:r>
              <a:r>
                <a:rPr lang="zh-CN" altLang="en-US" sz="2000" b="1" baseline="-3000" dirty="0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次年</a:t>
              </a:r>
              <a:r>
                <a:rPr lang="en-US" altLang="zh-CN" sz="2000" b="1" baseline="-3000" dirty="0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3</a:t>
              </a:r>
              <a:r>
                <a:rPr lang="zh-CN" altLang="en-US" sz="2000" b="1" baseline="-3000" dirty="0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月）</a:t>
              </a:r>
              <a:endParaRPr lang="zh-CN" altLang="en-US" sz="2000" b="1" baseline="-30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</p:grpSp>
      <p:grpSp>
        <p:nvGrpSpPr>
          <p:cNvPr id="12" name="组合 11"/>
          <p:cNvGrpSpPr/>
          <p:nvPr>
            <p:custDataLst>
              <p:tags r:id="rId10"/>
            </p:custDataLst>
          </p:nvPr>
        </p:nvGrpSpPr>
        <p:grpSpPr>
          <a:xfrm>
            <a:off x="5932842" y="1915314"/>
            <a:ext cx="2557424" cy="907751"/>
            <a:chOff x="5897092" y="1984470"/>
            <a:chExt cx="2636520" cy="1447800"/>
          </a:xfrm>
          <a:solidFill>
            <a:srgbClr val="89393B"/>
          </a:solidFill>
        </p:grpSpPr>
        <p:sp>
          <p:nvSpPr>
            <p:cNvPr id="26" name="任意多边形 25"/>
            <p:cNvSpPr/>
            <p:nvPr>
              <p:custDataLst>
                <p:tags r:id="rId11"/>
              </p:custDataLst>
            </p:nvPr>
          </p:nvSpPr>
          <p:spPr>
            <a:xfrm>
              <a:off x="5897092" y="1984470"/>
              <a:ext cx="2636520" cy="1447800"/>
            </a:xfrm>
            <a:custGeom>
              <a:avLst/>
              <a:gdLst>
                <a:gd name="connsiteX0" fmla="*/ 0 w 2636520"/>
                <a:gd name="connsiteY0" fmla="*/ 0 h 1447800"/>
                <a:gd name="connsiteX1" fmla="*/ 2103122 w 2636520"/>
                <a:gd name="connsiteY1" fmla="*/ 0 h 1447800"/>
                <a:gd name="connsiteX2" fmla="*/ 2636520 w 2636520"/>
                <a:gd name="connsiteY2" fmla="*/ 723900 h 1447800"/>
                <a:gd name="connsiteX3" fmla="*/ 2103122 w 2636520"/>
                <a:gd name="connsiteY3" fmla="*/ 1447800 h 1447800"/>
                <a:gd name="connsiteX4" fmla="*/ 0 w 2636520"/>
                <a:gd name="connsiteY4" fmla="*/ 1447800 h 1447800"/>
                <a:gd name="connsiteX5" fmla="*/ 0 w 2636520"/>
                <a:gd name="connsiteY5" fmla="*/ 1442632 h 1447800"/>
                <a:gd name="connsiteX6" fmla="*/ 529590 w 2636520"/>
                <a:gd name="connsiteY6" fmla="*/ 723900 h 1447800"/>
                <a:gd name="connsiteX7" fmla="*/ 0 w 2636520"/>
                <a:gd name="connsiteY7" fmla="*/ 5168 h 1447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636520" h="1447800">
                  <a:moveTo>
                    <a:pt x="0" y="0"/>
                  </a:moveTo>
                  <a:lnTo>
                    <a:pt x="2103122" y="0"/>
                  </a:lnTo>
                  <a:lnTo>
                    <a:pt x="2636520" y="723900"/>
                  </a:lnTo>
                  <a:lnTo>
                    <a:pt x="2103122" y="1447800"/>
                  </a:lnTo>
                  <a:lnTo>
                    <a:pt x="0" y="1447800"/>
                  </a:lnTo>
                  <a:lnTo>
                    <a:pt x="0" y="1442632"/>
                  </a:lnTo>
                  <a:lnTo>
                    <a:pt x="529590" y="723900"/>
                  </a:lnTo>
                  <a:lnTo>
                    <a:pt x="0" y="5168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90" b="1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40" name="文本框 49"/>
            <p:cNvSpPr txBox="1"/>
            <p:nvPr>
              <p:custDataLst>
                <p:tags r:id="rId12"/>
              </p:custDataLst>
            </p:nvPr>
          </p:nvSpPr>
          <p:spPr>
            <a:xfrm>
              <a:off x="6227711" y="2149825"/>
              <a:ext cx="2205655" cy="11170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grpFill/>
                </a14:hiddenFill>
              </a:ext>
            </a:extLst>
          </p:spPr>
          <p:txBody>
            <a:bodyPr wrap="square" rtlCol="0" anchor="ctr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zh-CN" altLang="en-US" sz="2000" b="1" dirty="0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第三阶段</a:t>
              </a:r>
              <a:endParaRPr lang="zh-CN" altLang="en-US" sz="2000" b="1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endParaRPr>
            </a:p>
            <a:p>
              <a:pPr algn="ctr">
                <a:lnSpc>
                  <a:spcPct val="120000"/>
                </a:lnSpc>
              </a:pPr>
              <a:r>
                <a:rPr lang="zh-CN" altLang="en-US" sz="2000" b="1" baseline="-3000" dirty="0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（</a:t>
              </a:r>
              <a:r>
                <a:rPr lang="en-US" altLang="zh-CN" sz="2000" b="1" baseline="-3000" dirty="0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11-12</a:t>
              </a:r>
              <a:r>
                <a:rPr lang="zh-CN" altLang="en-US" sz="2000" b="1" baseline="-3000" dirty="0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月）</a:t>
              </a:r>
              <a:endParaRPr lang="zh-CN" altLang="en-US" sz="2000" b="1" baseline="-30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</p:grpSp>
      <p:sp>
        <p:nvSpPr>
          <p:cNvPr id="42" name="矩形 47"/>
          <p:cNvSpPr>
            <a:spLocks noChangeArrowheads="1"/>
          </p:cNvSpPr>
          <p:nvPr>
            <p:custDataLst>
              <p:tags r:id="rId13"/>
            </p:custDataLst>
          </p:nvPr>
        </p:nvSpPr>
        <p:spPr bwMode="auto">
          <a:xfrm>
            <a:off x="1760220" y="2997200"/>
            <a:ext cx="1888490" cy="16402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31" tIns="45716" rIns="91431" bIns="45716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algn="just"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sz="1400" dirty="0">
                <a:solidFill>
                  <a:schemeClr val="tx1"/>
                </a:solidFill>
                <a:sym typeface="微软雅黑" panose="020B0503020204020204" pitchFamily="34" charset="-122"/>
              </a:rPr>
              <a:t>进行文献收集和阅读，完成文献综述和理论基础部分的撰写。同时收集、处理数据，完成实证分析的前置性基础工作。</a:t>
            </a:r>
            <a:endParaRPr lang="zh-CN" altLang="en-US" sz="1400" dirty="0">
              <a:solidFill>
                <a:schemeClr val="tx1"/>
              </a:solidFill>
              <a:sym typeface="微软雅黑" panose="020B0503020204020204" pitchFamily="34" charset="-122"/>
            </a:endParaRPr>
          </a:p>
        </p:txBody>
      </p:sp>
      <p:sp>
        <p:nvSpPr>
          <p:cNvPr id="44" name="矩形 47"/>
          <p:cNvSpPr>
            <a:spLocks noChangeArrowheads="1"/>
          </p:cNvSpPr>
          <p:nvPr>
            <p:custDataLst>
              <p:tags r:id="rId14"/>
            </p:custDataLst>
          </p:nvPr>
        </p:nvSpPr>
        <p:spPr bwMode="auto">
          <a:xfrm>
            <a:off x="3862705" y="2997200"/>
            <a:ext cx="1987550" cy="11233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31" tIns="45716" rIns="91431" bIns="45716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algn="just"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sz="1400" dirty="0">
                <a:solidFill>
                  <a:schemeClr val="tx1"/>
                </a:solidFill>
                <a:sym typeface="微软雅黑" panose="020B0503020204020204" pitchFamily="34" charset="-122"/>
              </a:rPr>
              <a:t>进行实证研究设计，展开具体实验研究，完成数据生成、</a:t>
            </a:r>
            <a:r>
              <a:rPr lang="en-US" altLang="zh-CN" sz="1400" dirty="0">
                <a:solidFill>
                  <a:schemeClr val="tx1"/>
                </a:solidFill>
                <a:sym typeface="微软雅黑" panose="020B0503020204020204" pitchFamily="34" charset="-122"/>
              </a:rPr>
              <a:t>Stacking</a:t>
            </a:r>
            <a:r>
              <a:rPr lang="zh-CN" altLang="en-US" sz="1400" dirty="0">
                <a:solidFill>
                  <a:schemeClr val="tx1"/>
                </a:solidFill>
                <a:sym typeface="微软雅黑" panose="020B0503020204020204" pitchFamily="34" charset="-122"/>
              </a:rPr>
              <a:t>模型建模等实验</a:t>
            </a:r>
            <a:endParaRPr lang="zh-CN" altLang="en-US" sz="1400" dirty="0">
              <a:solidFill>
                <a:schemeClr val="tx1"/>
              </a:solidFill>
              <a:sym typeface="微软雅黑" panose="020B0503020204020204" pitchFamily="34" charset="-122"/>
            </a:endParaRPr>
          </a:p>
        </p:txBody>
      </p:sp>
      <p:sp>
        <p:nvSpPr>
          <p:cNvPr id="46" name="矩形 47"/>
          <p:cNvSpPr>
            <a:spLocks noChangeArrowheads="1"/>
          </p:cNvSpPr>
          <p:nvPr>
            <p:custDataLst>
              <p:tags r:id="rId15"/>
            </p:custDataLst>
          </p:nvPr>
        </p:nvSpPr>
        <p:spPr bwMode="auto">
          <a:xfrm>
            <a:off x="6152515" y="2997200"/>
            <a:ext cx="2044065" cy="13817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31" tIns="45716" rIns="91431" bIns="45716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algn="just"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sz="1400" dirty="0">
                <a:solidFill>
                  <a:schemeClr val="tx1"/>
                </a:solidFill>
                <a:sym typeface="微软雅黑" panose="020B0503020204020204" pitchFamily="34" charset="-122"/>
              </a:rPr>
              <a:t>对实验结果进行分析，并通过</a:t>
            </a:r>
            <a:r>
              <a:rPr lang="en-US" altLang="zh-CN" sz="1400" dirty="0">
                <a:solidFill>
                  <a:schemeClr val="tx1"/>
                </a:solidFill>
                <a:sym typeface="微软雅黑" panose="020B0503020204020204" pitchFamily="34" charset="-122"/>
              </a:rPr>
              <a:t>SHAP</a:t>
            </a:r>
            <a:r>
              <a:rPr lang="zh-CN" altLang="en-US" sz="1400" dirty="0">
                <a:solidFill>
                  <a:schemeClr val="tx1"/>
                </a:solidFill>
                <a:sym typeface="微软雅黑" panose="020B0503020204020204" pitchFamily="34" charset="-122"/>
              </a:rPr>
              <a:t>解释框架对模型的结果进行可视化分析与解释。对全文进行初步修改和完善。</a:t>
            </a:r>
            <a:endParaRPr lang="zh-CN" altLang="en-US" sz="1400" dirty="0">
              <a:solidFill>
                <a:schemeClr val="tx1"/>
              </a:solidFill>
              <a:sym typeface="微软雅黑" panose="020B0503020204020204" pitchFamily="34" charset="-122"/>
            </a:endParaRPr>
          </a:p>
        </p:txBody>
      </p:sp>
      <p:sp>
        <p:nvSpPr>
          <p:cNvPr id="48" name="矩形 47"/>
          <p:cNvSpPr>
            <a:spLocks noChangeArrowheads="1"/>
          </p:cNvSpPr>
          <p:nvPr>
            <p:custDataLst>
              <p:tags r:id="rId16"/>
            </p:custDataLst>
          </p:nvPr>
        </p:nvSpPr>
        <p:spPr bwMode="auto">
          <a:xfrm>
            <a:off x="8392795" y="2997200"/>
            <a:ext cx="1750695" cy="8648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31" tIns="45716" rIns="91431" bIns="45716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algn="just"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sz="1400" dirty="0">
                <a:solidFill>
                  <a:schemeClr val="tx1"/>
                </a:solidFill>
                <a:sym typeface="微软雅黑" panose="020B0503020204020204" pitchFamily="34" charset="-122"/>
              </a:rPr>
              <a:t>进行论文的定稿和提交工作，准备答辩和展示。</a:t>
            </a:r>
            <a:endParaRPr lang="zh-CN" altLang="en-US" sz="1400" dirty="0">
              <a:solidFill>
                <a:schemeClr val="tx1"/>
              </a:solidFill>
              <a:sym typeface="微软雅黑" panose="020B0503020204020204" pitchFamily="34" charset="-122"/>
            </a:endParaRPr>
          </a:p>
        </p:txBody>
      </p:sp>
      <p:sp>
        <p:nvSpPr>
          <p:cNvPr id="49" name="Freeform 12"/>
          <p:cNvSpPr/>
          <p:nvPr/>
        </p:nvSpPr>
        <p:spPr bwMode="auto">
          <a:xfrm>
            <a:off x="1608509" y="5016598"/>
            <a:ext cx="528638" cy="530225"/>
          </a:xfrm>
          <a:custGeom>
            <a:avLst/>
            <a:gdLst>
              <a:gd name="T0" fmla="*/ 0 w 1446"/>
              <a:gd name="T1" fmla="*/ 0 h 1446"/>
              <a:gd name="T2" fmla="*/ 1446 w 1446"/>
              <a:gd name="T3" fmla="*/ 0 h 1446"/>
              <a:gd name="T4" fmla="*/ 1446 w 1446"/>
              <a:gd name="T5" fmla="*/ 458 h 1446"/>
              <a:gd name="T6" fmla="*/ 438 w 1446"/>
              <a:gd name="T7" fmla="*/ 458 h 1446"/>
              <a:gd name="T8" fmla="*/ 438 w 1446"/>
              <a:gd name="T9" fmla="*/ 1446 h 1446"/>
              <a:gd name="T10" fmla="*/ 0 w 1446"/>
              <a:gd name="T11" fmla="*/ 1446 h 1446"/>
              <a:gd name="T12" fmla="*/ 0 w 1446"/>
              <a:gd name="T13" fmla="*/ 0 h 14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446" h="1446">
                <a:moveTo>
                  <a:pt x="0" y="0"/>
                </a:moveTo>
                <a:lnTo>
                  <a:pt x="1446" y="0"/>
                </a:lnTo>
                <a:lnTo>
                  <a:pt x="1446" y="458"/>
                </a:lnTo>
                <a:lnTo>
                  <a:pt x="438" y="458"/>
                </a:lnTo>
                <a:lnTo>
                  <a:pt x="438" y="1446"/>
                </a:lnTo>
                <a:lnTo>
                  <a:pt x="0" y="1446"/>
                </a:lnTo>
                <a:lnTo>
                  <a:pt x="0" y="0"/>
                </a:lnTo>
                <a:close/>
              </a:path>
            </a:pathLst>
          </a:custGeom>
          <a:solidFill>
            <a:srgbClr val="202A36"/>
          </a:solidFill>
          <a:ln>
            <a:noFill/>
          </a:ln>
        </p:spPr>
        <p:txBody>
          <a:bodyPr/>
          <a:lstStyle/>
          <a:p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50" name="Freeform 12"/>
          <p:cNvSpPr/>
          <p:nvPr/>
        </p:nvSpPr>
        <p:spPr bwMode="auto">
          <a:xfrm flipH="1" flipV="1">
            <a:off x="10249469" y="5993854"/>
            <a:ext cx="528638" cy="530225"/>
          </a:xfrm>
          <a:custGeom>
            <a:avLst/>
            <a:gdLst>
              <a:gd name="T0" fmla="*/ 0 w 1446"/>
              <a:gd name="T1" fmla="*/ 0 h 1446"/>
              <a:gd name="T2" fmla="*/ 1446 w 1446"/>
              <a:gd name="T3" fmla="*/ 0 h 1446"/>
              <a:gd name="T4" fmla="*/ 1446 w 1446"/>
              <a:gd name="T5" fmla="*/ 458 h 1446"/>
              <a:gd name="T6" fmla="*/ 438 w 1446"/>
              <a:gd name="T7" fmla="*/ 458 h 1446"/>
              <a:gd name="T8" fmla="*/ 438 w 1446"/>
              <a:gd name="T9" fmla="*/ 1446 h 1446"/>
              <a:gd name="T10" fmla="*/ 0 w 1446"/>
              <a:gd name="T11" fmla="*/ 1446 h 1446"/>
              <a:gd name="T12" fmla="*/ 0 w 1446"/>
              <a:gd name="T13" fmla="*/ 0 h 14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446" h="1446">
                <a:moveTo>
                  <a:pt x="0" y="0"/>
                </a:moveTo>
                <a:lnTo>
                  <a:pt x="1446" y="0"/>
                </a:lnTo>
                <a:lnTo>
                  <a:pt x="1446" y="458"/>
                </a:lnTo>
                <a:lnTo>
                  <a:pt x="438" y="458"/>
                </a:lnTo>
                <a:lnTo>
                  <a:pt x="438" y="1446"/>
                </a:lnTo>
                <a:lnTo>
                  <a:pt x="0" y="1446"/>
                </a:lnTo>
                <a:lnTo>
                  <a:pt x="0" y="0"/>
                </a:lnTo>
                <a:close/>
              </a:path>
            </a:pathLst>
          </a:custGeom>
          <a:solidFill>
            <a:srgbClr val="202A36"/>
          </a:solidFill>
          <a:ln>
            <a:noFill/>
          </a:ln>
        </p:spPr>
        <p:txBody>
          <a:bodyPr/>
          <a:lstStyle/>
          <a:p>
            <a:endParaRPr lang="zh-CN" altLang="en-US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51" name="TextBox 35"/>
          <p:cNvSpPr txBox="1"/>
          <p:nvPr/>
        </p:nvSpPr>
        <p:spPr>
          <a:xfrm>
            <a:off x="1919654" y="5259044"/>
            <a:ext cx="8545239" cy="991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  <a:spcBef>
                <a:spcPct val="0"/>
              </a:spcBef>
            </a:pPr>
            <a:r>
              <a:rPr lang="zh-CN" altLang="en-US" sz="15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为保障论文高质高效完成，我将制定详细的研究计划和时间表，确保研究的进度和质量；研究过程中遇到问题与困难时及时与导师进行沟通和交流；实验结束后将认真撰写和完善论文的每一部分，确保论文的逻辑性和连贯性；同时会定期进行自我评估和反思，及时调整研究计划和方向。</a:t>
            </a:r>
            <a:endParaRPr lang="zh-CN" altLang="en-US" sz="15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  <p:bldLst>
      <p:bldP spid="42" grpId="0"/>
      <p:bldP spid="44" grpId="0"/>
      <p:bldP spid="46" grpId="0"/>
      <p:bldP spid="48" grpId="0"/>
      <p:bldP spid="49" grpId="0" bldLvl="0" animBg="1"/>
      <p:bldP spid="49" grpId="1" bldLvl="0" animBg="1"/>
      <p:bldP spid="50" grpId="0" bldLvl="0" animBg="1"/>
      <p:bldP spid="50" grpId="1" bldLvl="0" animBg="1"/>
      <p:bldP spid="51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9525" y="0"/>
            <a:ext cx="1220089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1528564" y="2142431"/>
            <a:ext cx="9144000" cy="124523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lvl="1" algn="ctr" eaLnBrk="1" fontAlgn="auto" hangingPunct="1">
              <a:lnSpc>
                <a:spcPts val="9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4800" b="1" spc="300" dirty="0">
                <a:solidFill>
                  <a:srgbClr val="74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请老师批评指正</a:t>
            </a:r>
            <a:endParaRPr lang="zh-CN" altLang="en-US" sz="4800" b="1" spc="300" dirty="0">
              <a:solidFill>
                <a:srgbClr val="74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5364" name="图片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67663" y="188913"/>
            <a:ext cx="2416175" cy="485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 Box 4"/>
          <p:cNvSpPr txBox="1">
            <a:spLocks noChangeArrowheads="1"/>
          </p:cNvSpPr>
          <p:nvPr/>
        </p:nvSpPr>
        <p:spPr bwMode="auto">
          <a:xfrm>
            <a:off x="3425825" y="3429000"/>
            <a:ext cx="5355590" cy="10147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50000"/>
              </a:lnSpc>
              <a:spcAft>
                <a:spcPts val="0"/>
              </a:spcAft>
            </a:pPr>
            <a:r>
              <a:rPr lang="zh-CN" altLang="en-US" sz="20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答辩人：蒋奕文</a:t>
            </a:r>
            <a:endParaRPr lang="zh-CN" altLang="en-US" sz="2000" b="1" dirty="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ctr" eaLnBrk="1" hangingPunct="1">
              <a:lnSpc>
                <a:spcPct val="150000"/>
              </a:lnSpc>
              <a:spcAft>
                <a:spcPts val="0"/>
              </a:spcAft>
            </a:pPr>
            <a:r>
              <a:rPr lang="zh-CN" altLang="en-US" sz="20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时间：</a:t>
            </a:r>
            <a:r>
              <a:rPr lang="en-US" altLang="zh-CN" sz="20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2026</a:t>
            </a:r>
            <a:r>
              <a:rPr lang="zh-CN" altLang="en-US" sz="20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年</a:t>
            </a:r>
            <a:r>
              <a:rPr lang="en-US" altLang="zh-CN" sz="20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6</a:t>
            </a:r>
            <a:r>
              <a:rPr lang="zh-CN" altLang="en-US" sz="20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月</a:t>
            </a:r>
            <a:r>
              <a:rPr lang="en-US" altLang="zh-CN" sz="20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8</a:t>
            </a:r>
            <a:r>
              <a:rPr lang="zh-CN" altLang="en-US" sz="20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日</a:t>
            </a:r>
            <a:endParaRPr lang="zh-CN" altLang="en-US" sz="2000" b="1" dirty="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/>
    </mc:Choice>
    <mc:Fallback>
      <p:transition spd="slow"/>
    </mc:Fallback>
  </mc:AlternateContent>
</p:sld>
</file>

<file path=ppt/tags/tag1.xml><?xml version="1.0" encoding="utf-8"?>
<p:tagLst xmlns:p="http://schemas.openxmlformats.org/presentationml/2006/main">
  <p:tag name="KSO_WM_SLIDE_MODEL_TYPE" val="cover"/>
</p:tagLst>
</file>

<file path=ppt/tags/tag2.xml><?xml version="1.0" encoding="utf-8"?>
<p:tagLst xmlns:p="http://schemas.openxmlformats.org/presentationml/2006/main">
  <p:tag name="KSO_WM_DIAGRAM_VIRTUALLY_FRAME" val="{&quot;height&quot;:291.8,&quot;left&quot;:42,&quot;top&quot;:150.95,&quot;width&quot;:752.05}"/>
</p:tagLst>
</file>

<file path=ppt/tags/tag3.xml><?xml version="1.0" encoding="utf-8"?>
<p:tagLst xmlns:p="http://schemas.openxmlformats.org/presentationml/2006/main">
  <p:tag name="KSO_WM_DIAGRAM_VIRTUALLY_FRAME" val="{&quot;height&quot;:291.8,&quot;left&quot;:42,&quot;top&quot;:150.95,&quot;width&quot;:752.05}"/>
</p:tagLst>
</file>

<file path=ppt/tags/tag4.xml><?xml version="1.0" encoding="utf-8"?>
<p:tagLst xmlns:p="http://schemas.openxmlformats.org/presentationml/2006/main">
  <p:tag name="KSO_WM_DIAGRAM_VIRTUALLY_FRAME" val="{&quot;height&quot;:291.85,&quot;left&quot;:53.85,&quot;top&quot;:150.95,&quot;width&quot;:702.35}"/>
</p:tagLst>
</file>

<file path=ppt/tags/tag5.xml><?xml version="1.0" encoding="utf-8"?>
<p:tagLst xmlns:p="http://schemas.openxmlformats.org/presentationml/2006/main">
  <p:tag name="KSO_WM_DIAGRAM_VIRTUALLY_FRAME" val="{&quot;height&quot;:291.8,&quot;left&quot;:42,&quot;top&quot;:150.95,&quot;width&quot;:752.05}"/>
</p:tagLst>
</file>

<file path=ppt/tags/tag6.xml><?xml version="1.0" encoding="utf-8"?>
<p:tagLst xmlns:p="http://schemas.openxmlformats.org/presentationml/2006/main">
  <p:tag name="KSO_WM_DIAGRAM_VIRTUALLY_FRAME" val="{&quot;height&quot;:291.8,&quot;left&quot;:42,&quot;top&quot;:150.95,&quot;width&quot;:752.05}"/>
</p:tagLst>
</file>

<file path=ppt/tags/tag7.xml><?xml version="1.0" encoding="utf-8"?>
<p:tagLst xmlns:p="http://schemas.openxmlformats.org/presentationml/2006/main">
  <p:tag name="KSO_WM_DIAGRAM_VIRTUALLY_FRAME" val="{&quot;height&quot;:291.8,&quot;left&quot;:42,&quot;top&quot;:150.95,&quot;width&quot;:752.05}"/>
</p:tagLst>
</file>

<file path=ppt/tags/tag8.xml><?xml version="1.0" encoding="utf-8"?>
<p:tagLst xmlns:p="http://schemas.openxmlformats.org/presentationml/2006/main">
  <p:tag name="KSO_WM_DIAGRAM_VIRTUALLY_FRAME" val="{&quot;height&quot;:291.8,&quot;left&quot;:42,&quot;top&quot;:150.95,&quot;width&quot;:752.05}"/>
</p:tagLst>
</file>

<file path=ppt/tags/tag9.xml><?xml version="1.0" encoding="utf-8"?>
<p:tagLst xmlns:p="http://schemas.openxmlformats.org/presentationml/2006/main">
  <p:tag name="KSO_WM_DIAGRAM_VIRTUALLY_FRAME" val="{&quot;height&quot;:291.8,&quot;left&quot;:42,&quot;top&quot;:150.95,&quot;width&quot;:752.05}"/>
</p:tagLst>
</file>

<file path=ppt/tags/tag10.xml><?xml version="1.0" encoding="utf-8"?>
<p:tagLst xmlns:p="http://schemas.openxmlformats.org/presentationml/2006/main">
  <p:tag name="KSO_WM_DIAGRAM_VIRTUALLY_FRAME" val="{&quot;height&quot;:291.8,&quot;left&quot;:42,&quot;top&quot;:150.95,&quot;width&quot;:752.05}"/>
</p:tagLst>
</file>

<file path=ppt/tags/tag11.xml><?xml version="1.0" encoding="utf-8"?>
<p:tagLst xmlns:p="http://schemas.openxmlformats.org/presentationml/2006/main">
  <p:tag name="KSO_WM_DIAGRAM_VIRTUALLY_FRAME" val="{&quot;height&quot;:291.8,&quot;left&quot;:42,&quot;top&quot;:150.95,&quot;width&quot;:752.05}"/>
</p:tagLst>
</file>

<file path=ppt/tags/tag12.xml><?xml version="1.0" encoding="utf-8"?>
<p:tagLst xmlns:p="http://schemas.openxmlformats.org/presentationml/2006/main">
  <p:tag name="KSO_WM_DIAGRAM_VIRTUALLY_FRAME" val="{&quot;height&quot;:291.8,&quot;left&quot;:42,&quot;top&quot;:150.95,&quot;width&quot;:752.05}"/>
</p:tagLst>
</file>

<file path=ppt/tags/tag13.xml><?xml version="1.0" encoding="utf-8"?>
<p:tagLst xmlns:p="http://schemas.openxmlformats.org/presentationml/2006/main">
  <p:tag name="KSO_WM_DIAGRAM_VIRTUALLY_FRAME" val="{&quot;height&quot;:291.8,&quot;left&quot;:42,&quot;top&quot;:150.95,&quot;width&quot;:752.05}"/>
</p:tagLst>
</file>

<file path=ppt/tags/tag14.xml><?xml version="1.0" encoding="utf-8"?>
<p:tagLst xmlns:p="http://schemas.openxmlformats.org/presentationml/2006/main">
  <p:tag name="KSO_WM_DIAGRAM_VIRTUALLY_FRAME" val="{&quot;height&quot;:291.8,&quot;left&quot;:42,&quot;top&quot;:150.95,&quot;width&quot;:752.05}"/>
</p:tagLst>
</file>

<file path=ppt/tags/tag15.xml><?xml version="1.0" encoding="utf-8"?>
<p:tagLst xmlns:p="http://schemas.openxmlformats.org/presentationml/2006/main">
  <p:tag name="KSO_WM_DIAGRAM_VIRTUALLY_FRAME" val="{&quot;height&quot;:385.75,&quot;left&quot;:56.9,&quot;top&quot;:114.25,&quot;width&quot;:843.1}"/>
</p:tagLst>
</file>

<file path=ppt/tags/tag16.xml><?xml version="1.0" encoding="utf-8"?>
<p:tagLst xmlns:p="http://schemas.openxmlformats.org/presentationml/2006/main">
  <p:tag name="KSO_WM_DIAGRAM_VIRTUALLY_FRAME" val="{&quot;height&quot;:385.75,&quot;left&quot;:56.9,&quot;top&quot;:114.25,&quot;width&quot;:843.1}"/>
</p:tagLst>
</file>

<file path=ppt/tags/tag17.xml><?xml version="1.0" encoding="utf-8"?>
<p:tagLst xmlns:p="http://schemas.openxmlformats.org/presentationml/2006/main">
  <p:tag name="KSO_WM_BEAUTIFY_FLAG" val=""/>
  <p:tag name="KSO_WM_DIAGRAM_VIRTUALLY_FRAME" val="{&quot;height&quot;:425.32811023622054,&quot;left&quot;:653.7875590551181,&quot;top&quot;:86.48370078740157,&quot;width&quot;:321.93716535433066}"/>
</p:tagLst>
</file>

<file path=ppt/tags/tag18.xml><?xml version="1.0" encoding="utf-8"?>
<p:tagLst xmlns:p="http://schemas.openxmlformats.org/presentationml/2006/main">
  <p:tag name="KSO_WM_BEAUTIFY_FLAG" val=""/>
  <p:tag name="KSO_WM_DIAGRAM_VIRTUALLY_FRAME" val="{&quot;height&quot;:425.32811023622054,&quot;left&quot;:653.7875590551181,&quot;top&quot;:86.48370078740157,&quot;width&quot;:321.93716535433066}"/>
</p:tagLst>
</file>

<file path=ppt/tags/tag19.xml><?xml version="1.0" encoding="utf-8"?>
<p:tagLst xmlns:p="http://schemas.openxmlformats.org/presentationml/2006/main">
  <p:tag name="KSO_WM_DIAGRAM_VIRTUALLY_FRAME" val="{&quot;height&quot;:385.75,&quot;left&quot;:56.9,&quot;top&quot;:114.25,&quot;width&quot;:843.1}"/>
</p:tagLst>
</file>

<file path=ppt/tags/tag20.xml><?xml version="1.0" encoding="utf-8"?>
<p:tagLst xmlns:p="http://schemas.openxmlformats.org/presentationml/2006/main">
  <p:tag name="KSO_WM_BEAUTIFY_FLAG" val=""/>
  <p:tag name="KSO_WM_DIAGRAM_VIRTUALLY_FRAME" val="{&quot;height&quot;:425.32811023622054,&quot;left&quot;:653.7875590551181,&quot;top&quot;:86.48370078740157,&quot;width&quot;:321.93716535433066}"/>
</p:tagLst>
</file>

<file path=ppt/tags/tag21.xml><?xml version="1.0" encoding="utf-8"?>
<p:tagLst xmlns:p="http://schemas.openxmlformats.org/presentationml/2006/main">
  <p:tag name="KSO_WM_BEAUTIFY_FLAG" val=""/>
  <p:tag name="KSO_WM_DIAGRAM_VIRTUALLY_FRAME" val="{&quot;height&quot;:425.32811023622054,&quot;left&quot;:653.7875590551181,&quot;top&quot;:86.48370078740157,&quot;width&quot;:321.93716535433066}"/>
</p:tagLst>
</file>

<file path=ppt/tags/tag22.xml><?xml version="1.0" encoding="utf-8"?>
<p:tagLst xmlns:p="http://schemas.openxmlformats.org/presentationml/2006/main">
  <p:tag name="KSO_WM_DIAGRAM_VIRTUALLY_FRAME" val="{&quot;height&quot;:385.75,&quot;left&quot;:56.9,&quot;top&quot;:114.25,&quot;width&quot;:843.1}"/>
</p:tagLst>
</file>

<file path=ppt/tags/tag23.xml><?xml version="1.0" encoding="utf-8"?>
<p:tagLst xmlns:p="http://schemas.openxmlformats.org/presentationml/2006/main">
  <p:tag name="KSO_WM_DIAGRAM_VIRTUALLY_FRAME" val="{&quot;height&quot;:340,&quot;left&quot;:43.05,&quot;top&quot;:123.05,&quot;width&quot;:872.5}"/>
</p:tagLst>
</file>

<file path=ppt/tags/tag24.xml><?xml version="1.0" encoding="utf-8"?>
<p:tagLst xmlns:p="http://schemas.openxmlformats.org/presentationml/2006/main">
  <p:tag name="KSO_WM_DIAGRAM_VIRTUALLY_FRAME" val="{&quot;height&quot;:340,&quot;left&quot;:43.05,&quot;top&quot;:123.05,&quot;width&quot;:872.5}"/>
</p:tagLst>
</file>

<file path=ppt/tags/tag25.xml><?xml version="1.0" encoding="utf-8"?>
<p:tagLst xmlns:p="http://schemas.openxmlformats.org/presentationml/2006/main">
  <p:tag name="KSO_WM_DIAGRAM_VIRTUALLY_FRAME" val="{&quot;height&quot;:340,&quot;left&quot;:43.05,&quot;top&quot;:123.05,&quot;width&quot;:872.5}"/>
</p:tagLst>
</file>

<file path=ppt/tags/tag26.xml><?xml version="1.0" encoding="utf-8"?>
<p:tagLst xmlns:p="http://schemas.openxmlformats.org/presentationml/2006/main">
  <p:tag name="KSO_WM_DIAGRAM_VIRTUALLY_FRAME" val="{&quot;height&quot;:340,&quot;left&quot;:43.05,&quot;top&quot;:123.05,&quot;width&quot;:872.5}"/>
</p:tagLst>
</file>

<file path=ppt/tags/tag27.xml><?xml version="1.0" encoding="utf-8"?>
<p:tagLst xmlns:p="http://schemas.openxmlformats.org/presentationml/2006/main">
  <p:tag name="KSO_WM_DIAGRAM_VIRTUALLY_FRAME" val="{&quot;height&quot;:340,&quot;left&quot;:43.05,&quot;top&quot;:123.05,&quot;width&quot;:872.5}"/>
</p:tagLst>
</file>

<file path=ppt/tags/tag28.xml><?xml version="1.0" encoding="utf-8"?>
<p:tagLst xmlns:p="http://schemas.openxmlformats.org/presentationml/2006/main">
  <p:tag name="KSO_WM_DIAGRAM_VIRTUALLY_FRAME" val="{&quot;height&quot;:340,&quot;left&quot;:43.05,&quot;top&quot;:123.05,&quot;width&quot;:872.5}"/>
</p:tagLst>
</file>

<file path=ppt/tags/tag29.xml><?xml version="1.0" encoding="utf-8"?>
<p:tagLst xmlns:p="http://schemas.openxmlformats.org/presentationml/2006/main">
  <p:tag name="KSO_WM_DIAGRAM_VIRTUALLY_FRAME" val="{&quot;height&quot;:340,&quot;left&quot;:43.05,&quot;top&quot;:123.05,&quot;width&quot;:872.5}"/>
</p:tagLst>
</file>

<file path=ppt/tags/tag30.xml><?xml version="1.0" encoding="utf-8"?>
<p:tagLst xmlns:p="http://schemas.openxmlformats.org/presentationml/2006/main">
  <p:tag name="KSO_WM_DIAGRAM_VIRTUALLY_FRAME" val="{&quot;height&quot;:340,&quot;left&quot;:43.05,&quot;top&quot;:123.05,&quot;width&quot;:872.5}"/>
</p:tagLst>
</file>

<file path=ppt/tags/tag31.xml><?xml version="1.0" encoding="utf-8"?>
<p:tagLst xmlns:p="http://schemas.openxmlformats.org/presentationml/2006/main">
  <p:tag name="KSO_WM_DIAGRAM_VIRTUALLY_FRAME" val="{&quot;height&quot;:340,&quot;left&quot;:43.05,&quot;top&quot;:123.05,&quot;width&quot;:872.5}"/>
</p:tagLst>
</file>

<file path=ppt/tags/tag32.xml><?xml version="1.0" encoding="utf-8"?>
<p:tagLst xmlns:p="http://schemas.openxmlformats.org/presentationml/2006/main">
  <p:tag name="KSO_WM_DIAGRAM_VIRTUALLY_FRAME" val="{&quot;height&quot;:340,&quot;left&quot;:43.05,&quot;top&quot;:123.05,&quot;width&quot;:872.5}"/>
</p:tagLst>
</file>

<file path=ppt/tags/tag33.xml><?xml version="1.0" encoding="utf-8"?>
<p:tagLst xmlns:p="http://schemas.openxmlformats.org/presentationml/2006/main">
  <p:tag name="KSO_WM_DIAGRAM_VIRTUALLY_FRAME" val="{&quot;height&quot;:378.8,&quot;left&quot;:49.1,&quot;top&quot;:150,&quot;width&quot;:897.85}"/>
</p:tagLst>
</file>

<file path=ppt/tags/tag34.xml><?xml version="1.0" encoding="utf-8"?>
<p:tagLst xmlns:p="http://schemas.openxmlformats.org/presentationml/2006/main">
  <p:tag name="KSO_WM_DIAGRAM_VIRTUALLY_FRAME" val="{&quot;height&quot;:378.8,&quot;left&quot;:49.1,&quot;top&quot;:150,&quot;width&quot;:897.85}"/>
</p:tagLst>
</file>

<file path=ppt/tags/tag35.xml><?xml version="1.0" encoding="utf-8"?>
<p:tagLst xmlns:p="http://schemas.openxmlformats.org/presentationml/2006/main">
  <p:tag name="KSO_WM_DIAGRAM_VIRTUALLY_FRAME" val="{&quot;height&quot;:378.8,&quot;left&quot;:49.1,&quot;top&quot;:150,&quot;width&quot;:897.85}"/>
</p:tagLst>
</file>

<file path=ppt/tags/tag36.xml><?xml version="1.0" encoding="utf-8"?>
<p:tagLst xmlns:p="http://schemas.openxmlformats.org/presentationml/2006/main">
  <p:tag name="KSO_WM_DIAGRAM_VIRTUALLY_FRAME" val="{&quot;height&quot;:378.8,&quot;left&quot;:49.1,&quot;top&quot;:150,&quot;width&quot;:897.85}"/>
</p:tagLst>
</file>

<file path=ppt/tags/tag37.xml><?xml version="1.0" encoding="utf-8"?>
<p:tagLst xmlns:p="http://schemas.openxmlformats.org/presentationml/2006/main">
  <p:tag name="KSO_WM_DIAGRAM_VIRTUALLY_FRAME" val="{&quot;height&quot;:378.8,&quot;left&quot;:49.1,&quot;top&quot;:150,&quot;width&quot;:897.85}"/>
</p:tagLst>
</file>

<file path=ppt/tags/tag38.xml><?xml version="1.0" encoding="utf-8"?>
<p:tagLst xmlns:p="http://schemas.openxmlformats.org/presentationml/2006/main">
  <p:tag name="KSO_WM_DIAGRAM_VIRTUALLY_FRAME" val="{&quot;height&quot;:378.8,&quot;left&quot;:49.1,&quot;top&quot;:150,&quot;width&quot;:897.85}"/>
</p:tagLst>
</file>

<file path=ppt/tags/tag39.xml><?xml version="1.0" encoding="utf-8"?>
<p:tagLst xmlns:p="http://schemas.openxmlformats.org/presentationml/2006/main">
  <p:tag name="KSO_WM_DIAGRAM_VIRTUALLY_FRAME" val="{&quot;height&quot;:378.8,&quot;left&quot;:49.1,&quot;top&quot;:150,&quot;width&quot;:897.85}"/>
</p:tagLst>
</file>

<file path=ppt/tags/tag40.xml><?xml version="1.0" encoding="utf-8"?>
<p:tagLst xmlns:p="http://schemas.openxmlformats.org/presentationml/2006/main">
  <p:tag name="KSO_WM_DIAGRAM_VIRTUALLY_FRAME" val="{&quot;height&quot;:378.8,&quot;left&quot;:49.1,&quot;top&quot;:150,&quot;width&quot;:897.85}"/>
</p:tagLst>
</file>

<file path=ppt/tags/tag41.xml><?xml version="1.0" encoding="utf-8"?>
<p:tagLst xmlns:p="http://schemas.openxmlformats.org/presentationml/2006/main">
  <p:tag name="KSO_WM_DIAGRAM_VIRTUALLY_FRAME" val="{&quot;height&quot;:378.8,&quot;left&quot;:49.1,&quot;top&quot;:150,&quot;width&quot;:897.85}"/>
</p:tagLst>
</file>

<file path=ppt/tags/tag42.xml><?xml version="1.0" encoding="utf-8"?>
<p:tagLst xmlns:p="http://schemas.openxmlformats.org/presentationml/2006/main">
  <p:tag name="KSO_WM_DIAGRAM_VIRTUALLY_FRAME" val="{&quot;height&quot;:378.8,&quot;left&quot;:49.1,&quot;top&quot;:150,&quot;width&quot;:897.85}"/>
</p:tagLst>
</file>

<file path=ppt/tags/tag43.xml><?xml version="1.0" encoding="utf-8"?>
<p:tagLst xmlns:p="http://schemas.openxmlformats.org/presentationml/2006/main">
  <p:tag name="KSO_WM_DIAGRAM_VIRTUALLY_FRAME" val="{&quot;height&quot;:378.8,&quot;left&quot;:49.1,&quot;top&quot;:150,&quot;width&quot;:897.85}"/>
</p:tagLst>
</file>

<file path=ppt/tags/tag44.xml><?xml version="1.0" encoding="utf-8"?>
<p:tagLst xmlns:p="http://schemas.openxmlformats.org/presentationml/2006/main">
  <p:tag name="KSO_WM_DIAGRAM_VIRTUALLY_FRAME" val="{&quot;height&quot;:378.8,&quot;left&quot;:49.1,&quot;top&quot;:150,&quot;width&quot;:897.85}"/>
</p:tagLst>
</file>

<file path=ppt/tags/tag45.xml><?xml version="1.0" encoding="utf-8"?>
<p:tagLst xmlns:p="http://schemas.openxmlformats.org/presentationml/2006/main">
  <p:tag name="KSO_WM_DIAGRAM_VIRTUALLY_FRAME" val="{&quot;height&quot;:378.8,&quot;left&quot;:49.1,&quot;top&quot;:150,&quot;width&quot;:897.85}"/>
</p:tagLst>
</file>

<file path=ppt/tags/tag46.xml><?xml version="1.0" encoding="utf-8"?>
<p:tagLst xmlns:p="http://schemas.openxmlformats.org/presentationml/2006/main">
  <p:tag name="KSO_WM_DIAGRAM_VIRTUALLY_FRAME" val="{&quot;height&quot;:378.8,&quot;left&quot;:49.1,&quot;top&quot;:150,&quot;width&quot;:897.85}"/>
</p:tagLst>
</file>

<file path=ppt/tags/tag47.xml><?xml version="1.0" encoding="utf-8"?>
<p:tagLst xmlns:p="http://schemas.openxmlformats.org/presentationml/2006/main">
  <p:tag name="KSO_WM_DIAGRAM_VIRTUALLY_FRAME" val="{&quot;height&quot;:378.8,&quot;left&quot;:49.1,&quot;top&quot;:150,&quot;width&quot;:897.85}"/>
</p:tagLst>
</file>

<file path=ppt/tags/tag48.xml><?xml version="1.0" encoding="utf-8"?>
<p:tagLst xmlns:p="http://schemas.openxmlformats.org/presentationml/2006/main">
  <p:tag name="TABLE_ENDDRAG_ORIGIN_RECT" val="392*322"/>
  <p:tag name="TABLE_ENDDRAG_RECT" val="476*195*392*322"/>
</p:tagLst>
</file>

<file path=ppt/tags/tag49.xml><?xml version="1.0" encoding="utf-8"?>
<p:tagLst xmlns:p="http://schemas.openxmlformats.org/presentationml/2006/main">
  <p:tag name="KSO_WM_DIAGRAM_VIRTUALLY_FRAME" val="{&quot;height&quot;:413.45,&quot;left&quot;:20.7,&quot;top&quot;:120,&quot;width&quot;:906.65}"/>
</p:tagLst>
</file>

<file path=ppt/tags/tag50.xml><?xml version="1.0" encoding="utf-8"?>
<p:tagLst xmlns:p="http://schemas.openxmlformats.org/presentationml/2006/main">
  <p:tag name="KSO_WM_DIAGRAM_VIRTUALLY_FRAME" val="{&quot;height&quot;:413.45,&quot;left&quot;:20.7,&quot;top&quot;:120,&quot;width&quot;:906.65}"/>
</p:tagLst>
</file>

<file path=ppt/tags/tag51.xml><?xml version="1.0" encoding="utf-8"?>
<p:tagLst xmlns:p="http://schemas.openxmlformats.org/presentationml/2006/main">
  <p:tag name="KSO_WM_DIAGRAM_VIRTUALLY_FRAME" val="{&quot;height&quot;:413.45,&quot;left&quot;:20.7,&quot;top&quot;:120,&quot;width&quot;:906.65}"/>
</p:tagLst>
</file>

<file path=ppt/tags/tag52.xml><?xml version="1.0" encoding="utf-8"?>
<p:tagLst xmlns:p="http://schemas.openxmlformats.org/presentationml/2006/main">
  <p:tag name="KSO_WM_DIAGRAM_VIRTUALLY_FRAME" val="{&quot;height&quot;:413.45,&quot;left&quot;:20.7,&quot;top&quot;:120,&quot;width&quot;:906.65}"/>
</p:tagLst>
</file>

<file path=ppt/tags/tag53.xml><?xml version="1.0" encoding="utf-8"?>
<p:tagLst xmlns:p="http://schemas.openxmlformats.org/presentationml/2006/main">
  <p:tag name="KSO_WM_DIAGRAM_VIRTUALLY_FRAME" val="{&quot;height&quot;:413.45,&quot;left&quot;:20.7,&quot;top&quot;:120,&quot;width&quot;:906.65}"/>
</p:tagLst>
</file>

<file path=ppt/tags/tag54.xml><?xml version="1.0" encoding="utf-8"?>
<p:tagLst xmlns:p="http://schemas.openxmlformats.org/presentationml/2006/main">
  <p:tag name="KSO_WM_DIAGRAM_VIRTUALLY_FRAME" val="{&quot;height&quot;:413.45,&quot;left&quot;:20.7,&quot;top&quot;:120,&quot;width&quot;:906.65}"/>
</p:tagLst>
</file>

<file path=ppt/tags/tag55.xml><?xml version="1.0" encoding="utf-8"?>
<p:tagLst xmlns:p="http://schemas.openxmlformats.org/presentationml/2006/main">
  <p:tag name="KSO_WM_DIAGRAM_VIRTUALLY_FRAME" val="{&quot;height&quot;:413.45,&quot;left&quot;:20.7,&quot;top&quot;:120,&quot;width&quot;:906.65}"/>
</p:tagLst>
</file>

<file path=ppt/tags/tag56.xml><?xml version="1.0" encoding="utf-8"?>
<p:tagLst xmlns:p="http://schemas.openxmlformats.org/presentationml/2006/main">
  <p:tag name="KSO_WM_DIAGRAM_VIRTUALLY_FRAME" val="{&quot;height&quot;:413.45,&quot;left&quot;:20.7,&quot;top&quot;:120,&quot;width&quot;:906.65}"/>
</p:tagLst>
</file>

<file path=ppt/tags/tag57.xml><?xml version="1.0" encoding="utf-8"?>
<p:tagLst xmlns:p="http://schemas.openxmlformats.org/presentationml/2006/main">
  <p:tag name="KSO_WM_DIAGRAM_VIRTUALLY_FRAME" val="{&quot;height&quot;:413.45,&quot;left&quot;:20.7,&quot;top&quot;:120,&quot;width&quot;:906.65}"/>
</p:tagLst>
</file>

<file path=ppt/tags/tag58.xml><?xml version="1.0" encoding="utf-8"?>
<p:tagLst xmlns:p="http://schemas.openxmlformats.org/presentationml/2006/main">
  <p:tag name="KSO_WM_DIAGRAM_VIRTUALLY_FRAME" val="{&quot;height&quot;:413.45,&quot;left&quot;:20.7,&quot;top&quot;:120,&quot;width&quot;:906.65}"/>
</p:tagLst>
</file>

<file path=ppt/tags/tag59.xml><?xml version="1.0" encoding="utf-8"?>
<p:tagLst xmlns:p="http://schemas.openxmlformats.org/presentationml/2006/main">
  <p:tag name="KSO_WM_DIAGRAM_VIRTUALLY_FRAME" val="{&quot;height&quot;:253.88826771653538,&quot;left&quot;:130.5355118110236,&quot;top&quot;:145.162125984252,&quot;width&quot;:706.2981102362204}"/>
</p:tagLst>
</file>

<file path=ppt/tags/tag60.xml><?xml version="1.0" encoding="utf-8"?>
<p:tagLst xmlns:p="http://schemas.openxmlformats.org/presentationml/2006/main">
  <p:tag name="KSO_WM_DIAGRAM_VIRTUALLY_FRAME" val="{&quot;height&quot;:253.88826771653538,&quot;left&quot;:130.5355118110236,&quot;top&quot;:145.162125984252,&quot;width&quot;:706.2981102362204}"/>
</p:tagLst>
</file>

<file path=ppt/tags/tag61.xml><?xml version="1.0" encoding="utf-8"?>
<p:tagLst xmlns:p="http://schemas.openxmlformats.org/presentationml/2006/main">
  <p:tag name="KSO_WM_DIAGRAM_VIRTUALLY_FRAME" val="{&quot;height&quot;:253.88826771653538,&quot;left&quot;:130.5355118110236,&quot;top&quot;:145.162125984252,&quot;width&quot;:706.2981102362204}"/>
</p:tagLst>
</file>

<file path=ppt/tags/tag62.xml><?xml version="1.0" encoding="utf-8"?>
<p:tagLst xmlns:p="http://schemas.openxmlformats.org/presentationml/2006/main">
  <p:tag name="KSO_WM_DIAGRAM_VIRTUALLY_FRAME" val="{&quot;height&quot;:253.88826771653538,&quot;left&quot;:130.5355118110236,&quot;top&quot;:145.162125984252,&quot;width&quot;:706.2981102362204}"/>
</p:tagLst>
</file>

<file path=ppt/tags/tag63.xml><?xml version="1.0" encoding="utf-8"?>
<p:tagLst xmlns:p="http://schemas.openxmlformats.org/presentationml/2006/main">
  <p:tag name="KSO_WM_DIAGRAM_VIRTUALLY_FRAME" val="{&quot;height&quot;:253.88826771653538,&quot;left&quot;:130.5355118110236,&quot;top&quot;:145.162125984252,&quot;width&quot;:706.2981102362204}"/>
</p:tagLst>
</file>

<file path=ppt/tags/tag64.xml><?xml version="1.0" encoding="utf-8"?>
<p:tagLst xmlns:p="http://schemas.openxmlformats.org/presentationml/2006/main">
  <p:tag name="KSO_WM_DIAGRAM_VIRTUALLY_FRAME" val="{&quot;height&quot;:253.88826771653538,&quot;left&quot;:130.5355118110236,&quot;top&quot;:145.162125984252,&quot;width&quot;:706.2981102362204}"/>
</p:tagLst>
</file>

<file path=ppt/tags/tag65.xml><?xml version="1.0" encoding="utf-8"?>
<p:tagLst xmlns:p="http://schemas.openxmlformats.org/presentationml/2006/main">
  <p:tag name="KSO_WM_DIAGRAM_VIRTUALLY_FRAME" val="{&quot;height&quot;:253.88826771653538,&quot;left&quot;:130.5355118110236,&quot;top&quot;:145.162125984252,&quot;width&quot;:706.2981102362204}"/>
</p:tagLst>
</file>

<file path=ppt/tags/tag66.xml><?xml version="1.0" encoding="utf-8"?>
<p:tagLst xmlns:p="http://schemas.openxmlformats.org/presentationml/2006/main">
  <p:tag name="KSO_WM_DIAGRAM_VIRTUALLY_FRAME" val="{&quot;height&quot;:253.88826771653538,&quot;left&quot;:130.5355118110236,&quot;top&quot;:145.162125984252,&quot;width&quot;:706.2981102362204}"/>
</p:tagLst>
</file>

<file path=ppt/tags/tag67.xml><?xml version="1.0" encoding="utf-8"?>
<p:tagLst xmlns:p="http://schemas.openxmlformats.org/presentationml/2006/main">
  <p:tag name="KSO_WM_DIAGRAM_VIRTUALLY_FRAME" val="{&quot;height&quot;:253.88826771653538,&quot;left&quot;:130.5355118110236,&quot;top&quot;:145.162125984252,&quot;width&quot;:706.2981102362204}"/>
</p:tagLst>
</file>

<file path=ppt/tags/tag68.xml><?xml version="1.0" encoding="utf-8"?>
<p:tagLst xmlns:p="http://schemas.openxmlformats.org/presentationml/2006/main">
  <p:tag name="KSO_WM_DIAGRAM_VIRTUALLY_FRAME" val="{&quot;height&quot;:253.88826771653538,&quot;left&quot;:130.5355118110236,&quot;top&quot;:145.162125984252,&quot;width&quot;:706.2981102362204}"/>
</p:tagLst>
</file>

<file path=ppt/tags/tag69.xml><?xml version="1.0" encoding="utf-8"?>
<p:tagLst xmlns:p="http://schemas.openxmlformats.org/presentationml/2006/main">
  <p:tag name="KSO_WM_DIAGRAM_VIRTUALLY_FRAME" val="{&quot;height&quot;:253.88826771653538,&quot;left&quot;:130.5355118110236,&quot;top&quot;:145.162125984252,&quot;width&quot;:706.2981102362204}"/>
</p:tagLst>
</file>

<file path=ppt/tags/tag70.xml><?xml version="1.0" encoding="utf-8"?>
<p:tagLst xmlns:p="http://schemas.openxmlformats.org/presentationml/2006/main">
  <p:tag name="KSO_WM_DIAGRAM_VIRTUALLY_FRAME" val="{&quot;height&quot;:253.88826771653538,&quot;left&quot;:130.5355118110236,&quot;top&quot;:145.162125984252,&quot;width&quot;:706.2981102362204}"/>
</p:tagLst>
</file>

<file path=ppt/tags/tag71.xml><?xml version="1.0" encoding="utf-8"?>
<p:tagLst xmlns:p="http://schemas.openxmlformats.org/presentationml/2006/main">
  <p:tag name="KSO_WM_DIAGRAM_VIRTUALLY_FRAME" val="{&quot;height&quot;:253.88826771653538,&quot;left&quot;:130.5355118110236,&quot;top&quot;:145.162125984252,&quot;width&quot;:706.2981102362204}"/>
</p:tagLst>
</file>

<file path=ppt/tags/tag72.xml><?xml version="1.0" encoding="utf-8"?>
<p:tagLst xmlns:p="http://schemas.openxmlformats.org/presentationml/2006/main">
  <p:tag name="KSO_WM_DIAGRAM_VIRTUALLY_FRAME" val="{&quot;height&quot;:253.88826771653538,&quot;left&quot;:130.5355118110236,&quot;top&quot;:145.162125984252,&quot;width&quot;:706.2981102362204}"/>
</p:tagLst>
</file>

<file path=ppt/tags/tag73.xml><?xml version="1.0" encoding="utf-8"?>
<p:tagLst xmlns:p="http://schemas.openxmlformats.org/presentationml/2006/main">
  <p:tag name="KSO_WM_DIAGRAM_VIRTUALLY_FRAME" val="{&quot;height&quot;:253.88826771653538,&quot;left&quot;:130.5355118110236,&quot;top&quot;:145.162125984252,&quot;width&quot;:706.2981102362204}"/>
</p:tagLst>
</file>

<file path=ppt/tags/tag74.xml><?xml version="1.0" encoding="utf-8"?>
<p:tagLst xmlns:p="http://schemas.openxmlformats.org/presentationml/2006/main">
  <p:tag name="KSO_WM_DIAGRAM_VIRTUALLY_FRAME" val="{&quot;height&quot;:253.88826771653538,&quot;left&quot;:130.5355118110236,&quot;top&quot;:145.162125984252,&quot;width&quot;:706.2981102362204}"/>
</p:tagLst>
</file>

<file path=ppt/tags/tag75.xml><?xml version="1.0" encoding="utf-8"?>
<p:tagLst xmlns:p="http://schemas.openxmlformats.org/presentationml/2006/main">
  <p:tag name="KSO_WM_SLIDE_MODEL_TYPE" val="cover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main">
  <a:themeElements>
    <a:clrScheme name="mai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main">
      <a:majorFont>
        <a:latin typeface="HY헤드라인M"/>
        <a:ea typeface="HY헤드라인M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ko-KR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Gulim" pitchFamily="34" charset="-127"/>
            <a:ea typeface="Gulim" pitchFamily="34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ko-KR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Gulim" pitchFamily="34" charset="-127"/>
            <a:ea typeface="Gulim" pitchFamily="34" charset="-127"/>
          </a:defRPr>
        </a:defPPr>
      </a:lstStyle>
    </a:lnDef>
  </a:objectDefaults>
  <a:extraClrSchemeLst>
    <a:extraClrScheme>
      <a:clrScheme name="mai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ai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ai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ai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ai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ai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ai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ai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ai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ai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ai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ai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4880</Words>
  <Application>WPS 演示</Application>
  <PresentationFormat>宽屏</PresentationFormat>
  <Paragraphs>358</Paragraphs>
  <Slides>14</Slides>
  <Notes>20</Notes>
  <HiddenSlides>0</HiddenSlides>
  <MMClips>0</MMClips>
  <ScaleCrop>false</ScaleCrop>
  <HeadingPairs>
    <vt:vector size="8" baseType="variant">
      <vt:variant>
        <vt:lpstr>已用的字体</vt:lpstr>
      </vt:variant>
      <vt:variant>
        <vt:i4>28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45" baseType="lpstr">
      <vt:lpstr>Arial</vt:lpstr>
      <vt:lpstr>宋体</vt:lpstr>
      <vt:lpstr>Wingdings</vt:lpstr>
      <vt:lpstr>Calibri</vt:lpstr>
      <vt:lpstr>Gulim</vt:lpstr>
      <vt:lpstr>Malgun Gothic</vt:lpstr>
      <vt:lpstr>Impact</vt:lpstr>
      <vt:lpstr>HY헤드라인M</vt:lpstr>
      <vt:lpstr>Segoe Print</vt:lpstr>
      <vt:lpstr>HY헤드라인M</vt:lpstr>
      <vt:lpstr>微软雅黑</vt:lpstr>
      <vt:lpstr>黑体</vt:lpstr>
      <vt:lpstr>Times New Roman</vt:lpstr>
      <vt:lpstr>Noto Sans SC</vt:lpstr>
      <vt:lpstr>Wingdings 3</vt:lpstr>
      <vt:lpstr>Wingdings</vt:lpstr>
      <vt:lpstr>Mongolian Baiti</vt:lpstr>
      <vt:lpstr>Cambria Math</vt:lpstr>
      <vt:lpstr>Arial Unicode MS</vt:lpstr>
      <vt:lpstr>MS Mincho</vt:lpstr>
      <vt:lpstr>Roboto Regular</vt:lpstr>
      <vt:lpstr>等线</vt:lpstr>
      <vt:lpstr>Wide Latin</vt:lpstr>
      <vt:lpstr>ui-sans-serif</vt:lpstr>
      <vt:lpstr>Times New Roman</vt:lpstr>
      <vt:lpstr>汉仪铁线黑-65简</vt:lpstr>
      <vt:lpstr>思源黑体 CN Normal</vt:lpstr>
      <vt:lpstr>思源黑体 CN Bold</vt:lpstr>
      <vt:lpstr>Office 主题</vt:lpstr>
      <vt:lpstr>main</vt:lpstr>
      <vt:lpstr>Equation.KSEE3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Dell</dc:creator>
  <cp:lastModifiedBy>Vincent.</cp:lastModifiedBy>
  <cp:revision>1750</cp:revision>
  <dcterms:created xsi:type="dcterms:W3CDTF">2014-06-18T05:07:00Z</dcterms:created>
  <dcterms:modified xsi:type="dcterms:W3CDTF">2026-06-07T08:08:56Z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2052-12.1.0.23542</vt:lpwstr>
  </property>
  <property fmtid="{D5CDD505-2E9C-101B-9397-08002B2CF9AE}" pid="3" name="ICV">
    <vt:lpwstr>93ECAA9FFEE941E39655F928D3798C3E_13</vt:lpwstr>
  </property>
</Properties>
</file>